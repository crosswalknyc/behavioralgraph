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8C4C8"/>
    <a:srgbClr val="C126A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snapToObjects="1">
      <p:cViewPr varScale="1">
        <p:scale>
          <a:sx n="116" d="100"/>
          <a:sy n="116" d="100"/>
        </p:scale>
        <p:origin x="86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535D"/>
        </a:solidFill>
        <a:effectLst/>
      </p:bgPr>
    </p:bg>
    <p:spTree>
      <p:nvGrpSpPr>
        <p:cNvPr id="1" name=""/>
        <p:cNvGrpSpPr/>
        <p:nvPr/>
      </p:nvGrpSpPr>
      <p:grpSpPr>
        <a:xfrm>
          <a:off x="0" y="0"/>
          <a:ext cx="0" cy="0"/>
          <a:chOff x="0" y="0"/>
          <a:chExt cx="0" cy="0"/>
        </a:xfrm>
      </p:grpSpPr>
      <p:pic>
        <p:nvPicPr>
          <p:cNvPr id="2" name="Picture 1" descr="slide-01-title.jpg"/>
          <p:cNvPicPr>
            <a:picLocks noChangeAspect="1"/>
          </p:cNvPicPr>
          <p:nvPr/>
        </p:nvPicPr>
        <p:blipFill>
          <a:blip r:embed="rId2"/>
          <a:stretch>
            <a:fillRect/>
          </a:stretch>
        </p:blipFill>
        <p:spPr>
          <a:xfrm>
            <a:off x="165253" y="202060"/>
            <a:ext cx="12191695" cy="6858000"/>
          </a:xfrm>
          <a:prstGeom prst="rect">
            <a:avLst/>
          </a:prstGeom>
        </p:spPr>
      </p:pic>
      <p:pic>
        <p:nvPicPr>
          <p:cNvPr id="3" name="Picture 2" descr="crosswalk-logo-white.png"/>
          <p:cNvPicPr>
            <a:picLocks noChangeAspect="1"/>
          </p:cNvPicPr>
          <p:nvPr/>
        </p:nvPicPr>
        <p:blipFill>
          <a:blip r:embed="rId3"/>
          <a:stretch>
            <a:fillRect/>
          </a:stretch>
        </p:blipFill>
        <p:spPr>
          <a:xfrm>
            <a:off x="411480" y="320040"/>
            <a:ext cx="1234440" cy="204706"/>
          </a:xfrm>
          <a:prstGeom prst="rect">
            <a:avLst/>
          </a:prstGeom>
        </p:spPr>
      </p:pic>
      <p:sp>
        <p:nvSpPr>
          <p:cNvPr id="4" name="TextBox 3"/>
          <p:cNvSpPr txBox="1"/>
          <p:nvPr/>
        </p:nvSpPr>
        <p:spPr>
          <a:xfrm>
            <a:off x="8780537" y="116199"/>
            <a:ext cx="3246210" cy="276999"/>
          </a:xfrm>
          <a:prstGeom prst="rect">
            <a:avLst/>
          </a:prstGeom>
          <a:noFill/>
        </p:spPr>
        <p:txBody>
          <a:bodyPr wrap="none">
            <a:spAutoFit/>
          </a:bodyPr>
          <a:lstStyle/>
          <a:p>
            <a:pPr algn="r">
              <a:defRPr sz="700" b="1">
                <a:solidFill>
                  <a:srgbClr val="C026A3"/>
                </a:solidFill>
                <a:latin typeface="Arial"/>
              </a:defRPr>
            </a:pPr>
            <a:r>
              <a:rPr sz="1200" dirty="0"/>
              <a:t>A PARTNERSHIP PROPOSAL / JUNE 2026</a:t>
            </a:r>
          </a:p>
        </p:txBody>
      </p:sp>
      <p:pic>
        <p:nvPicPr>
          <p:cNvPr id="6" name="Picture 5" descr="scouts-pub-logo-ppt.png"/>
          <p:cNvPicPr>
            <a:picLocks noChangeAspect="1"/>
          </p:cNvPicPr>
          <p:nvPr/>
        </p:nvPicPr>
        <p:blipFill>
          <a:blip r:embed="rId4"/>
          <a:stretch>
            <a:fillRect/>
          </a:stretch>
        </p:blipFill>
        <p:spPr>
          <a:xfrm>
            <a:off x="6557272" y="6241042"/>
            <a:ext cx="1794358" cy="425780"/>
          </a:xfrm>
          <a:prstGeom prst="rect">
            <a:avLst/>
          </a:prstGeom>
        </p:spPr>
      </p:pic>
      <p:pic>
        <p:nvPicPr>
          <p:cNvPr id="7" name="Picture 6" descr="deacons-logo-ppt.png"/>
          <p:cNvPicPr>
            <a:picLocks noChangeAspect="1"/>
          </p:cNvPicPr>
          <p:nvPr/>
        </p:nvPicPr>
        <p:blipFill>
          <a:blip r:embed="rId5"/>
          <a:stretch>
            <a:fillRect/>
          </a:stretch>
        </p:blipFill>
        <p:spPr>
          <a:xfrm>
            <a:off x="8596201" y="6281302"/>
            <a:ext cx="1954598" cy="352469"/>
          </a:xfrm>
          <a:prstGeom prst="rect">
            <a:avLst/>
          </a:prstGeom>
        </p:spPr>
      </p:pic>
      <p:sp>
        <p:nvSpPr>
          <p:cNvPr id="8" name="TextBox 7"/>
          <p:cNvSpPr txBox="1"/>
          <p:nvPr/>
        </p:nvSpPr>
        <p:spPr>
          <a:xfrm>
            <a:off x="441962" y="1173964"/>
            <a:ext cx="5669280" cy="923330"/>
          </a:xfrm>
          <a:prstGeom prst="rect">
            <a:avLst/>
          </a:prstGeom>
          <a:noFill/>
        </p:spPr>
        <p:txBody>
          <a:bodyPr wrap="square">
            <a:spAutoFit/>
          </a:bodyPr>
          <a:lstStyle/>
          <a:p>
            <a:pPr>
              <a:defRPr sz="4000" b="1">
                <a:solidFill>
                  <a:srgbClr val="F5F8F9"/>
                </a:solidFill>
                <a:latin typeface="Georgia"/>
              </a:defRPr>
            </a:pPr>
            <a:r>
              <a:rPr sz="5400" dirty="0"/>
              <a:t>A. Marshall</a:t>
            </a:r>
          </a:p>
        </p:txBody>
      </p:sp>
      <p:sp>
        <p:nvSpPr>
          <p:cNvPr id="9" name="TextBox 8"/>
          <p:cNvSpPr txBox="1"/>
          <p:nvPr/>
        </p:nvSpPr>
        <p:spPr>
          <a:xfrm>
            <a:off x="411480" y="1874519"/>
            <a:ext cx="5669280" cy="923330"/>
          </a:xfrm>
          <a:prstGeom prst="rect">
            <a:avLst/>
          </a:prstGeom>
          <a:noFill/>
        </p:spPr>
        <p:txBody>
          <a:bodyPr wrap="square">
            <a:spAutoFit/>
          </a:bodyPr>
          <a:lstStyle/>
          <a:p>
            <a:pPr>
              <a:defRPr sz="4000" b="1">
                <a:solidFill>
                  <a:srgbClr val="F5F8F9"/>
                </a:solidFill>
                <a:latin typeface="Georgia"/>
              </a:defRPr>
            </a:pPr>
            <a:r>
              <a:rPr sz="5400" dirty="0"/>
              <a:t>Hospitality</a:t>
            </a:r>
          </a:p>
        </p:txBody>
      </p:sp>
      <p:sp>
        <p:nvSpPr>
          <p:cNvPr id="10" name="TextBox 9"/>
          <p:cNvSpPr txBox="1"/>
          <p:nvPr/>
        </p:nvSpPr>
        <p:spPr>
          <a:xfrm>
            <a:off x="411480" y="2788920"/>
            <a:ext cx="5303520" cy="353943"/>
          </a:xfrm>
          <a:prstGeom prst="rect">
            <a:avLst/>
          </a:prstGeom>
          <a:noFill/>
        </p:spPr>
        <p:txBody>
          <a:bodyPr wrap="square">
            <a:spAutoFit/>
          </a:bodyPr>
          <a:lstStyle/>
          <a:p>
            <a:pPr>
              <a:defRPr sz="1300" i="1">
                <a:solidFill>
                  <a:srgbClr val="A8C4C8"/>
                </a:solidFill>
                <a:latin typeface="Arial"/>
              </a:defRPr>
            </a:pPr>
            <a:r>
              <a:rPr sz="1700" dirty="0">
                <a:solidFill>
                  <a:srgbClr val="C126A3"/>
                </a:solidFill>
              </a:rPr>
              <a:t>behavioral intelligence: making visitors feel like locals</a:t>
            </a:r>
          </a:p>
        </p:txBody>
      </p:sp>
      <p:sp>
        <p:nvSpPr>
          <p:cNvPr id="11" name="TextBox 10"/>
          <p:cNvSpPr txBox="1"/>
          <p:nvPr/>
        </p:nvSpPr>
        <p:spPr>
          <a:xfrm>
            <a:off x="411480" y="5349240"/>
            <a:ext cx="4643900" cy="307777"/>
          </a:xfrm>
          <a:prstGeom prst="rect">
            <a:avLst/>
          </a:prstGeom>
          <a:noFill/>
        </p:spPr>
        <p:txBody>
          <a:bodyPr wrap="none">
            <a:spAutoFit/>
          </a:bodyPr>
          <a:lstStyle/>
          <a:p>
            <a:pPr>
              <a:defRPr sz="700" b="1">
                <a:solidFill>
                  <a:srgbClr val="A8C4C8"/>
                </a:solidFill>
                <a:latin typeface="Arial"/>
              </a:defRPr>
            </a:pPr>
            <a:r>
              <a:rPr sz="1400" dirty="0"/>
              <a:t>PRESENTED BY CROSSWALK TECHNOLOGIES INC</a:t>
            </a:r>
          </a:p>
        </p:txBody>
      </p:sp>
      <p:sp>
        <p:nvSpPr>
          <p:cNvPr id="12" name="TextBox 11"/>
          <p:cNvSpPr txBox="1"/>
          <p:nvPr/>
        </p:nvSpPr>
        <p:spPr>
          <a:xfrm>
            <a:off x="411480" y="6446520"/>
            <a:ext cx="7315200" cy="274320"/>
          </a:xfrm>
          <a:prstGeom prst="rect">
            <a:avLst/>
          </a:prstGeom>
          <a:noFill/>
        </p:spPr>
        <p:txBody>
          <a:bodyPr wrap="none">
            <a:spAutoFit/>
          </a:bodyPr>
          <a:lstStyle/>
          <a:p>
            <a:pPr>
              <a:defRPr sz="700">
                <a:solidFill>
                  <a:srgbClr val="A8C4C8"/>
                </a:solidFill>
                <a:latin typeface="Arial"/>
              </a:defRPr>
            </a:pPr>
            <a:r>
              <a:t>A. MARSHALL HOSPITALITY / PARTNERSHIP PROPOSAL</a:t>
            </a:r>
          </a:p>
        </p:txBody>
      </p:sp>
      <p:pic>
        <p:nvPicPr>
          <p:cNvPr id="15" name="Picture 14" descr="A black sign with white text&#10;&#10;AI-generated content may be incorrect.">
            <a:extLst>
              <a:ext uri="{FF2B5EF4-FFF2-40B4-BE49-F238E27FC236}">
                <a16:creationId xmlns:a16="http://schemas.microsoft.com/office/drawing/2014/main" id="{4AE979BF-6B5E-60AD-FEDD-848E8AE78F72}"/>
              </a:ext>
            </a:extLst>
          </p:cNvPr>
          <p:cNvPicPr>
            <a:picLocks noChangeAspect="1"/>
          </p:cNvPicPr>
          <p:nvPr/>
        </p:nvPicPr>
        <p:blipFill>
          <a:blip r:embed="rId6"/>
          <a:stretch>
            <a:fillRect/>
          </a:stretch>
        </p:blipFill>
        <p:spPr>
          <a:xfrm>
            <a:off x="10902577" y="6170811"/>
            <a:ext cx="1119140" cy="5709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1535D"/>
        </a:solidFill>
        <a:effectLst/>
      </p:bgPr>
    </p:bg>
    <p:spTree>
      <p:nvGrpSpPr>
        <p:cNvPr id="1" name=""/>
        <p:cNvGrpSpPr/>
        <p:nvPr/>
      </p:nvGrpSpPr>
      <p:grpSpPr>
        <a:xfrm>
          <a:off x="0" y="0"/>
          <a:ext cx="0" cy="0"/>
          <a:chOff x="0" y="0"/>
          <a:chExt cx="0" cy="0"/>
        </a:xfrm>
      </p:grpSpPr>
      <p:pic>
        <p:nvPicPr>
          <p:cNvPr id="2" name="Picture 1" descr="crosswalk-logo-white.png"/>
          <p:cNvPicPr>
            <a:picLocks noChangeAspect="1"/>
          </p:cNvPicPr>
          <p:nvPr/>
        </p:nvPicPr>
        <p:blipFill>
          <a:blip r:embed="rId2"/>
          <a:stretch>
            <a:fillRect/>
          </a:stretch>
        </p:blipFill>
        <p:spPr>
          <a:xfrm>
            <a:off x="411480" y="320040"/>
            <a:ext cx="1234440" cy="204706"/>
          </a:xfrm>
          <a:prstGeom prst="rect">
            <a:avLst/>
          </a:prstGeom>
        </p:spPr>
      </p:pic>
      <p:sp>
        <p:nvSpPr>
          <p:cNvPr id="3" name="TextBox 2"/>
          <p:cNvSpPr txBox="1"/>
          <p:nvPr/>
        </p:nvSpPr>
        <p:spPr>
          <a:xfrm>
            <a:off x="9601200" y="365760"/>
            <a:ext cx="2103120" cy="320040"/>
          </a:xfrm>
          <a:prstGeom prst="rect">
            <a:avLst/>
          </a:prstGeom>
          <a:noFill/>
        </p:spPr>
        <p:txBody>
          <a:bodyPr wrap="none">
            <a:spAutoFit/>
          </a:bodyPr>
          <a:lstStyle/>
          <a:p>
            <a:pPr algn="r">
              <a:defRPr sz="700" b="1">
                <a:solidFill>
                  <a:srgbClr val="A8C4C8"/>
                </a:solidFill>
                <a:latin typeface="Arial"/>
              </a:defRPr>
            </a:pPr>
            <a:r>
              <a:t>OVERVIEW</a:t>
            </a:r>
          </a:p>
        </p:txBody>
      </p:sp>
      <p:sp>
        <p:nvSpPr>
          <p:cNvPr id="4" name="TextBox 3"/>
          <p:cNvSpPr txBox="1"/>
          <p:nvPr/>
        </p:nvSpPr>
        <p:spPr>
          <a:xfrm>
            <a:off x="918256" y="1883664"/>
            <a:ext cx="5029200" cy="1097280"/>
          </a:xfrm>
          <a:prstGeom prst="rect">
            <a:avLst/>
          </a:prstGeom>
          <a:noFill/>
        </p:spPr>
        <p:txBody>
          <a:bodyPr wrap="square">
            <a:spAutoFit/>
          </a:bodyPr>
          <a:lstStyle/>
          <a:p>
            <a:pPr>
              <a:defRPr sz="3600" b="1">
                <a:solidFill>
                  <a:srgbClr val="F5F8F9"/>
                </a:solidFill>
                <a:latin typeface="Georgia"/>
              </a:defRPr>
            </a:pPr>
            <a:r>
              <a:rPr dirty="0"/>
              <a:t>What's inside.</a:t>
            </a:r>
          </a:p>
        </p:txBody>
      </p:sp>
      <p:sp>
        <p:nvSpPr>
          <p:cNvPr id="5" name="TextBox 4"/>
          <p:cNvSpPr txBox="1"/>
          <p:nvPr/>
        </p:nvSpPr>
        <p:spPr>
          <a:xfrm>
            <a:off x="918256" y="2798064"/>
            <a:ext cx="4754880" cy="1815882"/>
          </a:xfrm>
          <a:prstGeom prst="rect">
            <a:avLst/>
          </a:prstGeom>
          <a:noFill/>
        </p:spPr>
        <p:txBody>
          <a:bodyPr wrap="square">
            <a:spAutoFit/>
          </a:bodyPr>
          <a:lstStyle/>
          <a:p>
            <a:pPr>
              <a:defRPr sz="1100" i="0">
                <a:solidFill>
                  <a:srgbClr val="F5F8F9"/>
                </a:solidFill>
                <a:latin typeface="Arial"/>
              </a:defRPr>
            </a:pPr>
            <a:r>
              <a:rPr sz="1600" dirty="0"/>
              <a:t>A. Marshall Hospitality operates distinctive brands across multiple markets </a:t>
            </a:r>
            <a:r>
              <a:rPr lang="en-US" sz="1600" dirty="0"/>
              <a:t>- </a:t>
            </a:r>
            <a:r>
              <a:rPr sz="1600" dirty="0"/>
              <a:t>Puckett's, Deacon's and Scout's Pub. Crosswalk proposes a twelve-month partnership to deliver location-level Profile IQ, competitive benchmarking and digital journey intelligence so each restaurant can act on guest behaviors and conversion motivators.</a:t>
            </a:r>
          </a:p>
        </p:txBody>
      </p:sp>
      <p:sp>
        <p:nvSpPr>
          <p:cNvPr id="6" name="TextBox 5"/>
          <p:cNvSpPr txBox="1"/>
          <p:nvPr/>
        </p:nvSpPr>
        <p:spPr>
          <a:xfrm>
            <a:off x="7117080" y="2066544"/>
            <a:ext cx="1309974" cy="338554"/>
          </a:xfrm>
          <a:prstGeom prst="rect">
            <a:avLst/>
          </a:prstGeom>
          <a:noFill/>
        </p:spPr>
        <p:txBody>
          <a:bodyPr wrap="none">
            <a:spAutoFit/>
          </a:bodyPr>
          <a:lstStyle/>
          <a:p>
            <a:pPr>
              <a:defRPr sz="700" b="1">
                <a:solidFill>
                  <a:srgbClr val="C026A3"/>
                </a:solidFill>
                <a:latin typeface="Arial"/>
              </a:defRPr>
            </a:pPr>
            <a:r>
              <a:rPr sz="1600" dirty="0"/>
              <a:t>CONTENTS</a:t>
            </a:r>
          </a:p>
        </p:txBody>
      </p:sp>
      <p:sp>
        <p:nvSpPr>
          <p:cNvPr id="7" name="TextBox 6"/>
          <p:cNvSpPr txBox="1"/>
          <p:nvPr/>
        </p:nvSpPr>
        <p:spPr>
          <a:xfrm>
            <a:off x="7117080" y="2478024"/>
            <a:ext cx="457200" cy="307777"/>
          </a:xfrm>
          <a:prstGeom prst="rect">
            <a:avLst/>
          </a:prstGeom>
          <a:noFill/>
        </p:spPr>
        <p:txBody>
          <a:bodyPr wrap="square">
            <a:spAutoFit/>
          </a:bodyPr>
          <a:lstStyle/>
          <a:p>
            <a:pPr>
              <a:defRPr sz="1200" i="0">
                <a:solidFill>
                  <a:srgbClr val="C026A3"/>
                </a:solidFill>
                <a:latin typeface="Arial"/>
              </a:defRPr>
            </a:pPr>
            <a:r>
              <a:rPr sz="1400" dirty="0"/>
              <a:t>0</a:t>
            </a:r>
            <a:r>
              <a:rPr lang="en-US" sz="1400" dirty="0"/>
              <a:t>3</a:t>
            </a:r>
            <a:endParaRPr sz="1400" dirty="0"/>
          </a:p>
        </p:txBody>
      </p:sp>
      <p:sp>
        <p:nvSpPr>
          <p:cNvPr id="8" name="TextBox 7"/>
          <p:cNvSpPr txBox="1"/>
          <p:nvPr/>
        </p:nvSpPr>
        <p:spPr>
          <a:xfrm>
            <a:off x="7620000" y="2478024"/>
            <a:ext cx="4572000" cy="320040"/>
          </a:xfrm>
          <a:prstGeom prst="rect">
            <a:avLst/>
          </a:prstGeom>
          <a:noFill/>
        </p:spPr>
        <p:txBody>
          <a:bodyPr wrap="square">
            <a:spAutoFit/>
          </a:bodyPr>
          <a:lstStyle/>
          <a:p>
            <a:pPr>
              <a:defRPr sz="1100" i="0">
                <a:solidFill>
                  <a:srgbClr val="F5F8F9"/>
                </a:solidFill>
                <a:latin typeface="Arial"/>
              </a:defRPr>
            </a:pPr>
            <a:r>
              <a:rPr sz="1400" dirty="0"/>
              <a:t>Profile IQ by Location</a:t>
            </a:r>
          </a:p>
        </p:txBody>
      </p:sp>
      <p:sp>
        <p:nvSpPr>
          <p:cNvPr id="9" name="TextBox 8"/>
          <p:cNvSpPr txBox="1"/>
          <p:nvPr/>
        </p:nvSpPr>
        <p:spPr>
          <a:xfrm>
            <a:off x="7117080" y="2862072"/>
            <a:ext cx="457200" cy="307777"/>
          </a:xfrm>
          <a:prstGeom prst="rect">
            <a:avLst/>
          </a:prstGeom>
          <a:noFill/>
        </p:spPr>
        <p:txBody>
          <a:bodyPr wrap="square">
            <a:spAutoFit/>
          </a:bodyPr>
          <a:lstStyle/>
          <a:p>
            <a:pPr>
              <a:defRPr sz="1200" i="0">
                <a:solidFill>
                  <a:srgbClr val="C026A3"/>
                </a:solidFill>
                <a:latin typeface="Arial"/>
              </a:defRPr>
            </a:pPr>
            <a:r>
              <a:rPr sz="1400" dirty="0"/>
              <a:t>0</a:t>
            </a:r>
            <a:r>
              <a:rPr lang="en-US" sz="1400" dirty="0"/>
              <a:t>4</a:t>
            </a:r>
            <a:endParaRPr sz="1400" dirty="0"/>
          </a:p>
        </p:txBody>
      </p:sp>
      <p:sp>
        <p:nvSpPr>
          <p:cNvPr id="10" name="TextBox 9"/>
          <p:cNvSpPr txBox="1"/>
          <p:nvPr/>
        </p:nvSpPr>
        <p:spPr>
          <a:xfrm>
            <a:off x="7620000" y="2862072"/>
            <a:ext cx="4572000" cy="320040"/>
          </a:xfrm>
          <a:prstGeom prst="rect">
            <a:avLst/>
          </a:prstGeom>
          <a:noFill/>
        </p:spPr>
        <p:txBody>
          <a:bodyPr wrap="square">
            <a:spAutoFit/>
          </a:bodyPr>
          <a:lstStyle/>
          <a:p>
            <a:pPr>
              <a:defRPr sz="1100" i="0">
                <a:solidFill>
                  <a:srgbClr val="F5F8F9"/>
                </a:solidFill>
                <a:latin typeface="Arial"/>
              </a:defRPr>
            </a:pPr>
            <a:r>
              <a:rPr sz="1400"/>
              <a:t>Competitive Benchmarking</a:t>
            </a:r>
          </a:p>
        </p:txBody>
      </p:sp>
      <p:sp>
        <p:nvSpPr>
          <p:cNvPr id="11" name="TextBox 10"/>
          <p:cNvSpPr txBox="1"/>
          <p:nvPr/>
        </p:nvSpPr>
        <p:spPr>
          <a:xfrm>
            <a:off x="7117080" y="3246120"/>
            <a:ext cx="457200" cy="307777"/>
          </a:xfrm>
          <a:prstGeom prst="rect">
            <a:avLst/>
          </a:prstGeom>
          <a:noFill/>
        </p:spPr>
        <p:txBody>
          <a:bodyPr wrap="square">
            <a:spAutoFit/>
          </a:bodyPr>
          <a:lstStyle/>
          <a:p>
            <a:pPr>
              <a:defRPr sz="1200" i="0">
                <a:solidFill>
                  <a:srgbClr val="C026A3"/>
                </a:solidFill>
                <a:latin typeface="Arial"/>
              </a:defRPr>
            </a:pPr>
            <a:r>
              <a:rPr sz="1400" dirty="0"/>
              <a:t>0</a:t>
            </a:r>
            <a:r>
              <a:rPr lang="en-US" sz="1400" dirty="0"/>
              <a:t>5</a:t>
            </a:r>
            <a:endParaRPr sz="1400" dirty="0"/>
          </a:p>
        </p:txBody>
      </p:sp>
      <p:sp>
        <p:nvSpPr>
          <p:cNvPr id="12" name="TextBox 11"/>
          <p:cNvSpPr txBox="1"/>
          <p:nvPr/>
        </p:nvSpPr>
        <p:spPr>
          <a:xfrm>
            <a:off x="7620000" y="3246120"/>
            <a:ext cx="4572000" cy="320040"/>
          </a:xfrm>
          <a:prstGeom prst="rect">
            <a:avLst/>
          </a:prstGeom>
          <a:noFill/>
        </p:spPr>
        <p:txBody>
          <a:bodyPr wrap="square">
            <a:spAutoFit/>
          </a:bodyPr>
          <a:lstStyle/>
          <a:p>
            <a:pPr>
              <a:defRPr sz="1100" i="0">
                <a:solidFill>
                  <a:srgbClr val="F5F8F9"/>
                </a:solidFill>
                <a:latin typeface="Arial"/>
              </a:defRPr>
            </a:pPr>
            <a:r>
              <a:rPr sz="1400"/>
              <a:t>Digital Journeys &amp; Media Conversion</a:t>
            </a:r>
          </a:p>
        </p:txBody>
      </p:sp>
      <p:sp>
        <p:nvSpPr>
          <p:cNvPr id="13" name="TextBox 12"/>
          <p:cNvSpPr txBox="1"/>
          <p:nvPr/>
        </p:nvSpPr>
        <p:spPr>
          <a:xfrm>
            <a:off x="7117080" y="3630168"/>
            <a:ext cx="457200" cy="307777"/>
          </a:xfrm>
          <a:prstGeom prst="rect">
            <a:avLst/>
          </a:prstGeom>
          <a:noFill/>
        </p:spPr>
        <p:txBody>
          <a:bodyPr wrap="square">
            <a:spAutoFit/>
          </a:bodyPr>
          <a:lstStyle/>
          <a:p>
            <a:pPr>
              <a:defRPr sz="1200" i="0">
                <a:solidFill>
                  <a:srgbClr val="C026A3"/>
                </a:solidFill>
                <a:latin typeface="Arial"/>
              </a:defRPr>
            </a:pPr>
            <a:r>
              <a:rPr sz="1400" dirty="0"/>
              <a:t>0</a:t>
            </a:r>
            <a:r>
              <a:rPr lang="en-US" sz="1400" dirty="0"/>
              <a:t>6</a:t>
            </a:r>
            <a:endParaRPr sz="1400" dirty="0"/>
          </a:p>
        </p:txBody>
      </p:sp>
      <p:sp>
        <p:nvSpPr>
          <p:cNvPr id="14" name="TextBox 13"/>
          <p:cNvSpPr txBox="1"/>
          <p:nvPr/>
        </p:nvSpPr>
        <p:spPr>
          <a:xfrm>
            <a:off x="7620000" y="3630168"/>
            <a:ext cx="4572000" cy="320040"/>
          </a:xfrm>
          <a:prstGeom prst="rect">
            <a:avLst/>
          </a:prstGeom>
          <a:noFill/>
        </p:spPr>
        <p:txBody>
          <a:bodyPr wrap="square">
            <a:spAutoFit/>
          </a:bodyPr>
          <a:lstStyle/>
          <a:p>
            <a:pPr>
              <a:defRPr sz="1100" i="0">
                <a:solidFill>
                  <a:srgbClr val="F5F8F9"/>
                </a:solidFill>
                <a:latin typeface="Arial"/>
              </a:defRPr>
            </a:pPr>
            <a:r>
              <a:rPr sz="1400"/>
              <a:t>Your Restaurant Portfolio</a:t>
            </a:r>
          </a:p>
        </p:txBody>
      </p:sp>
      <p:sp>
        <p:nvSpPr>
          <p:cNvPr id="15" name="TextBox 14"/>
          <p:cNvSpPr txBox="1"/>
          <p:nvPr/>
        </p:nvSpPr>
        <p:spPr>
          <a:xfrm>
            <a:off x="7117080" y="4014216"/>
            <a:ext cx="457200" cy="307777"/>
          </a:xfrm>
          <a:prstGeom prst="rect">
            <a:avLst/>
          </a:prstGeom>
          <a:noFill/>
        </p:spPr>
        <p:txBody>
          <a:bodyPr wrap="square">
            <a:spAutoFit/>
          </a:bodyPr>
          <a:lstStyle/>
          <a:p>
            <a:pPr>
              <a:defRPr sz="1200" i="0">
                <a:solidFill>
                  <a:srgbClr val="C026A3"/>
                </a:solidFill>
                <a:latin typeface="Arial"/>
              </a:defRPr>
            </a:pPr>
            <a:r>
              <a:rPr sz="1400" dirty="0"/>
              <a:t>0</a:t>
            </a:r>
            <a:r>
              <a:rPr lang="en-US" sz="1400" dirty="0"/>
              <a:t>7</a:t>
            </a:r>
            <a:endParaRPr sz="1400" dirty="0"/>
          </a:p>
        </p:txBody>
      </p:sp>
      <p:sp>
        <p:nvSpPr>
          <p:cNvPr id="16" name="TextBox 15"/>
          <p:cNvSpPr txBox="1"/>
          <p:nvPr/>
        </p:nvSpPr>
        <p:spPr>
          <a:xfrm>
            <a:off x="7620000" y="4014216"/>
            <a:ext cx="4572000" cy="320040"/>
          </a:xfrm>
          <a:prstGeom prst="rect">
            <a:avLst/>
          </a:prstGeom>
          <a:noFill/>
        </p:spPr>
        <p:txBody>
          <a:bodyPr wrap="square">
            <a:spAutoFit/>
          </a:bodyPr>
          <a:lstStyle/>
          <a:p>
            <a:pPr>
              <a:defRPr sz="1100" i="0">
                <a:solidFill>
                  <a:srgbClr val="F5F8F9"/>
                </a:solidFill>
                <a:latin typeface="Arial"/>
              </a:defRPr>
            </a:pPr>
            <a:r>
              <a:rPr sz="1400"/>
              <a:t>Investment Options</a:t>
            </a:r>
          </a:p>
        </p:txBody>
      </p:sp>
      <p:sp>
        <p:nvSpPr>
          <p:cNvPr id="17" name="TextBox 16"/>
          <p:cNvSpPr txBox="1"/>
          <p:nvPr/>
        </p:nvSpPr>
        <p:spPr>
          <a:xfrm>
            <a:off x="7117080" y="4398264"/>
            <a:ext cx="457200" cy="307777"/>
          </a:xfrm>
          <a:prstGeom prst="rect">
            <a:avLst/>
          </a:prstGeom>
          <a:noFill/>
        </p:spPr>
        <p:txBody>
          <a:bodyPr wrap="square">
            <a:spAutoFit/>
          </a:bodyPr>
          <a:lstStyle/>
          <a:p>
            <a:pPr>
              <a:defRPr sz="1200" i="0">
                <a:solidFill>
                  <a:srgbClr val="C026A3"/>
                </a:solidFill>
                <a:latin typeface="Arial"/>
              </a:defRPr>
            </a:pPr>
            <a:r>
              <a:rPr lang="en-US" sz="1400" dirty="0"/>
              <a:t>08</a:t>
            </a:r>
            <a:endParaRPr sz="1400" dirty="0"/>
          </a:p>
        </p:txBody>
      </p:sp>
      <p:sp>
        <p:nvSpPr>
          <p:cNvPr id="18" name="TextBox 17"/>
          <p:cNvSpPr txBox="1"/>
          <p:nvPr/>
        </p:nvSpPr>
        <p:spPr>
          <a:xfrm>
            <a:off x="7620000" y="4398264"/>
            <a:ext cx="4572000" cy="320040"/>
          </a:xfrm>
          <a:prstGeom prst="rect">
            <a:avLst/>
          </a:prstGeom>
          <a:noFill/>
        </p:spPr>
        <p:txBody>
          <a:bodyPr wrap="square">
            <a:spAutoFit/>
          </a:bodyPr>
          <a:lstStyle/>
          <a:p>
            <a:pPr>
              <a:defRPr sz="1100" i="0">
                <a:solidFill>
                  <a:srgbClr val="F5F8F9"/>
                </a:solidFill>
                <a:latin typeface="Arial"/>
              </a:defRPr>
            </a:pPr>
            <a:r>
              <a:rPr sz="1400"/>
              <a:t>Next Steps</a:t>
            </a:r>
          </a:p>
        </p:txBody>
      </p:sp>
      <p:sp>
        <p:nvSpPr>
          <p:cNvPr id="19" name="TextBox 18"/>
          <p:cNvSpPr txBox="1"/>
          <p:nvPr/>
        </p:nvSpPr>
        <p:spPr>
          <a:xfrm>
            <a:off x="411480" y="6446520"/>
            <a:ext cx="7315200" cy="274320"/>
          </a:xfrm>
          <a:prstGeom prst="rect">
            <a:avLst/>
          </a:prstGeom>
          <a:noFill/>
        </p:spPr>
        <p:txBody>
          <a:bodyPr wrap="none">
            <a:spAutoFit/>
          </a:bodyPr>
          <a:lstStyle/>
          <a:p>
            <a:pPr>
              <a:defRPr sz="700">
                <a:solidFill>
                  <a:srgbClr val="A8C4C8"/>
                </a:solidFill>
                <a:latin typeface="Arial"/>
              </a:defRPr>
            </a:pPr>
            <a:r>
              <a:t>A. MARSHALL HOSPITALITY / PARTNERSHIP PROPOSAL</a:t>
            </a:r>
          </a:p>
        </p:txBody>
      </p:sp>
      <p:sp>
        <p:nvSpPr>
          <p:cNvPr id="20" name="TextBox 19"/>
          <p:cNvSpPr txBox="1"/>
          <p:nvPr/>
        </p:nvSpPr>
        <p:spPr>
          <a:xfrm>
            <a:off x="11155680" y="6446520"/>
            <a:ext cx="731520" cy="274320"/>
          </a:xfrm>
          <a:prstGeom prst="rect">
            <a:avLst/>
          </a:prstGeom>
          <a:noFill/>
        </p:spPr>
        <p:txBody>
          <a:bodyPr wrap="none">
            <a:spAutoFit/>
          </a:bodyPr>
          <a:lstStyle/>
          <a:p>
            <a:pPr algn="r">
              <a:defRPr sz="700">
                <a:solidFill>
                  <a:srgbClr val="A8C4C8"/>
                </a:solidFill>
              </a:defRPr>
            </a:pPr>
            <a: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535D"/>
        </a:solidFill>
        <a:effectLst/>
      </p:bgPr>
    </p:bg>
    <p:spTree>
      <p:nvGrpSpPr>
        <p:cNvPr id="1" name=""/>
        <p:cNvGrpSpPr/>
        <p:nvPr/>
      </p:nvGrpSpPr>
      <p:grpSpPr>
        <a:xfrm>
          <a:off x="0" y="0"/>
          <a:ext cx="0" cy="0"/>
          <a:chOff x="0" y="0"/>
          <a:chExt cx="0" cy="0"/>
        </a:xfrm>
      </p:grpSpPr>
      <p:pic>
        <p:nvPicPr>
          <p:cNvPr id="2" name="Picture 1" descr="slide-03-profile-iq.jpg"/>
          <p:cNvPicPr>
            <a:picLocks noChangeAspect="1"/>
          </p:cNvPicPr>
          <p:nvPr/>
        </p:nvPicPr>
        <p:blipFill>
          <a:blip r:embed="rId2"/>
          <a:stretch>
            <a:fillRect/>
          </a:stretch>
        </p:blipFill>
        <p:spPr>
          <a:xfrm>
            <a:off x="0" y="195679"/>
            <a:ext cx="12191695" cy="6858000"/>
          </a:xfrm>
          <a:prstGeom prst="rect">
            <a:avLst/>
          </a:prstGeom>
        </p:spPr>
      </p:pic>
      <p:pic>
        <p:nvPicPr>
          <p:cNvPr id="3" name="Picture 2" descr="crosswalk-logo-white.png"/>
          <p:cNvPicPr>
            <a:picLocks noChangeAspect="1"/>
          </p:cNvPicPr>
          <p:nvPr/>
        </p:nvPicPr>
        <p:blipFill>
          <a:blip r:embed="rId3"/>
          <a:stretch>
            <a:fillRect/>
          </a:stretch>
        </p:blipFill>
        <p:spPr>
          <a:xfrm>
            <a:off x="411480" y="320040"/>
            <a:ext cx="1234440" cy="204706"/>
          </a:xfrm>
          <a:prstGeom prst="rect">
            <a:avLst/>
          </a:prstGeom>
        </p:spPr>
      </p:pic>
      <p:sp>
        <p:nvSpPr>
          <p:cNvPr id="4" name="TextBox 3"/>
          <p:cNvSpPr txBox="1"/>
          <p:nvPr/>
        </p:nvSpPr>
        <p:spPr>
          <a:xfrm>
            <a:off x="6934200" y="195679"/>
            <a:ext cx="4846320" cy="320040"/>
          </a:xfrm>
          <a:prstGeom prst="rect">
            <a:avLst/>
          </a:prstGeom>
          <a:noFill/>
        </p:spPr>
        <p:txBody>
          <a:bodyPr wrap="none">
            <a:spAutoFit/>
          </a:bodyPr>
          <a:lstStyle/>
          <a:p>
            <a:pPr algn="r">
              <a:defRPr sz="700" b="1">
                <a:solidFill>
                  <a:srgbClr val="A8C4C8"/>
                </a:solidFill>
                <a:latin typeface="Arial"/>
              </a:defRPr>
            </a:pPr>
            <a:r>
              <a:rPr dirty="0"/>
              <a:t>A. MARSHALL HOSPITALITY / PROFILE IQ</a:t>
            </a:r>
          </a:p>
        </p:txBody>
      </p:sp>
      <p:sp>
        <p:nvSpPr>
          <p:cNvPr id="5" name="TextBox 4"/>
          <p:cNvSpPr txBox="1"/>
          <p:nvPr/>
        </p:nvSpPr>
        <p:spPr>
          <a:xfrm>
            <a:off x="411480" y="826732"/>
            <a:ext cx="9144000" cy="584775"/>
          </a:xfrm>
          <a:prstGeom prst="rect">
            <a:avLst/>
          </a:prstGeom>
          <a:noFill/>
        </p:spPr>
        <p:txBody>
          <a:bodyPr wrap="square">
            <a:spAutoFit/>
          </a:bodyPr>
          <a:lstStyle/>
          <a:p>
            <a:pPr>
              <a:defRPr sz="2800" b="1">
                <a:solidFill>
                  <a:srgbClr val="F5F8F9"/>
                </a:solidFill>
                <a:latin typeface="Georgia"/>
              </a:defRPr>
            </a:pPr>
            <a:r>
              <a:rPr sz="3200" dirty="0"/>
              <a:t>Profile IQ for Every Location</a:t>
            </a:r>
          </a:p>
        </p:txBody>
      </p:sp>
      <p:sp>
        <p:nvSpPr>
          <p:cNvPr id="6" name="TextBox 5"/>
          <p:cNvSpPr txBox="1"/>
          <p:nvPr/>
        </p:nvSpPr>
        <p:spPr>
          <a:xfrm>
            <a:off x="411480" y="1439964"/>
            <a:ext cx="9144000" cy="276999"/>
          </a:xfrm>
          <a:prstGeom prst="rect">
            <a:avLst/>
          </a:prstGeom>
          <a:noFill/>
        </p:spPr>
        <p:txBody>
          <a:bodyPr wrap="square">
            <a:spAutoFit/>
          </a:bodyPr>
          <a:lstStyle/>
          <a:p>
            <a:pPr>
              <a:defRPr sz="1100" i="1">
                <a:solidFill>
                  <a:srgbClr val="A8C4C8"/>
                </a:solidFill>
                <a:latin typeface="Arial"/>
              </a:defRPr>
            </a:pPr>
            <a:r>
              <a:rPr sz="1200" dirty="0"/>
              <a:t>A dedicated audience portrait for each restaurant location</a:t>
            </a:r>
            <a:r>
              <a:rPr lang="en-US" sz="1200" dirty="0"/>
              <a:t>, </a:t>
            </a:r>
            <a:r>
              <a:rPr sz="1200" dirty="0"/>
              <a:t>refreshed on your cadence.</a:t>
            </a:r>
          </a:p>
        </p:txBody>
      </p:sp>
      <p:sp>
        <p:nvSpPr>
          <p:cNvPr id="7" name="Rectangle 6"/>
          <p:cNvSpPr/>
          <p:nvPr/>
        </p:nvSpPr>
        <p:spPr>
          <a:xfrm>
            <a:off x="444531" y="2427172"/>
            <a:ext cx="45719" cy="689146"/>
          </a:xfrm>
          <a:prstGeom prst="rect">
            <a:avLst/>
          </a:prstGeom>
          <a:solidFill>
            <a:srgbClr val="C02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4531" y="1953930"/>
            <a:ext cx="1713354" cy="307777"/>
          </a:xfrm>
          <a:prstGeom prst="rect">
            <a:avLst/>
          </a:prstGeom>
          <a:noFill/>
        </p:spPr>
        <p:txBody>
          <a:bodyPr wrap="none">
            <a:spAutoFit/>
          </a:bodyPr>
          <a:lstStyle/>
          <a:p>
            <a:pPr>
              <a:defRPr sz="700" b="1">
                <a:solidFill>
                  <a:srgbClr val="C026A3"/>
                </a:solidFill>
                <a:latin typeface="Arial"/>
              </a:defRPr>
            </a:pPr>
            <a:r>
              <a:rPr sz="1400" dirty="0"/>
              <a:t>WHY IT MATTERS</a:t>
            </a:r>
          </a:p>
        </p:txBody>
      </p:sp>
      <p:sp>
        <p:nvSpPr>
          <p:cNvPr id="9" name="TextBox 8"/>
          <p:cNvSpPr txBox="1"/>
          <p:nvPr/>
        </p:nvSpPr>
        <p:spPr>
          <a:xfrm>
            <a:off x="548640" y="2382266"/>
            <a:ext cx="5029200" cy="738664"/>
          </a:xfrm>
          <a:prstGeom prst="rect">
            <a:avLst/>
          </a:prstGeom>
          <a:noFill/>
        </p:spPr>
        <p:txBody>
          <a:bodyPr wrap="square">
            <a:spAutoFit/>
          </a:bodyPr>
          <a:lstStyle/>
          <a:p>
            <a:pPr>
              <a:defRPr sz="1100" i="1">
                <a:solidFill>
                  <a:srgbClr val="F5F8F9"/>
                </a:solidFill>
                <a:latin typeface="Arial"/>
              </a:defRPr>
            </a:pPr>
            <a:r>
              <a:rPr sz="1400" dirty="0"/>
              <a:t>Each location draws a different guest </a:t>
            </a:r>
            <a:r>
              <a:rPr lang="en-US" sz="1400" dirty="0"/>
              <a:t>- </a:t>
            </a:r>
            <a:r>
              <a:rPr sz="1400" dirty="0"/>
              <a:t>different ages, incomes, dining occasions</a:t>
            </a:r>
            <a:r>
              <a:rPr lang="en-US" sz="1400" dirty="0"/>
              <a:t> </a:t>
            </a:r>
            <a:r>
              <a:rPr sz="1400" dirty="0"/>
              <a:t>and media habits. Location-level Profile IQ turns that variance into actionable strategy.</a:t>
            </a:r>
          </a:p>
        </p:txBody>
      </p:sp>
      <p:sp>
        <p:nvSpPr>
          <p:cNvPr id="10" name="TextBox 9"/>
          <p:cNvSpPr txBox="1"/>
          <p:nvPr/>
        </p:nvSpPr>
        <p:spPr>
          <a:xfrm>
            <a:off x="411480" y="3737071"/>
            <a:ext cx="3354573" cy="338554"/>
          </a:xfrm>
          <a:prstGeom prst="rect">
            <a:avLst/>
          </a:prstGeom>
          <a:noFill/>
        </p:spPr>
        <p:txBody>
          <a:bodyPr wrap="none">
            <a:spAutoFit/>
          </a:bodyPr>
          <a:lstStyle/>
          <a:p>
            <a:pPr>
              <a:defRPr sz="700" b="1">
                <a:solidFill>
                  <a:srgbClr val="A8C4C8"/>
                </a:solidFill>
                <a:latin typeface="Arial"/>
              </a:defRPr>
            </a:pPr>
            <a:r>
              <a:rPr sz="1600" dirty="0"/>
              <a:t>DELIVERABLES PER LOCATION</a:t>
            </a:r>
          </a:p>
        </p:txBody>
      </p:sp>
      <p:sp>
        <p:nvSpPr>
          <p:cNvPr id="11" name="TextBox 10"/>
          <p:cNvSpPr txBox="1"/>
          <p:nvPr/>
        </p:nvSpPr>
        <p:spPr>
          <a:xfrm>
            <a:off x="415016" y="4132539"/>
            <a:ext cx="5943600" cy="307777"/>
          </a:xfrm>
          <a:prstGeom prst="rect">
            <a:avLst/>
          </a:prstGeom>
          <a:noFill/>
        </p:spPr>
        <p:txBody>
          <a:bodyPr wrap="square">
            <a:spAutoFit/>
          </a:bodyPr>
          <a:lstStyle/>
          <a:p>
            <a:pPr>
              <a:defRPr sz="1000" i="0">
                <a:solidFill>
                  <a:srgbClr val="F5F8F9"/>
                </a:solidFill>
                <a:latin typeface="Arial"/>
              </a:defRPr>
            </a:pPr>
            <a:r>
              <a:rPr sz="1400" dirty="0"/>
              <a:t>•  Demographic profile (age, gender, income, ethnicity and more)</a:t>
            </a:r>
          </a:p>
        </p:txBody>
      </p:sp>
      <p:sp>
        <p:nvSpPr>
          <p:cNvPr id="12" name="TextBox 11"/>
          <p:cNvSpPr txBox="1"/>
          <p:nvPr/>
        </p:nvSpPr>
        <p:spPr>
          <a:xfrm>
            <a:off x="415016" y="4443435"/>
            <a:ext cx="5943600" cy="307777"/>
          </a:xfrm>
          <a:prstGeom prst="rect">
            <a:avLst/>
          </a:prstGeom>
          <a:noFill/>
        </p:spPr>
        <p:txBody>
          <a:bodyPr wrap="square">
            <a:spAutoFit/>
          </a:bodyPr>
          <a:lstStyle/>
          <a:p>
            <a:pPr>
              <a:defRPr sz="1000" i="0">
                <a:solidFill>
                  <a:srgbClr val="F5F8F9"/>
                </a:solidFill>
                <a:latin typeface="Arial"/>
              </a:defRPr>
            </a:pPr>
            <a:r>
              <a:rPr sz="1400"/>
              <a:t>•  Behavioral affinities and interests</a:t>
            </a:r>
          </a:p>
        </p:txBody>
      </p:sp>
      <p:sp>
        <p:nvSpPr>
          <p:cNvPr id="13" name="TextBox 12"/>
          <p:cNvSpPr txBox="1"/>
          <p:nvPr/>
        </p:nvSpPr>
        <p:spPr>
          <a:xfrm>
            <a:off x="415016" y="4754331"/>
            <a:ext cx="5943600" cy="307777"/>
          </a:xfrm>
          <a:prstGeom prst="rect">
            <a:avLst/>
          </a:prstGeom>
          <a:noFill/>
        </p:spPr>
        <p:txBody>
          <a:bodyPr wrap="square">
            <a:spAutoFit/>
          </a:bodyPr>
          <a:lstStyle/>
          <a:p>
            <a:pPr>
              <a:defRPr sz="1000" i="0">
                <a:solidFill>
                  <a:srgbClr val="F5F8F9"/>
                </a:solidFill>
                <a:latin typeface="Arial"/>
              </a:defRPr>
            </a:pPr>
            <a:r>
              <a:rPr sz="1400"/>
              <a:t>•  Geographic concentration and DMA views</a:t>
            </a:r>
          </a:p>
        </p:txBody>
      </p:sp>
      <p:sp>
        <p:nvSpPr>
          <p:cNvPr id="14" name="TextBox 13"/>
          <p:cNvSpPr txBox="1"/>
          <p:nvPr/>
        </p:nvSpPr>
        <p:spPr>
          <a:xfrm>
            <a:off x="415016" y="5065227"/>
            <a:ext cx="5943600" cy="307777"/>
          </a:xfrm>
          <a:prstGeom prst="rect">
            <a:avLst/>
          </a:prstGeom>
          <a:noFill/>
        </p:spPr>
        <p:txBody>
          <a:bodyPr wrap="square">
            <a:spAutoFit/>
          </a:bodyPr>
          <a:lstStyle/>
          <a:p>
            <a:pPr>
              <a:defRPr sz="1000" i="0">
                <a:solidFill>
                  <a:srgbClr val="F5F8F9"/>
                </a:solidFill>
                <a:latin typeface="Arial"/>
              </a:defRPr>
            </a:pPr>
            <a:r>
              <a:rPr sz="1400"/>
              <a:t>•  Crosswalk dashboard access for your team</a:t>
            </a:r>
          </a:p>
        </p:txBody>
      </p:sp>
      <p:sp>
        <p:nvSpPr>
          <p:cNvPr id="15" name="TextBox 14"/>
          <p:cNvSpPr txBox="1"/>
          <p:nvPr/>
        </p:nvSpPr>
        <p:spPr>
          <a:xfrm>
            <a:off x="415016" y="5376123"/>
            <a:ext cx="5943600" cy="307777"/>
          </a:xfrm>
          <a:prstGeom prst="rect">
            <a:avLst/>
          </a:prstGeom>
          <a:noFill/>
        </p:spPr>
        <p:txBody>
          <a:bodyPr wrap="square">
            <a:spAutoFit/>
          </a:bodyPr>
          <a:lstStyle/>
          <a:p>
            <a:pPr>
              <a:defRPr sz="1000" i="0">
                <a:solidFill>
                  <a:srgbClr val="F5F8F9"/>
                </a:solidFill>
                <a:latin typeface="Arial"/>
              </a:defRPr>
            </a:pPr>
            <a:r>
              <a:rPr sz="1400"/>
              <a:t>•  Deck-ready exports for internal and external sharing</a:t>
            </a:r>
          </a:p>
        </p:txBody>
      </p:sp>
      <p:sp>
        <p:nvSpPr>
          <p:cNvPr id="16" name="TextBox 15"/>
          <p:cNvSpPr txBox="1"/>
          <p:nvPr/>
        </p:nvSpPr>
        <p:spPr>
          <a:xfrm>
            <a:off x="411480" y="6446520"/>
            <a:ext cx="7315200" cy="274320"/>
          </a:xfrm>
          <a:prstGeom prst="rect">
            <a:avLst/>
          </a:prstGeom>
          <a:noFill/>
        </p:spPr>
        <p:txBody>
          <a:bodyPr wrap="none">
            <a:spAutoFit/>
          </a:bodyPr>
          <a:lstStyle/>
          <a:p>
            <a:pPr>
              <a:defRPr sz="700">
                <a:solidFill>
                  <a:srgbClr val="A8C4C8"/>
                </a:solidFill>
                <a:latin typeface="Arial"/>
              </a:defRPr>
            </a:pPr>
            <a:r>
              <a:t>A. MARSHALL HOSPITALITY / PARTNERSHIP PROPOSAL</a:t>
            </a:r>
          </a:p>
        </p:txBody>
      </p:sp>
      <p:sp>
        <p:nvSpPr>
          <p:cNvPr id="17" name="TextBox 16"/>
          <p:cNvSpPr txBox="1"/>
          <p:nvPr/>
        </p:nvSpPr>
        <p:spPr>
          <a:xfrm>
            <a:off x="10307382" y="6525161"/>
            <a:ext cx="731520" cy="274320"/>
          </a:xfrm>
          <a:prstGeom prst="rect">
            <a:avLst/>
          </a:prstGeom>
          <a:noFill/>
        </p:spPr>
        <p:txBody>
          <a:bodyPr wrap="none">
            <a:spAutoFit/>
          </a:bodyPr>
          <a:lstStyle/>
          <a:p>
            <a:pPr algn="r">
              <a:defRPr sz="700">
                <a:solidFill>
                  <a:srgbClr val="A8C4C8"/>
                </a:solidFill>
              </a:defRPr>
            </a:pPr>
            <a:r>
              <a:rPr dirty="0"/>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1535D"/>
        </a:solidFill>
        <a:effectLst/>
      </p:bgPr>
    </p:bg>
    <p:spTree>
      <p:nvGrpSpPr>
        <p:cNvPr id="1" name=""/>
        <p:cNvGrpSpPr/>
        <p:nvPr/>
      </p:nvGrpSpPr>
      <p:grpSpPr>
        <a:xfrm>
          <a:off x="0" y="0"/>
          <a:ext cx="0" cy="0"/>
          <a:chOff x="0" y="0"/>
          <a:chExt cx="0" cy="0"/>
        </a:xfrm>
      </p:grpSpPr>
      <p:pic>
        <p:nvPicPr>
          <p:cNvPr id="2" name="Picture 1" descr="slide-04-competitors.jpg"/>
          <p:cNvPicPr>
            <a:picLocks noChangeAspect="1"/>
          </p:cNvPicPr>
          <p:nvPr/>
        </p:nvPicPr>
        <p:blipFill>
          <a:blip r:embed="rId2"/>
          <a:stretch>
            <a:fillRect/>
          </a:stretch>
        </p:blipFill>
        <p:spPr>
          <a:xfrm>
            <a:off x="585216" y="73262"/>
            <a:ext cx="12191695" cy="6858000"/>
          </a:xfrm>
          <a:prstGeom prst="rect">
            <a:avLst/>
          </a:prstGeom>
        </p:spPr>
      </p:pic>
      <p:pic>
        <p:nvPicPr>
          <p:cNvPr id="3" name="Picture 2" descr="crosswalk-logo-white.png"/>
          <p:cNvPicPr>
            <a:picLocks noChangeAspect="1"/>
          </p:cNvPicPr>
          <p:nvPr/>
        </p:nvPicPr>
        <p:blipFill>
          <a:blip r:embed="rId3"/>
          <a:stretch>
            <a:fillRect/>
          </a:stretch>
        </p:blipFill>
        <p:spPr>
          <a:xfrm>
            <a:off x="411480" y="320040"/>
            <a:ext cx="1234440" cy="204706"/>
          </a:xfrm>
          <a:prstGeom prst="rect">
            <a:avLst/>
          </a:prstGeom>
        </p:spPr>
      </p:pic>
      <p:sp>
        <p:nvSpPr>
          <p:cNvPr id="4" name="TextBox 3"/>
          <p:cNvSpPr txBox="1"/>
          <p:nvPr/>
        </p:nvSpPr>
        <p:spPr>
          <a:xfrm>
            <a:off x="6294120" y="160020"/>
            <a:ext cx="5486400" cy="320040"/>
          </a:xfrm>
          <a:prstGeom prst="rect">
            <a:avLst/>
          </a:prstGeom>
          <a:noFill/>
        </p:spPr>
        <p:txBody>
          <a:bodyPr wrap="none">
            <a:spAutoFit/>
          </a:bodyPr>
          <a:lstStyle/>
          <a:p>
            <a:pPr algn="r">
              <a:defRPr sz="700" b="1">
                <a:solidFill>
                  <a:srgbClr val="A8C4C8"/>
                </a:solidFill>
                <a:latin typeface="Arial"/>
              </a:defRPr>
            </a:pPr>
            <a:r>
              <a:rPr dirty="0"/>
              <a:t>A. MARSHALL HOSPITALITY / COMPETITIVE INTEL</a:t>
            </a:r>
          </a:p>
        </p:txBody>
      </p:sp>
      <p:sp>
        <p:nvSpPr>
          <p:cNvPr id="5" name="TextBox 4"/>
          <p:cNvSpPr txBox="1"/>
          <p:nvPr/>
        </p:nvSpPr>
        <p:spPr>
          <a:xfrm>
            <a:off x="411480" y="1069158"/>
            <a:ext cx="9144000" cy="584775"/>
          </a:xfrm>
          <a:prstGeom prst="rect">
            <a:avLst/>
          </a:prstGeom>
          <a:noFill/>
        </p:spPr>
        <p:txBody>
          <a:bodyPr wrap="square">
            <a:spAutoFit/>
          </a:bodyPr>
          <a:lstStyle/>
          <a:p>
            <a:pPr>
              <a:defRPr sz="2800" b="1">
                <a:solidFill>
                  <a:srgbClr val="F5F8F9"/>
                </a:solidFill>
                <a:latin typeface="Georgia"/>
              </a:defRPr>
            </a:pPr>
            <a:r>
              <a:rPr sz="3200" dirty="0"/>
              <a:t>Competitors Loaded by Location</a:t>
            </a:r>
          </a:p>
        </p:txBody>
      </p:sp>
      <p:sp>
        <p:nvSpPr>
          <p:cNvPr id="6" name="TextBox 5"/>
          <p:cNvSpPr txBox="1"/>
          <p:nvPr/>
        </p:nvSpPr>
        <p:spPr>
          <a:xfrm>
            <a:off x="411480" y="1641083"/>
            <a:ext cx="9144000" cy="276999"/>
          </a:xfrm>
          <a:prstGeom prst="rect">
            <a:avLst/>
          </a:prstGeom>
          <a:noFill/>
        </p:spPr>
        <p:txBody>
          <a:bodyPr wrap="square">
            <a:spAutoFit/>
          </a:bodyPr>
          <a:lstStyle/>
          <a:p>
            <a:pPr>
              <a:defRPr sz="1100" i="1">
                <a:solidFill>
                  <a:srgbClr val="A8C4C8"/>
                </a:solidFill>
                <a:latin typeface="Arial"/>
              </a:defRPr>
            </a:pPr>
            <a:r>
              <a:rPr sz="1200" dirty="0"/>
              <a:t>You identify the competitive set; we benchmark each location against them in the Crosswalk dashboard.</a:t>
            </a:r>
          </a:p>
        </p:txBody>
      </p:sp>
      <p:sp>
        <p:nvSpPr>
          <p:cNvPr id="7" name="Rectangle 6"/>
          <p:cNvSpPr/>
          <p:nvPr/>
        </p:nvSpPr>
        <p:spPr>
          <a:xfrm flipH="1">
            <a:off x="538669" y="2923182"/>
            <a:ext cx="45719" cy="879804"/>
          </a:xfrm>
          <a:prstGeom prst="rect">
            <a:avLst/>
          </a:prstGeom>
          <a:solidFill>
            <a:srgbClr val="C02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85216" y="2560320"/>
            <a:ext cx="1713354" cy="307777"/>
          </a:xfrm>
          <a:prstGeom prst="rect">
            <a:avLst/>
          </a:prstGeom>
          <a:noFill/>
        </p:spPr>
        <p:txBody>
          <a:bodyPr wrap="none">
            <a:spAutoFit/>
          </a:bodyPr>
          <a:lstStyle/>
          <a:p>
            <a:pPr>
              <a:defRPr sz="700" b="1">
                <a:solidFill>
                  <a:srgbClr val="C026A3"/>
                </a:solidFill>
                <a:latin typeface="Arial"/>
              </a:defRPr>
            </a:pPr>
            <a:r>
              <a:rPr sz="1400" dirty="0"/>
              <a:t>WHY IT MATTERS</a:t>
            </a:r>
          </a:p>
        </p:txBody>
      </p:sp>
      <p:sp>
        <p:nvSpPr>
          <p:cNvPr id="9" name="TextBox 8"/>
          <p:cNvSpPr txBox="1"/>
          <p:nvPr/>
        </p:nvSpPr>
        <p:spPr>
          <a:xfrm>
            <a:off x="585216" y="2892511"/>
            <a:ext cx="5029200" cy="954107"/>
          </a:xfrm>
          <a:prstGeom prst="rect">
            <a:avLst/>
          </a:prstGeom>
          <a:noFill/>
        </p:spPr>
        <p:txBody>
          <a:bodyPr wrap="square">
            <a:spAutoFit/>
          </a:bodyPr>
          <a:lstStyle/>
          <a:p>
            <a:pPr>
              <a:defRPr sz="1100" i="1">
                <a:solidFill>
                  <a:srgbClr val="F5F8F9"/>
                </a:solidFill>
                <a:latin typeface="Arial"/>
              </a:defRPr>
            </a:pPr>
            <a:r>
              <a:rPr sz="1400" dirty="0"/>
              <a:t>Each market competes differently. We upload your named competitors per location, reflecting indexing and gap analysis to show real market dynamics, rather than generic category averages.</a:t>
            </a:r>
          </a:p>
        </p:txBody>
      </p:sp>
      <p:sp>
        <p:nvSpPr>
          <p:cNvPr id="10" name="TextBox 9"/>
          <p:cNvSpPr txBox="1"/>
          <p:nvPr/>
        </p:nvSpPr>
        <p:spPr>
          <a:xfrm>
            <a:off x="487680" y="4191071"/>
            <a:ext cx="1423788" cy="338554"/>
          </a:xfrm>
          <a:prstGeom prst="rect">
            <a:avLst/>
          </a:prstGeom>
          <a:noFill/>
        </p:spPr>
        <p:txBody>
          <a:bodyPr wrap="none">
            <a:spAutoFit/>
          </a:bodyPr>
          <a:lstStyle/>
          <a:p>
            <a:pPr>
              <a:defRPr sz="700" b="1">
                <a:solidFill>
                  <a:srgbClr val="A8C4C8"/>
                </a:solidFill>
                <a:latin typeface="Arial"/>
              </a:defRPr>
            </a:pPr>
            <a:r>
              <a:rPr sz="1600" dirty="0"/>
              <a:t>WE HANDLE</a:t>
            </a:r>
          </a:p>
        </p:txBody>
      </p:sp>
      <p:sp>
        <p:nvSpPr>
          <p:cNvPr id="11" name="TextBox 10"/>
          <p:cNvSpPr txBox="1"/>
          <p:nvPr/>
        </p:nvSpPr>
        <p:spPr>
          <a:xfrm>
            <a:off x="487680" y="4511111"/>
            <a:ext cx="5029200" cy="307777"/>
          </a:xfrm>
          <a:prstGeom prst="rect">
            <a:avLst/>
          </a:prstGeom>
          <a:noFill/>
        </p:spPr>
        <p:txBody>
          <a:bodyPr wrap="square">
            <a:spAutoFit/>
          </a:bodyPr>
          <a:lstStyle/>
          <a:p>
            <a:pPr>
              <a:defRPr sz="1000" i="0">
                <a:solidFill>
                  <a:srgbClr val="F5F8F9"/>
                </a:solidFill>
                <a:latin typeface="Arial"/>
              </a:defRPr>
            </a:pPr>
            <a:r>
              <a:rPr sz="1400"/>
              <a:t>•  Competitor profile upload per location</a:t>
            </a:r>
          </a:p>
        </p:txBody>
      </p:sp>
      <p:sp>
        <p:nvSpPr>
          <p:cNvPr id="12" name="TextBox 11"/>
          <p:cNvSpPr txBox="1"/>
          <p:nvPr/>
        </p:nvSpPr>
        <p:spPr>
          <a:xfrm>
            <a:off x="487680" y="4822007"/>
            <a:ext cx="5029200" cy="307777"/>
          </a:xfrm>
          <a:prstGeom prst="rect">
            <a:avLst/>
          </a:prstGeom>
          <a:noFill/>
        </p:spPr>
        <p:txBody>
          <a:bodyPr wrap="square">
            <a:spAutoFit/>
          </a:bodyPr>
          <a:lstStyle/>
          <a:p>
            <a:pPr>
              <a:defRPr sz="1000" i="0">
                <a:solidFill>
                  <a:srgbClr val="F5F8F9"/>
                </a:solidFill>
                <a:latin typeface="Arial"/>
              </a:defRPr>
            </a:pPr>
            <a:r>
              <a:rPr sz="1400" dirty="0"/>
              <a:t>•  Side-by-side index comparison</a:t>
            </a:r>
          </a:p>
        </p:txBody>
      </p:sp>
      <p:sp>
        <p:nvSpPr>
          <p:cNvPr id="13" name="TextBox 12"/>
          <p:cNvSpPr txBox="1"/>
          <p:nvPr/>
        </p:nvSpPr>
        <p:spPr>
          <a:xfrm>
            <a:off x="4526280" y="4136540"/>
            <a:ext cx="1608133" cy="338554"/>
          </a:xfrm>
          <a:prstGeom prst="rect">
            <a:avLst/>
          </a:prstGeom>
          <a:noFill/>
        </p:spPr>
        <p:txBody>
          <a:bodyPr wrap="none">
            <a:spAutoFit/>
          </a:bodyPr>
          <a:lstStyle/>
          <a:p>
            <a:pPr>
              <a:defRPr sz="700" b="1">
                <a:solidFill>
                  <a:srgbClr val="A8C4C8"/>
                </a:solidFill>
                <a:latin typeface="Arial"/>
              </a:defRPr>
            </a:pPr>
            <a:r>
              <a:rPr sz="1600" dirty="0"/>
              <a:t>YOU PROVIDE</a:t>
            </a:r>
          </a:p>
        </p:txBody>
      </p:sp>
      <p:sp>
        <p:nvSpPr>
          <p:cNvPr id="14" name="TextBox 13"/>
          <p:cNvSpPr txBox="1"/>
          <p:nvPr/>
        </p:nvSpPr>
        <p:spPr>
          <a:xfrm>
            <a:off x="4526280" y="4456580"/>
            <a:ext cx="5029200" cy="307777"/>
          </a:xfrm>
          <a:prstGeom prst="rect">
            <a:avLst/>
          </a:prstGeom>
          <a:noFill/>
        </p:spPr>
        <p:txBody>
          <a:bodyPr wrap="square">
            <a:spAutoFit/>
          </a:bodyPr>
          <a:lstStyle/>
          <a:p>
            <a:pPr>
              <a:defRPr sz="1000" i="0">
                <a:solidFill>
                  <a:srgbClr val="F5F8F9"/>
                </a:solidFill>
                <a:latin typeface="Arial"/>
              </a:defRPr>
            </a:pPr>
            <a:r>
              <a:rPr sz="1400"/>
              <a:t>•  Location list across your portfolio</a:t>
            </a:r>
          </a:p>
        </p:txBody>
      </p:sp>
      <p:sp>
        <p:nvSpPr>
          <p:cNvPr id="15" name="TextBox 14"/>
          <p:cNvSpPr txBox="1"/>
          <p:nvPr/>
        </p:nvSpPr>
        <p:spPr>
          <a:xfrm>
            <a:off x="4526280" y="4767476"/>
            <a:ext cx="5029200" cy="307777"/>
          </a:xfrm>
          <a:prstGeom prst="rect">
            <a:avLst/>
          </a:prstGeom>
          <a:noFill/>
        </p:spPr>
        <p:txBody>
          <a:bodyPr wrap="square">
            <a:spAutoFit/>
          </a:bodyPr>
          <a:lstStyle/>
          <a:p>
            <a:pPr>
              <a:defRPr sz="1000" i="0">
                <a:solidFill>
                  <a:srgbClr val="F5F8F9"/>
                </a:solidFill>
                <a:latin typeface="Arial"/>
              </a:defRPr>
            </a:pPr>
            <a:r>
              <a:rPr sz="1400" dirty="0"/>
              <a:t>•  2</a:t>
            </a:r>
            <a:r>
              <a:rPr lang="en-US" sz="1400" dirty="0"/>
              <a:t>-</a:t>
            </a:r>
            <a:r>
              <a:rPr sz="1400" dirty="0"/>
              <a:t>3 named competitors per site</a:t>
            </a:r>
          </a:p>
        </p:txBody>
      </p:sp>
      <p:sp>
        <p:nvSpPr>
          <p:cNvPr id="16" name="TextBox 15"/>
          <p:cNvSpPr txBox="1"/>
          <p:nvPr/>
        </p:nvSpPr>
        <p:spPr>
          <a:xfrm>
            <a:off x="4526280" y="5078372"/>
            <a:ext cx="5029200" cy="307777"/>
          </a:xfrm>
          <a:prstGeom prst="rect">
            <a:avLst/>
          </a:prstGeom>
          <a:noFill/>
        </p:spPr>
        <p:txBody>
          <a:bodyPr wrap="square">
            <a:spAutoFit/>
          </a:bodyPr>
          <a:lstStyle/>
          <a:p>
            <a:pPr>
              <a:defRPr sz="1000" i="0">
                <a:solidFill>
                  <a:srgbClr val="F5F8F9"/>
                </a:solidFill>
                <a:latin typeface="Arial"/>
              </a:defRPr>
            </a:pPr>
            <a:r>
              <a:rPr sz="1400"/>
              <a:t>•  Quarterly refresh of comp lists</a:t>
            </a:r>
          </a:p>
        </p:txBody>
      </p:sp>
      <p:sp>
        <p:nvSpPr>
          <p:cNvPr id="17" name="TextBox 16"/>
          <p:cNvSpPr txBox="1"/>
          <p:nvPr/>
        </p:nvSpPr>
        <p:spPr>
          <a:xfrm>
            <a:off x="411480" y="6446520"/>
            <a:ext cx="7315200" cy="274320"/>
          </a:xfrm>
          <a:prstGeom prst="rect">
            <a:avLst/>
          </a:prstGeom>
          <a:noFill/>
        </p:spPr>
        <p:txBody>
          <a:bodyPr wrap="none">
            <a:spAutoFit/>
          </a:bodyPr>
          <a:lstStyle/>
          <a:p>
            <a:pPr>
              <a:defRPr sz="700">
                <a:solidFill>
                  <a:srgbClr val="A8C4C8"/>
                </a:solidFill>
                <a:latin typeface="Arial"/>
              </a:defRPr>
            </a:pPr>
            <a:r>
              <a:t>A. MARSHALL HOSPITALITY / PARTNERSHIP PROPOSAL</a:t>
            </a:r>
          </a:p>
        </p:txBody>
      </p:sp>
      <p:sp>
        <p:nvSpPr>
          <p:cNvPr id="18" name="TextBox 17"/>
          <p:cNvSpPr txBox="1"/>
          <p:nvPr/>
        </p:nvSpPr>
        <p:spPr>
          <a:xfrm>
            <a:off x="11460480" y="6560820"/>
            <a:ext cx="731520" cy="274320"/>
          </a:xfrm>
          <a:prstGeom prst="rect">
            <a:avLst/>
          </a:prstGeom>
          <a:noFill/>
        </p:spPr>
        <p:txBody>
          <a:bodyPr wrap="none">
            <a:spAutoFit/>
          </a:bodyPr>
          <a:lstStyle/>
          <a:p>
            <a:pPr algn="r">
              <a:defRPr sz="700">
                <a:solidFill>
                  <a:srgbClr val="A8C4C8"/>
                </a:solidFill>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535D"/>
        </a:solidFill>
        <a:effectLst/>
      </p:bgPr>
    </p:bg>
    <p:spTree>
      <p:nvGrpSpPr>
        <p:cNvPr id="1" name=""/>
        <p:cNvGrpSpPr/>
        <p:nvPr/>
      </p:nvGrpSpPr>
      <p:grpSpPr>
        <a:xfrm>
          <a:off x="0" y="0"/>
          <a:ext cx="0" cy="0"/>
          <a:chOff x="0" y="0"/>
          <a:chExt cx="0" cy="0"/>
        </a:xfrm>
      </p:grpSpPr>
      <p:pic>
        <p:nvPicPr>
          <p:cNvPr id="2" name="Picture 1" descr="slide-05-digital.jpg"/>
          <p:cNvPicPr>
            <a:picLocks noChangeAspect="1"/>
          </p:cNvPicPr>
          <p:nvPr/>
        </p:nvPicPr>
        <p:blipFill>
          <a:blip r:embed="rId2"/>
          <a:stretch>
            <a:fillRect/>
          </a:stretch>
        </p:blipFill>
        <p:spPr>
          <a:xfrm>
            <a:off x="0" y="62448"/>
            <a:ext cx="12191695" cy="6858000"/>
          </a:xfrm>
          <a:prstGeom prst="rect">
            <a:avLst/>
          </a:prstGeom>
        </p:spPr>
      </p:pic>
      <p:pic>
        <p:nvPicPr>
          <p:cNvPr id="3" name="Picture 2" descr="crosswalk-logo-white.png"/>
          <p:cNvPicPr>
            <a:picLocks noChangeAspect="1"/>
          </p:cNvPicPr>
          <p:nvPr/>
        </p:nvPicPr>
        <p:blipFill>
          <a:blip r:embed="rId3"/>
          <a:stretch>
            <a:fillRect/>
          </a:stretch>
        </p:blipFill>
        <p:spPr>
          <a:xfrm>
            <a:off x="411480" y="231904"/>
            <a:ext cx="1234440" cy="204706"/>
          </a:xfrm>
          <a:prstGeom prst="rect">
            <a:avLst/>
          </a:prstGeom>
        </p:spPr>
      </p:pic>
      <p:sp>
        <p:nvSpPr>
          <p:cNvPr id="4" name="TextBox 3"/>
          <p:cNvSpPr txBox="1"/>
          <p:nvPr/>
        </p:nvSpPr>
        <p:spPr>
          <a:xfrm>
            <a:off x="6019800" y="145766"/>
            <a:ext cx="5760720" cy="320040"/>
          </a:xfrm>
          <a:prstGeom prst="rect">
            <a:avLst/>
          </a:prstGeom>
          <a:noFill/>
        </p:spPr>
        <p:txBody>
          <a:bodyPr wrap="none">
            <a:spAutoFit/>
          </a:bodyPr>
          <a:lstStyle/>
          <a:p>
            <a:pPr algn="r">
              <a:defRPr sz="700" b="1">
                <a:solidFill>
                  <a:srgbClr val="A8C4C8"/>
                </a:solidFill>
                <a:latin typeface="Arial"/>
              </a:defRPr>
            </a:pPr>
            <a:r>
              <a:rPr dirty="0"/>
              <a:t>A. MARSHALL HOSPITALITY / DIGITAL JOURNEYS</a:t>
            </a:r>
          </a:p>
        </p:txBody>
      </p:sp>
      <p:sp>
        <p:nvSpPr>
          <p:cNvPr id="5" name="TextBox 4"/>
          <p:cNvSpPr txBox="1"/>
          <p:nvPr/>
        </p:nvSpPr>
        <p:spPr>
          <a:xfrm>
            <a:off x="406082" y="605052"/>
            <a:ext cx="9144000" cy="584775"/>
          </a:xfrm>
          <a:prstGeom prst="rect">
            <a:avLst/>
          </a:prstGeom>
          <a:noFill/>
        </p:spPr>
        <p:txBody>
          <a:bodyPr wrap="square">
            <a:spAutoFit/>
          </a:bodyPr>
          <a:lstStyle/>
          <a:p>
            <a:pPr>
              <a:defRPr sz="2800" b="1">
                <a:solidFill>
                  <a:srgbClr val="F5F8F9"/>
                </a:solidFill>
                <a:latin typeface="Georgia"/>
              </a:defRPr>
            </a:pPr>
            <a:r>
              <a:rPr sz="3200" dirty="0"/>
              <a:t>Digital Journeys &amp; Media Conversion</a:t>
            </a:r>
          </a:p>
        </p:txBody>
      </p:sp>
      <p:sp>
        <p:nvSpPr>
          <p:cNvPr id="6" name="TextBox 5"/>
          <p:cNvSpPr txBox="1"/>
          <p:nvPr/>
        </p:nvSpPr>
        <p:spPr>
          <a:xfrm>
            <a:off x="406082" y="1163734"/>
            <a:ext cx="9144000" cy="276999"/>
          </a:xfrm>
          <a:prstGeom prst="rect">
            <a:avLst/>
          </a:prstGeom>
          <a:noFill/>
        </p:spPr>
        <p:txBody>
          <a:bodyPr wrap="square">
            <a:spAutoFit/>
          </a:bodyPr>
          <a:lstStyle/>
          <a:p>
            <a:pPr>
              <a:defRPr sz="1100" i="1">
                <a:solidFill>
                  <a:srgbClr val="A8C4C8"/>
                </a:solidFill>
                <a:latin typeface="Arial"/>
              </a:defRPr>
            </a:pPr>
            <a:r>
              <a:rPr sz="1200" dirty="0"/>
              <a:t>Per-location path-to-plate intelligence </a:t>
            </a:r>
            <a:r>
              <a:rPr lang="en-US" sz="1200" dirty="0"/>
              <a:t>-</a:t>
            </a:r>
            <a:r>
              <a:rPr sz="1200" dirty="0"/>
              <a:t> from discovery to reservation to delivery.</a:t>
            </a:r>
          </a:p>
        </p:txBody>
      </p:sp>
      <p:sp>
        <p:nvSpPr>
          <p:cNvPr id="7" name="Rectangle 6"/>
          <p:cNvSpPr/>
          <p:nvPr/>
        </p:nvSpPr>
        <p:spPr>
          <a:xfrm>
            <a:off x="483201" y="1792331"/>
            <a:ext cx="36576" cy="777240"/>
          </a:xfrm>
          <a:prstGeom prst="rect">
            <a:avLst/>
          </a:prstGeom>
          <a:solidFill>
            <a:srgbClr val="C02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456358"/>
            <a:ext cx="1713354" cy="307777"/>
          </a:xfrm>
          <a:prstGeom prst="rect">
            <a:avLst/>
          </a:prstGeom>
          <a:noFill/>
        </p:spPr>
        <p:txBody>
          <a:bodyPr wrap="none">
            <a:spAutoFit/>
          </a:bodyPr>
          <a:lstStyle/>
          <a:p>
            <a:pPr>
              <a:defRPr sz="700" b="1">
                <a:solidFill>
                  <a:srgbClr val="C026A3"/>
                </a:solidFill>
                <a:latin typeface="Arial"/>
              </a:defRPr>
            </a:pPr>
            <a:r>
              <a:rPr sz="1400" dirty="0"/>
              <a:t>WHY </a:t>
            </a:r>
            <a:r>
              <a:rPr lang="en-US" sz="1400" dirty="0"/>
              <a:t>IT </a:t>
            </a:r>
            <a:r>
              <a:rPr sz="1400" dirty="0"/>
              <a:t>MATTERS</a:t>
            </a:r>
          </a:p>
        </p:txBody>
      </p:sp>
      <p:sp>
        <p:nvSpPr>
          <p:cNvPr id="9" name="TextBox 8"/>
          <p:cNvSpPr txBox="1"/>
          <p:nvPr/>
        </p:nvSpPr>
        <p:spPr>
          <a:xfrm>
            <a:off x="548640" y="1766263"/>
            <a:ext cx="5029200" cy="830997"/>
          </a:xfrm>
          <a:prstGeom prst="rect">
            <a:avLst/>
          </a:prstGeom>
          <a:noFill/>
        </p:spPr>
        <p:txBody>
          <a:bodyPr wrap="square">
            <a:spAutoFit/>
          </a:bodyPr>
          <a:lstStyle/>
          <a:p>
            <a:pPr>
              <a:defRPr sz="1100" i="1">
                <a:solidFill>
                  <a:srgbClr val="F5F8F9"/>
                </a:solidFill>
                <a:latin typeface="Arial"/>
              </a:defRPr>
            </a:pPr>
            <a:r>
              <a:rPr sz="1200" dirty="0"/>
              <a:t>Guests discover you on Yelp, book on OpenTable and order on DoorDash or Uber Eats, often before they ever walk through the door. Digital journey maps show where each location wins, leaks and converts across the platforms that drive covers and checks.</a:t>
            </a:r>
          </a:p>
        </p:txBody>
      </p:sp>
      <p:sp>
        <p:nvSpPr>
          <p:cNvPr id="10" name="TextBox 9"/>
          <p:cNvSpPr txBox="1"/>
          <p:nvPr/>
        </p:nvSpPr>
        <p:spPr>
          <a:xfrm>
            <a:off x="411480" y="2743200"/>
            <a:ext cx="4209742" cy="338554"/>
          </a:xfrm>
          <a:prstGeom prst="rect">
            <a:avLst/>
          </a:prstGeom>
          <a:noFill/>
        </p:spPr>
        <p:txBody>
          <a:bodyPr wrap="none">
            <a:spAutoFit/>
          </a:bodyPr>
          <a:lstStyle/>
          <a:p>
            <a:pPr>
              <a:defRPr sz="700" b="1">
                <a:solidFill>
                  <a:srgbClr val="A8C4C8"/>
                </a:solidFill>
                <a:latin typeface="Arial"/>
              </a:defRPr>
            </a:pPr>
            <a:r>
              <a:rPr sz="1600" dirty="0"/>
              <a:t>PLATFORMS IN SCOPE (PER LOCATION)</a:t>
            </a:r>
          </a:p>
        </p:txBody>
      </p:sp>
      <p:sp>
        <p:nvSpPr>
          <p:cNvPr id="11" name="TextBox 10"/>
          <p:cNvSpPr txBox="1"/>
          <p:nvPr/>
        </p:nvSpPr>
        <p:spPr>
          <a:xfrm>
            <a:off x="411480" y="3063240"/>
            <a:ext cx="5029200" cy="307777"/>
          </a:xfrm>
          <a:prstGeom prst="rect">
            <a:avLst/>
          </a:prstGeom>
          <a:noFill/>
        </p:spPr>
        <p:txBody>
          <a:bodyPr wrap="square">
            <a:spAutoFit/>
          </a:bodyPr>
          <a:lstStyle/>
          <a:p>
            <a:pPr>
              <a:defRPr sz="1000" i="0">
                <a:solidFill>
                  <a:srgbClr val="F5F8F9"/>
                </a:solidFill>
                <a:latin typeface="Arial"/>
              </a:defRPr>
            </a:pPr>
            <a:r>
              <a:rPr sz="1400"/>
              <a:t>•  OpenTable</a:t>
            </a:r>
          </a:p>
        </p:txBody>
      </p:sp>
      <p:sp>
        <p:nvSpPr>
          <p:cNvPr id="12" name="TextBox 11"/>
          <p:cNvSpPr txBox="1"/>
          <p:nvPr/>
        </p:nvSpPr>
        <p:spPr>
          <a:xfrm>
            <a:off x="411480" y="3337560"/>
            <a:ext cx="5029200" cy="307777"/>
          </a:xfrm>
          <a:prstGeom prst="rect">
            <a:avLst/>
          </a:prstGeom>
          <a:noFill/>
        </p:spPr>
        <p:txBody>
          <a:bodyPr wrap="square">
            <a:spAutoFit/>
          </a:bodyPr>
          <a:lstStyle/>
          <a:p>
            <a:pPr>
              <a:defRPr sz="1000" i="0">
                <a:solidFill>
                  <a:srgbClr val="F5F8F9"/>
                </a:solidFill>
                <a:latin typeface="Arial"/>
              </a:defRPr>
            </a:pPr>
            <a:r>
              <a:rPr sz="1400"/>
              <a:t>•  Yelp</a:t>
            </a:r>
          </a:p>
        </p:txBody>
      </p:sp>
      <p:sp>
        <p:nvSpPr>
          <p:cNvPr id="13" name="TextBox 12"/>
          <p:cNvSpPr txBox="1"/>
          <p:nvPr/>
        </p:nvSpPr>
        <p:spPr>
          <a:xfrm>
            <a:off x="411480" y="3611880"/>
            <a:ext cx="5029200" cy="307777"/>
          </a:xfrm>
          <a:prstGeom prst="rect">
            <a:avLst/>
          </a:prstGeom>
          <a:noFill/>
        </p:spPr>
        <p:txBody>
          <a:bodyPr wrap="square">
            <a:spAutoFit/>
          </a:bodyPr>
          <a:lstStyle/>
          <a:p>
            <a:pPr>
              <a:defRPr sz="1000" i="0">
                <a:solidFill>
                  <a:srgbClr val="F5F8F9"/>
                </a:solidFill>
                <a:latin typeface="Arial"/>
              </a:defRPr>
            </a:pPr>
            <a:r>
              <a:rPr sz="1400"/>
              <a:t>•  DoorDash</a:t>
            </a:r>
          </a:p>
        </p:txBody>
      </p:sp>
      <p:sp>
        <p:nvSpPr>
          <p:cNvPr id="14" name="TextBox 13"/>
          <p:cNvSpPr txBox="1"/>
          <p:nvPr/>
        </p:nvSpPr>
        <p:spPr>
          <a:xfrm>
            <a:off x="411480" y="3886200"/>
            <a:ext cx="5029200" cy="307777"/>
          </a:xfrm>
          <a:prstGeom prst="rect">
            <a:avLst/>
          </a:prstGeom>
          <a:noFill/>
        </p:spPr>
        <p:txBody>
          <a:bodyPr wrap="square">
            <a:spAutoFit/>
          </a:bodyPr>
          <a:lstStyle/>
          <a:p>
            <a:pPr>
              <a:defRPr sz="1000" i="0">
                <a:solidFill>
                  <a:srgbClr val="F5F8F9"/>
                </a:solidFill>
                <a:latin typeface="Arial"/>
              </a:defRPr>
            </a:pPr>
            <a:r>
              <a:rPr sz="1400" dirty="0"/>
              <a:t>•  Uber Eats</a:t>
            </a:r>
            <a:endParaRPr lang="en-US" sz="1400" dirty="0"/>
          </a:p>
        </p:txBody>
      </p:sp>
      <p:sp>
        <p:nvSpPr>
          <p:cNvPr id="16" name="TextBox 15"/>
          <p:cNvSpPr txBox="1"/>
          <p:nvPr/>
        </p:nvSpPr>
        <p:spPr>
          <a:xfrm>
            <a:off x="411480" y="4493066"/>
            <a:ext cx="5029200" cy="307777"/>
          </a:xfrm>
          <a:prstGeom prst="rect">
            <a:avLst/>
          </a:prstGeom>
          <a:noFill/>
        </p:spPr>
        <p:txBody>
          <a:bodyPr wrap="square">
            <a:spAutoFit/>
          </a:bodyPr>
          <a:lstStyle/>
          <a:p>
            <a:pPr>
              <a:defRPr sz="1000" i="0">
                <a:solidFill>
                  <a:srgbClr val="F5F8F9"/>
                </a:solidFill>
                <a:latin typeface="Arial"/>
              </a:defRPr>
            </a:pPr>
            <a:r>
              <a:rPr sz="1400" dirty="0"/>
              <a:t>•  Meta and programmatic media</a:t>
            </a:r>
          </a:p>
        </p:txBody>
      </p:sp>
      <p:sp>
        <p:nvSpPr>
          <p:cNvPr id="17" name="TextBox 16"/>
          <p:cNvSpPr txBox="1"/>
          <p:nvPr/>
        </p:nvSpPr>
        <p:spPr>
          <a:xfrm>
            <a:off x="411480" y="4910085"/>
            <a:ext cx="3848554" cy="307777"/>
          </a:xfrm>
          <a:prstGeom prst="rect">
            <a:avLst/>
          </a:prstGeom>
          <a:noFill/>
        </p:spPr>
        <p:txBody>
          <a:bodyPr wrap="none">
            <a:spAutoFit/>
          </a:bodyPr>
          <a:lstStyle/>
          <a:p>
            <a:pPr>
              <a:defRPr sz="700" b="1">
                <a:solidFill>
                  <a:srgbClr val="A8C4C8"/>
                </a:solidFill>
                <a:latin typeface="Arial"/>
              </a:defRPr>
            </a:pPr>
            <a:r>
              <a:rPr sz="1400" dirty="0"/>
              <a:t>INCLUDED WITH EACH DIGITAL JOURNEY</a:t>
            </a:r>
          </a:p>
        </p:txBody>
      </p:sp>
      <p:sp>
        <p:nvSpPr>
          <p:cNvPr id="18" name="TextBox 17"/>
          <p:cNvSpPr txBox="1"/>
          <p:nvPr/>
        </p:nvSpPr>
        <p:spPr>
          <a:xfrm>
            <a:off x="411480" y="5230125"/>
            <a:ext cx="5943600" cy="307777"/>
          </a:xfrm>
          <a:prstGeom prst="rect">
            <a:avLst/>
          </a:prstGeom>
          <a:noFill/>
        </p:spPr>
        <p:txBody>
          <a:bodyPr wrap="square">
            <a:spAutoFit/>
          </a:bodyPr>
          <a:lstStyle/>
          <a:p>
            <a:pPr>
              <a:defRPr sz="1000" i="0">
                <a:solidFill>
                  <a:srgbClr val="F5F8F9"/>
                </a:solidFill>
                <a:latin typeface="Arial"/>
              </a:defRPr>
            </a:pPr>
            <a:r>
              <a:rPr sz="1400" dirty="0"/>
              <a:t>•  Media conversion analysis per location</a:t>
            </a:r>
          </a:p>
        </p:txBody>
      </p:sp>
      <p:sp>
        <p:nvSpPr>
          <p:cNvPr id="19" name="TextBox 18"/>
          <p:cNvSpPr txBox="1"/>
          <p:nvPr/>
        </p:nvSpPr>
        <p:spPr>
          <a:xfrm>
            <a:off x="411480" y="5522733"/>
            <a:ext cx="5943600" cy="307777"/>
          </a:xfrm>
          <a:prstGeom prst="rect">
            <a:avLst/>
          </a:prstGeom>
          <a:noFill/>
        </p:spPr>
        <p:txBody>
          <a:bodyPr wrap="square">
            <a:spAutoFit/>
          </a:bodyPr>
          <a:lstStyle/>
          <a:p>
            <a:pPr>
              <a:defRPr sz="1000" i="0">
                <a:solidFill>
                  <a:srgbClr val="F5F8F9"/>
                </a:solidFill>
                <a:latin typeface="Arial"/>
              </a:defRPr>
            </a:pPr>
            <a:r>
              <a:rPr sz="1400" dirty="0"/>
              <a:t>•  Platform affinity index</a:t>
            </a:r>
            <a:r>
              <a:rPr lang="en-US" sz="1400" dirty="0"/>
              <a:t>es</a:t>
            </a:r>
            <a:endParaRPr sz="1400" dirty="0"/>
          </a:p>
        </p:txBody>
      </p:sp>
      <p:sp>
        <p:nvSpPr>
          <p:cNvPr id="20" name="TextBox 19"/>
          <p:cNvSpPr txBox="1"/>
          <p:nvPr/>
        </p:nvSpPr>
        <p:spPr>
          <a:xfrm>
            <a:off x="411480" y="5815341"/>
            <a:ext cx="5943600" cy="307777"/>
          </a:xfrm>
          <a:prstGeom prst="rect">
            <a:avLst/>
          </a:prstGeom>
          <a:noFill/>
        </p:spPr>
        <p:txBody>
          <a:bodyPr wrap="square">
            <a:spAutoFit/>
          </a:bodyPr>
          <a:lstStyle/>
          <a:p>
            <a:pPr>
              <a:defRPr sz="1000" i="0">
                <a:solidFill>
                  <a:srgbClr val="F5F8F9"/>
                </a:solidFill>
                <a:latin typeface="Arial"/>
              </a:defRPr>
            </a:pPr>
            <a:r>
              <a:rPr sz="1400"/>
              <a:t>•  Full journey stage mapping (discover → book → order → visit)</a:t>
            </a:r>
          </a:p>
        </p:txBody>
      </p:sp>
      <p:sp>
        <p:nvSpPr>
          <p:cNvPr id="21" name="TextBox 20"/>
          <p:cNvSpPr txBox="1"/>
          <p:nvPr/>
        </p:nvSpPr>
        <p:spPr>
          <a:xfrm>
            <a:off x="411480" y="6446520"/>
            <a:ext cx="7315200" cy="274320"/>
          </a:xfrm>
          <a:prstGeom prst="rect">
            <a:avLst/>
          </a:prstGeom>
          <a:noFill/>
        </p:spPr>
        <p:txBody>
          <a:bodyPr wrap="none">
            <a:spAutoFit/>
          </a:bodyPr>
          <a:lstStyle/>
          <a:p>
            <a:pPr>
              <a:defRPr sz="700">
                <a:solidFill>
                  <a:srgbClr val="A8C4C8"/>
                </a:solidFill>
                <a:latin typeface="Arial"/>
              </a:defRPr>
            </a:pPr>
            <a:r>
              <a:t>A. MARSHALL HOSPITALITY / PARTNERSHIP PROPOSAL</a:t>
            </a:r>
          </a:p>
        </p:txBody>
      </p:sp>
      <p:sp>
        <p:nvSpPr>
          <p:cNvPr id="22" name="TextBox 21"/>
          <p:cNvSpPr txBox="1"/>
          <p:nvPr/>
        </p:nvSpPr>
        <p:spPr>
          <a:xfrm>
            <a:off x="11155680" y="6446520"/>
            <a:ext cx="731520" cy="274320"/>
          </a:xfrm>
          <a:prstGeom prst="rect">
            <a:avLst/>
          </a:prstGeom>
          <a:noFill/>
        </p:spPr>
        <p:txBody>
          <a:bodyPr wrap="none">
            <a:spAutoFit/>
          </a:bodyPr>
          <a:lstStyle/>
          <a:p>
            <a:pPr algn="r">
              <a:defRPr sz="700">
                <a:solidFill>
                  <a:srgbClr val="A8C4C8"/>
                </a:solidFill>
              </a:defRPr>
            </a:pPr>
            <a:r>
              <a:t>05</a:t>
            </a:r>
          </a:p>
        </p:txBody>
      </p:sp>
      <p:sp>
        <p:nvSpPr>
          <p:cNvPr id="24" name="TextBox 23">
            <a:extLst>
              <a:ext uri="{FF2B5EF4-FFF2-40B4-BE49-F238E27FC236}">
                <a16:creationId xmlns:a16="http://schemas.microsoft.com/office/drawing/2014/main" id="{643D94CB-CE6C-1CAA-F782-98D78555936B}"/>
              </a:ext>
            </a:extLst>
          </p:cNvPr>
          <p:cNvSpPr txBox="1"/>
          <p:nvPr/>
        </p:nvSpPr>
        <p:spPr>
          <a:xfrm>
            <a:off x="411480" y="4182130"/>
            <a:ext cx="6185970" cy="307777"/>
          </a:xfrm>
          <a:prstGeom prst="rect">
            <a:avLst/>
          </a:prstGeom>
          <a:noFill/>
        </p:spPr>
        <p:txBody>
          <a:bodyPr wrap="square">
            <a:spAutoFit/>
          </a:bodyPr>
          <a:lstStyle/>
          <a:p>
            <a:pPr>
              <a:defRPr sz="1000" i="0">
                <a:solidFill>
                  <a:srgbClr val="F5F8F9"/>
                </a:solidFill>
                <a:latin typeface="Arial"/>
              </a:defRPr>
            </a:pPr>
            <a:r>
              <a:rPr lang="en-US" sz="1400" dirty="0"/>
              <a:t>•  Google / Maps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1535D"/>
        </a:solidFill>
        <a:effectLst/>
      </p:bgPr>
    </p:bg>
    <p:spTree>
      <p:nvGrpSpPr>
        <p:cNvPr id="1" name=""/>
        <p:cNvGrpSpPr/>
        <p:nvPr/>
      </p:nvGrpSpPr>
      <p:grpSpPr>
        <a:xfrm>
          <a:off x="0" y="0"/>
          <a:ext cx="0" cy="0"/>
          <a:chOff x="0" y="0"/>
          <a:chExt cx="0" cy="0"/>
        </a:xfrm>
      </p:grpSpPr>
      <p:pic>
        <p:nvPicPr>
          <p:cNvPr id="2" name="Picture 1" descr="slide-06-portfolio.jpg"/>
          <p:cNvPicPr>
            <a:picLocks noChangeAspect="1"/>
          </p:cNvPicPr>
          <p:nvPr/>
        </p:nvPicPr>
        <p:blipFill>
          <a:blip r:embed="rId2"/>
          <a:stretch>
            <a:fillRect/>
          </a:stretch>
        </p:blipFill>
        <p:spPr>
          <a:xfrm>
            <a:off x="0" y="0"/>
            <a:ext cx="12191695" cy="6858000"/>
          </a:xfrm>
          <a:prstGeom prst="rect">
            <a:avLst/>
          </a:prstGeom>
        </p:spPr>
      </p:pic>
      <p:pic>
        <p:nvPicPr>
          <p:cNvPr id="3" name="Picture 2" descr="crosswalk-logo-white.png"/>
          <p:cNvPicPr>
            <a:picLocks noChangeAspect="1"/>
          </p:cNvPicPr>
          <p:nvPr/>
        </p:nvPicPr>
        <p:blipFill>
          <a:blip r:embed="rId3"/>
          <a:stretch>
            <a:fillRect/>
          </a:stretch>
        </p:blipFill>
        <p:spPr>
          <a:xfrm>
            <a:off x="411480" y="320040"/>
            <a:ext cx="1234440" cy="204706"/>
          </a:xfrm>
          <a:prstGeom prst="rect">
            <a:avLst/>
          </a:prstGeom>
        </p:spPr>
      </p:pic>
      <p:sp>
        <p:nvSpPr>
          <p:cNvPr id="4" name="TextBox 3"/>
          <p:cNvSpPr txBox="1"/>
          <p:nvPr/>
        </p:nvSpPr>
        <p:spPr>
          <a:xfrm>
            <a:off x="7121303" y="204706"/>
            <a:ext cx="4572000" cy="320040"/>
          </a:xfrm>
          <a:prstGeom prst="rect">
            <a:avLst/>
          </a:prstGeom>
          <a:noFill/>
        </p:spPr>
        <p:txBody>
          <a:bodyPr wrap="none">
            <a:spAutoFit/>
          </a:bodyPr>
          <a:lstStyle/>
          <a:p>
            <a:pPr algn="r">
              <a:defRPr sz="700" b="1">
                <a:solidFill>
                  <a:srgbClr val="A8C4C8"/>
                </a:solidFill>
                <a:latin typeface="Arial"/>
              </a:defRPr>
            </a:pPr>
            <a:r>
              <a:t>A. MARSHALL HOSPITALITY / PORTFOLIO</a:t>
            </a:r>
          </a:p>
        </p:txBody>
      </p:sp>
      <p:sp>
        <p:nvSpPr>
          <p:cNvPr id="5" name="TextBox 4"/>
          <p:cNvSpPr txBox="1"/>
          <p:nvPr/>
        </p:nvSpPr>
        <p:spPr>
          <a:xfrm>
            <a:off x="411479" y="1240376"/>
            <a:ext cx="5684520" cy="584775"/>
          </a:xfrm>
          <a:prstGeom prst="rect">
            <a:avLst/>
          </a:prstGeom>
          <a:noFill/>
        </p:spPr>
        <p:txBody>
          <a:bodyPr wrap="square">
            <a:spAutoFit/>
          </a:bodyPr>
          <a:lstStyle/>
          <a:p>
            <a:pPr>
              <a:defRPr sz="2800" b="1">
                <a:solidFill>
                  <a:srgbClr val="F5F8F9"/>
                </a:solidFill>
                <a:latin typeface="Georgia"/>
              </a:defRPr>
            </a:pPr>
            <a:r>
              <a:rPr sz="3200" dirty="0"/>
              <a:t>Your Restaurant Portfolio</a:t>
            </a:r>
          </a:p>
        </p:txBody>
      </p:sp>
      <p:sp>
        <p:nvSpPr>
          <p:cNvPr id="6" name="TextBox 5"/>
          <p:cNvSpPr txBox="1"/>
          <p:nvPr/>
        </p:nvSpPr>
        <p:spPr>
          <a:xfrm>
            <a:off x="411479" y="1810118"/>
            <a:ext cx="5493561" cy="276999"/>
          </a:xfrm>
          <a:prstGeom prst="rect">
            <a:avLst/>
          </a:prstGeom>
          <a:noFill/>
        </p:spPr>
        <p:txBody>
          <a:bodyPr wrap="square">
            <a:spAutoFit/>
          </a:bodyPr>
          <a:lstStyle/>
          <a:p>
            <a:pPr>
              <a:defRPr sz="1100" i="1">
                <a:solidFill>
                  <a:srgbClr val="A8C4C8"/>
                </a:solidFill>
                <a:latin typeface="Arial"/>
              </a:defRPr>
            </a:pPr>
            <a:r>
              <a:rPr dirty="0"/>
              <a:t>One partnership covering every </a:t>
            </a:r>
            <a:r>
              <a:rPr sz="1200" dirty="0"/>
              <a:t>location</a:t>
            </a:r>
            <a:r>
              <a:rPr dirty="0"/>
              <a:t> across Puckett's, Deacon'</a:t>
            </a:r>
            <a:r>
              <a:rPr lang="en-US" dirty="0"/>
              <a:t>s</a:t>
            </a:r>
            <a:r>
              <a:rPr dirty="0"/>
              <a:t> and Scout's Pub.</a:t>
            </a:r>
          </a:p>
        </p:txBody>
      </p:sp>
      <p:sp>
        <p:nvSpPr>
          <p:cNvPr id="7" name="TextBox 6"/>
          <p:cNvSpPr txBox="1"/>
          <p:nvPr/>
        </p:nvSpPr>
        <p:spPr>
          <a:xfrm>
            <a:off x="411479" y="2812613"/>
            <a:ext cx="3742819" cy="307777"/>
          </a:xfrm>
          <a:prstGeom prst="rect">
            <a:avLst/>
          </a:prstGeom>
          <a:noFill/>
        </p:spPr>
        <p:txBody>
          <a:bodyPr wrap="none">
            <a:spAutoFit/>
          </a:bodyPr>
          <a:lstStyle/>
          <a:p>
            <a:pPr>
              <a:defRPr sz="700" b="1">
                <a:solidFill>
                  <a:srgbClr val="C026A3"/>
                </a:solidFill>
                <a:latin typeface="Arial"/>
              </a:defRPr>
            </a:pPr>
            <a:r>
              <a:rPr sz="1400" dirty="0"/>
              <a:t>WHAT'S INCLUDED AT EVERY LOCATION</a:t>
            </a:r>
          </a:p>
        </p:txBody>
      </p:sp>
      <p:sp>
        <p:nvSpPr>
          <p:cNvPr id="8" name="TextBox 7"/>
          <p:cNvSpPr txBox="1"/>
          <p:nvPr/>
        </p:nvSpPr>
        <p:spPr>
          <a:xfrm>
            <a:off x="411480" y="3226379"/>
            <a:ext cx="5303520" cy="307777"/>
          </a:xfrm>
          <a:prstGeom prst="rect">
            <a:avLst/>
          </a:prstGeom>
          <a:noFill/>
        </p:spPr>
        <p:txBody>
          <a:bodyPr wrap="square">
            <a:spAutoFit/>
          </a:bodyPr>
          <a:lstStyle/>
          <a:p>
            <a:pPr>
              <a:defRPr sz="1100" i="0">
                <a:solidFill>
                  <a:srgbClr val="F5F8F9"/>
                </a:solidFill>
                <a:latin typeface="Arial"/>
              </a:defRPr>
            </a:pPr>
            <a:r>
              <a:rPr sz="1400" dirty="0"/>
              <a:t>•  Profile IQ </a:t>
            </a:r>
            <a:r>
              <a:rPr lang="en-US" sz="1400" dirty="0"/>
              <a:t>- </a:t>
            </a:r>
            <a:r>
              <a:rPr sz="1400" dirty="0"/>
              <a:t>full demographic and behavioral portrait</a:t>
            </a:r>
          </a:p>
        </p:txBody>
      </p:sp>
      <p:sp>
        <p:nvSpPr>
          <p:cNvPr id="9" name="TextBox 8"/>
          <p:cNvSpPr txBox="1"/>
          <p:nvPr/>
        </p:nvSpPr>
        <p:spPr>
          <a:xfrm>
            <a:off x="411480" y="3573850"/>
            <a:ext cx="5303520" cy="307777"/>
          </a:xfrm>
          <a:prstGeom prst="rect">
            <a:avLst/>
          </a:prstGeom>
          <a:noFill/>
        </p:spPr>
        <p:txBody>
          <a:bodyPr wrap="square">
            <a:spAutoFit/>
          </a:bodyPr>
          <a:lstStyle/>
          <a:p>
            <a:pPr>
              <a:defRPr sz="1100" i="0">
                <a:solidFill>
                  <a:srgbClr val="F5F8F9"/>
                </a:solidFill>
                <a:latin typeface="Arial"/>
              </a:defRPr>
            </a:pPr>
            <a:r>
              <a:rPr sz="1400"/>
              <a:t>•  Competitive benchmarking with your named comp set</a:t>
            </a:r>
          </a:p>
        </p:txBody>
      </p:sp>
      <p:sp>
        <p:nvSpPr>
          <p:cNvPr id="10" name="TextBox 9"/>
          <p:cNvSpPr txBox="1"/>
          <p:nvPr/>
        </p:nvSpPr>
        <p:spPr>
          <a:xfrm>
            <a:off x="411479" y="3921322"/>
            <a:ext cx="6463045" cy="307777"/>
          </a:xfrm>
          <a:prstGeom prst="rect">
            <a:avLst/>
          </a:prstGeom>
          <a:noFill/>
        </p:spPr>
        <p:txBody>
          <a:bodyPr wrap="square">
            <a:spAutoFit/>
          </a:bodyPr>
          <a:lstStyle/>
          <a:p>
            <a:pPr>
              <a:defRPr sz="1100" i="0">
                <a:solidFill>
                  <a:srgbClr val="F5F8F9"/>
                </a:solidFill>
                <a:latin typeface="Arial"/>
              </a:defRPr>
            </a:pPr>
            <a:r>
              <a:rPr sz="1400" dirty="0"/>
              <a:t>•  Digital journey mapping across reservation, delivery and discovery platforms</a:t>
            </a:r>
          </a:p>
        </p:txBody>
      </p:sp>
      <p:sp>
        <p:nvSpPr>
          <p:cNvPr id="11" name="TextBox 10"/>
          <p:cNvSpPr txBox="1"/>
          <p:nvPr/>
        </p:nvSpPr>
        <p:spPr>
          <a:xfrm>
            <a:off x="411480" y="4268795"/>
            <a:ext cx="5303520" cy="307777"/>
          </a:xfrm>
          <a:prstGeom prst="rect">
            <a:avLst/>
          </a:prstGeom>
          <a:noFill/>
        </p:spPr>
        <p:txBody>
          <a:bodyPr wrap="square">
            <a:spAutoFit/>
          </a:bodyPr>
          <a:lstStyle/>
          <a:p>
            <a:pPr>
              <a:defRPr sz="1100" i="0">
                <a:solidFill>
                  <a:srgbClr val="F5F8F9"/>
                </a:solidFill>
                <a:latin typeface="Arial"/>
              </a:defRPr>
            </a:pPr>
            <a:r>
              <a:rPr sz="1400"/>
              <a:t>•  Media conversion analysis tied to each journey</a:t>
            </a:r>
          </a:p>
        </p:txBody>
      </p:sp>
      <p:sp>
        <p:nvSpPr>
          <p:cNvPr id="12" name="TextBox 11"/>
          <p:cNvSpPr txBox="1"/>
          <p:nvPr/>
        </p:nvSpPr>
        <p:spPr>
          <a:xfrm>
            <a:off x="411480" y="4616267"/>
            <a:ext cx="5303520" cy="307777"/>
          </a:xfrm>
          <a:prstGeom prst="rect">
            <a:avLst/>
          </a:prstGeom>
          <a:noFill/>
        </p:spPr>
        <p:txBody>
          <a:bodyPr wrap="square">
            <a:spAutoFit/>
          </a:bodyPr>
          <a:lstStyle/>
          <a:p>
            <a:pPr>
              <a:defRPr sz="1100" i="0">
                <a:solidFill>
                  <a:srgbClr val="F5F8F9"/>
                </a:solidFill>
                <a:latin typeface="Arial"/>
              </a:defRPr>
            </a:pPr>
            <a:r>
              <a:rPr sz="1400"/>
              <a:t>•  Crosswalk dashboard access and deck-ready exports</a:t>
            </a:r>
          </a:p>
        </p:txBody>
      </p:sp>
      <p:sp>
        <p:nvSpPr>
          <p:cNvPr id="13" name="TextBox 12"/>
          <p:cNvSpPr txBox="1"/>
          <p:nvPr/>
        </p:nvSpPr>
        <p:spPr>
          <a:xfrm>
            <a:off x="411480" y="6446520"/>
            <a:ext cx="7315200" cy="274320"/>
          </a:xfrm>
          <a:prstGeom prst="rect">
            <a:avLst/>
          </a:prstGeom>
          <a:noFill/>
        </p:spPr>
        <p:txBody>
          <a:bodyPr wrap="none">
            <a:spAutoFit/>
          </a:bodyPr>
          <a:lstStyle/>
          <a:p>
            <a:pPr>
              <a:defRPr sz="700">
                <a:solidFill>
                  <a:srgbClr val="A8C4C8"/>
                </a:solidFill>
                <a:latin typeface="Arial"/>
              </a:defRPr>
            </a:pPr>
            <a:r>
              <a:t>A. MARSHALL HOSPITALITY / PARTNERSHIP PROPOSAL</a:t>
            </a:r>
          </a:p>
        </p:txBody>
      </p:sp>
      <p:sp>
        <p:nvSpPr>
          <p:cNvPr id="14" name="TextBox 13"/>
          <p:cNvSpPr txBox="1"/>
          <p:nvPr/>
        </p:nvSpPr>
        <p:spPr>
          <a:xfrm>
            <a:off x="11155680" y="6446520"/>
            <a:ext cx="731520" cy="274320"/>
          </a:xfrm>
          <a:prstGeom prst="rect">
            <a:avLst/>
          </a:prstGeom>
          <a:noFill/>
        </p:spPr>
        <p:txBody>
          <a:bodyPr wrap="none">
            <a:spAutoFit/>
          </a:bodyPr>
          <a:lstStyle/>
          <a:p>
            <a:pPr algn="r">
              <a:defRPr sz="700">
                <a:solidFill>
                  <a:srgbClr val="A8C4C8"/>
                </a:solidFill>
              </a:defRPr>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1535D"/>
        </a:solidFill>
        <a:effectLst/>
      </p:bgPr>
    </p:bg>
    <p:spTree>
      <p:nvGrpSpPr>
        <p:cNvPr id="1" name=""/>
        <p:cNvGrpSpPr/>
        <p:nvPr/>
      </p:nvGrpSpPr>
      <p:grpSpPr>
        <a:xfrm>
          <a:off x="0" y="0"/>
          <a:ext cx="0" cy="0"/>
          <a:chOff x="0" y="0"/>
          <a:chExt cx="0" cy="0"/>
        </a:xfrm>
      </p:grpSpPr>
      <p:pic>
        <p:nvPicPr>
          <p:cNvPr id="2" name="Picture 1" descr="slide-07-investment.jpg"/>
          <p:cNvPicPr>
            <a:picLocks noChangeAspect="1"/>
          </p:cNvPicPr>
          <p:nvPr/>
        </p:nvPicPr>
        <p:blipFill>
          <a:blip r:embed="rId2"/>
          <a:stretch>
            <a:fillRect/>
          </a:stretch>
        </p:blipFill>
        <p:spPr>
          <a:xfrm>
            <a:off x="1954546" y="516336"/>
            <a:ext cx="10355548" cy="5825141"/>
          </a:xfrm>
          <a:prstGeom prst="rect">
            <a:avLst/>
          </a:prstGeom>
        </p:spPr>
      </p:pic>
      <p:pic>
        <p:nvPicPr>
          <p:cNvPr id="3" name="Picture 2" descr="crosswalk-logo-white.png"/>
          <p:cNvPicPr>
            <a:picLocks noChangeAspect="1"/>
          </p:cNvPicPr>
          <p:nvPr/>
        </p:nvPicPr>
        <p:blipFill>
          <a:blip r:embed="rId3"/>
          <a:stretch>
            <a:fillRect/>
          </a:stretch>
        </p:blipFill>
        <p:spPr>
          <a:xfrm>
            <a:off x="411480" y="320040"/>
            <a:ext cx="1234440" cy="204706"/>
          </a:xfrm>
          <a:prstGeom prst="rect">
            <a:avLst/>
          </a:prstGeom>
        </p:spPr>
      </p:pic>
      <p:sp>
        <p:nvSpPr>
          <p:cNvPr id="4" name="TextBox 3"/>
          <p:cNvSpPr txBox="1"/>
          <p:nvPr/>
        </p:nvSpPr>
        <p:spPr>
          <a:xfrm>
            <a:off x="7132320" y="365760"/>
            <a:ext cx="4572000" cy="320040"/>
          </a:xfrm>
          <a:prstGeom prst="rect">
            <a:avLst/>
          </a:prstGeom>
          <a:noFill/>
        </p:spPr>
        <p:txBody>
          <a:bodyPr wrap="none">
            <a:spAutoFit/>
          </a:bodyPr>
          <a:lstStyle/>
          <a:p>
            <a:pPr algn="r">
              <a:defRPr sz="700" b="1">
                <a:solidFill>
                  <a:srgbClr val="A8C4C8"/>
                </a:solidFill>
                <a:latin typeface="Arial"/>
              </a:defRPr>
            </a:pPr>
            <a:r>
              <a:t>A. MARSHALL HOSPITALITY / INVESTMENT</a:t>
            </a:r>
          </a:p>
        </p:txBody>
      </p:sp>
      <p:sp>
        <p:nvSpPr>
          <p:cNvPr id="5" name="TextBox 4"/>
          <p:cNvSpPr txBox="1"/>
          <p:nvPr/>
        </p:nvSpPr>
        <p:spPr>
          <a:xfrm>
            <a:off x="411480" y="753824"/>
            <a:ext cx="9144000" cy="584775"/>
          </a:xfrm>
          <a:prstGeom prst="rect">
            <a:avLst/>
          </a:prstGeom>
          <a:noFill/>
        </p:spPr>
        <p:txBody>
          <a:bodyPr wrap="square">
            <a:spAutoFit/>
          </a:bodyPr>
          <a:lstStyle/>
          <a:p>
            <a:pPr>
              <a:defRPr sz="2800" b="1">
                <a:solidFill>
                  <a:srgbClr val="F5F8F9"/>
                </a:solidFill>
                <a:latin typeface="Georgia"/>
              </a:defRPr>
            </a:pPr>
            <a:r>
              <a:rPr sz="3200" dirty="0"/>
              <a:t>Investment Options</a:t>
            </a:r>
          </a:p>
        </p:txBody>
      </p:sp>
      <p:sp>
        <p:nvSpPr>
          <p:cNvPr id="6" name="TextBox 5"/>
          <p:cNvSpPr txBox="1"/>
          <p:nvPr/>
        </p:nvSpPr>
        <p:spPr>
          <a:xfrm>
            <a:off x="411480" y="1308830"/>
            <a:ext cx="5943600" cy="461665"/>
          </a:xfrm>
          <a:prstGeom prst="rect">
            <a:avLst/>
          </a:prstGeom>
          <a:noFill/>
        </p:spPr>
        <p:txBody>
          <a:bodyPr wrap="square">
            <a:spAutoFit/>
          </a:bodyPr>
          <a:lstStyle/>
          <a:p>
            <a:pPr>
              <a:defRPr sz="1100" i="1">
                <a:solidFill>
                  <a:srgbClr val="A8C4C8"/>
                </a:solidFill>
                <a:latin typeface="Arial"/>
              </a:defRPr>
            </a:pPr>
            <a:r>
              <a:rPr sz="1200" dirty="0"/>
              <a:t>Twelve-month contract · All tiers include full Profile IQ, competitive uploads, digital journeys and media conversion per location.</a:t>
            </a:r>
          </a:p>
        </p:txBody>
      </p:sp>
      <p:sp>
        <p:nvSpPr>
          <p:cNvPr id="7" name="TextBox 6"/>
          <p:cNvSpPr txBox="1"/>
          <p:nvPr/>
        </p:nvSpPr>
        <p:spPr>
          <a:xfrm>
            <a:off x="565810" y="2068006"/>
            <a:ext cx="5684520" cy="646331"/>
          </a:xfrm>
          <a:prstGeom prst="rect">
            <a:avLst/>
          </a:prstGeom>
          <a:noFill/>
        </p:spPr>
        <p:txBody>
          <a:bodyPr wrap="square">
            <a:spAutoFit/>
          </a:bodyPr>
          <a:lstStyle/>
          <a:p>
            <a:pPr>
              <a:defRPr sz="1100" i="1">
                <a:solidFill>
                  <a:srgbClr val="F5F8F9"/>
                </a:solidFill>
                <a:latin typeface="Arial"/>
              </a:defRPr>
            </a:pPr>
            <a:r>
              <a:rPr sz="1200" dirty="0"/>
              <a:t>Panel participation lowers your cash investment while enriching the behavioral dataset that powers sharper profiles. The more locations participate, the better the intelligence and the lower your cost.</a:t>
            </a:r>
          </a:p>
        </p:txBody>
      </p:sp>
      <p:sp>
        <p:nvSpPr>
          <p:cNvPr id="8" name="TextBox 7"/>
          <p:cNvSpPr txBox="1"/>
          <p:nvPr/>
        </p:nvSpPr>
        <p:spPr>
          <a:xfrm>
            <a:off x="411480" y="3063240"/>
            <a:ext cx="2214837" cy="307777"/>
          </a:xfrm>
          <a:prstGeom prst="rect">
            <a:avLst/>
          </a:prstGeom>
          <a:noFill/>
        </p:spPr>
        <p:txBody>
          <a:bodyPr wrap="none">
            <a:spAutoFit/>
          </a:bodyPr>
          <a:lstStyle/>
          <a:p>
            <a:pPr>
              <a:defRPr sz="800" b="1">
                <a:solidFill>
                  <a:srgbClr val="A8C4C8"/>
                </a:solidFill>
                <a:latin typeface="Arial"/>
              </a:defRPr>
            </a:pPr>
            <a:r>
              <a:rPr sz="1400" dirty="0"/>
              <a:t>OPTION A — ALL CASH</a:t>
            </a:r>
          </a:p>
        </p:txBody>
      </p:sp>
      <p:sp>
        <p:nvSpPr>
          <p:cNvPr id="9" name="TextBox 8"/>
          <p:cNvSpPr txBox="1"/>
          <p:nvPr/>
        </p:nvSpPr>
        <p:spPr>
          <a:xfrm>
            <a:off x="411480" y="3330510"/>
            <a:ext cx="5943600" cy="292388"/>
          </a:xfrm>
          <a:prstGeom prst="rect">
            <a:avLst/>
          </a:prstGeom>
          <a:noFill/>
        </p:spPr>
        <p:txBody>
          <a:bodyPr wrap="square">
            <a:spAutoFit/>
          </a:bodyPr>
          <a:lstStyle/>
          <a:p>
            <a:pPr>
              <a:defRPr sz="1000" i="0">
                <a:solidFill>
                  <a:srgbClr val="F5F8F9"/>
                </a:solidFill>
                <a:latin typeface="Arial"/>
              </a:defRPr>
            </a:pPr>
            <a:r>
              <a:rPr sz="1300"/>
              <a:t>Full service, no panel obligations.</a:t>
            </a:r>
          </a:p>
        </p:txBody>
      </p:sp>
      <p:sp>
        <p:nvSpPr>
          <p:cNvPr id="10" name="TextBox 9"/>
          <p:cNvSpPr txBox="1"/>
          <p:nvPr/>
        </p:nvSpPr>
        <p:spPr>
          <a:xfrm>
            <a:off x="3746262" y="2987537"/>
            <a:ext cx="2743200" cy="457200"/>
          </a:xfrm>
          <a:prstGeom prst="rect">
            <a:avLst/>
          </a:prstGeom>
          <a:noFill/>
        </p:spPr>
        <p:txBody>
          <a:bodyPr wrap="none">
            <a:spAutoFit/>
          </a:bodyPr>
          <a:lstStyle/>
          <a:p>
            <a:pPr algn="r">
              <a:defRPr sz="2200" b="1">
                <a:solidFill>
                  <a:srgbClr val="F5F8F9"/>
                </a:solidFill>
                <a:latin typeface="Georgia"/>
              </a:defRPr>
            </a:pPr>
            <a:r>
              <a:t>$10,000/mo</a:t>
            </a:r>
          </a:p>
        </p:txBody>
      </p:sp>
      <p:sp>
        <p:nvSpPr>
          <p:cNvPr id="11" name="TextBox 10"/>
          <p:cNvSpPr txBox="1"/>
          <p:nvPr/>
        </p:nvSpPr>
        <p:spPr>
          <a:xfrm>
            <a:off x="411480" y="3840480"/>
            <a:ext cx="2931636" cy="307777"/>
          </a:xfrm>
          <a:prstGeom prst="rect">
            <a:avLst/>
          </a:prstGeom>
          <a:noFill/>
        </p:spPr>
        <p:txBody>
          <a:bodyPr wrap="none">
            <a:spAutoFit/>
          </a:bodyPr>
          <a:lstStyle/>
          <a:p>
            <a:pPr>
              <a:defRPr sz="800" b="1">
                <a:solidFill>
                  <a:srgbClr val="A8C4C8"/>
                </a:solidFill>
                <a:latin typeface="Arial"/>
              </a:defRPr>
            </a:pPr>
            <a:r>
              <a:rPr sz="1400" dirty="0"/>
              <a:t>OPTION B — PANEL INCENTIVE</a:t>
            </a:r>
          </a:p>
        </p:txBody>
      </p:sp>
      <p:sp>
        <p:nvSpPr>
          <p:cNvPr id="12" name="TextBox 11"/>
          <p:cNvSpPr txBox="1"/>
          <p:nvPr/>
        </p:nvSpPr>
        <p:spPr>
          <a:xfrm>
            <a:off x="411480" y="4107750"/>
            <a:ext cx="5943600" cy="292388"/>
          </a:xfrm>
          <a:prstGeom prst="rect">
            <a:avLst/>
          </a:prstGeom>
          <a:noFill/>
        </p:spPr>
        <p:txBody>
          <a:bodyPr wrap="square">
            <a:spAutoFit/>
          </a:bodyPr>
          <a:lstStyle/>
          <a:p>
            <a:pPr>
              <a:defRPr sz="1000" i="0">
                <a:solidFill>
                  <a:srgbClr val="F5F8F9"/>
                </a:solidFill>
                <a:latin typeface="Arial"/>
              </a:defRPr>
            </a:pPr>
            <a:r>
              <a:rPr sz="1300"/>
              <a:t>One panel ingestion incentive per location per month.</a:t>
            </a:r>
          </a:p>
        </p:txBody>
      </p:sp>
      <p:sp>
        <p:nvSpPr>
          <p:cNvPr id="13" name="TextBox 12"/>
          <p:cNvSpPr txBox="1"/>
          <p:nvPr/>
        </p:nvSpPr>
        <p:spPr>
          <a:xfrm>
            <a:off x="3746262" y="3764777"/>
            <a:ext cx="2743200" cy="457200"/>
          </a:xfrm>
          <a:prstGeom prst="rect">
            <a:avLst/>
          </a:prstGeom>
          <a:noFill/>
        </p:spPr>
        <p:txBody>
          <a:bodyPr wrap="none">
            <a:spAutoFit/>
          </a:bodyPr>
          <a:lstStyle/>
          <a:p>
            <a:pPr algn="r">
              <a:defRPr sz="2200" b="1">
                <a:solidFill>
                  <a:srgbClr val="F5F8F9"/>
                </a:solidFill>
                <a:latin typeface="Georgia"/>
              </a:defRPr>
            </a:pPr>
            <a:r>
              <a:t>$5,000/mo</a:t>
            </a:r>
          </a:p>
        </p:txBody>
      </p:sp>
      <p:sp>
        <p:nvSpPr>
          <p:cNvPr id="14" name="TextBox 13"/>
          <p:cNvSpPr txBox="1"/>
          <p:nvPr/>
        </p:nvSpPr>
        <p:spPr>
          <a:xfrm>
            <a:off x="411480" y="4617720"/>
            <a:ext cx="3751796" cy="307777"/>
          </a:xfrm>
          <a:prstGeom prst="rect">
            <a:avLst/>
          </a:prstGeom>
          <a:noFill/>
        </p:spPr>
        <p:txBody>
          <a:bodyPr wrap="none">
            <a:spAutoFit/>
          </a:bodyPr>
          <a:lstStyle/>
          <a:p>
            <a:pPr>
              <a:defRPr sz="800" b="1">
                <a:solidFill>
                  <a:srgbClr val="C026A3"/>
                </a:solidFill>
                <a:latin typeface="Arial"/>
              </a:defRPr>
            </a:pPr>
            <a:r>
              <a:rPr sz="1400" dirty="0">
                <a:solidFill>
                  <a:srgbClr val="A8C4C8"/>
                </a:solidFill>
              </a:rPr>
              <a:t>OPTION C — FULL PANEL PARTNERSHIP</a:t>
            </a:r>
          </a:p>
        </p:txBody>
      </p:sp>
      <p:sp>
        <p:nvSpPr>
          <p:cNvPr id="15" name="TextBox 14"/>
          <p:cNvSpPr txBox="1"/>
          <p:nvPr/>
        </p:nvSpPr>
        <p:spPr>
          <a:xfrm>
            <a:off x="411480" y="4884990"/>
            <a:ext cx="5943600" cy="292388"/>
          </a:xfrm>
          <a:prstGeom prst="rect">
            <a:avLst/>
          </a:prstGeom>
          <a:noFill/>
        </p:spPr>
        <p:txBody>
          <a:bodyPr wrap="square">
            <a:spAutoFit/>
          </a:bodyPr>
          <a:lstStyle/>
          <a:p>
            <a:pPr>
              <a:defRPr sz="1000" i="0">
                <a:solidFill>
                  <a:srgbClr val="F5F8F9"/>
                </a:solidFill>
                <a:latin typeface="Arial"/>
              </a:defRPr>
            </a:pPr>
            <a:r>
              <a:rPr sz="1300"/>
              <a:t>Weekly incentives per location per month.</a:t>
            </a:r>
          </a:p>
        </p:txBody>
      </p:sp>
      <p:sp>
        <p:nvSpPr>
          <p:cNvPr id="16" name="TextBox 15"/>
          <p:cNvSpPr txBox="1"/>
          <p:nvPr/>
        </p:nvSpPr>
        <p:spPr>
          <a:xfrm>
            <a:off x="4781943" y="4542017"/>
            <a:ext cx="1707519" cy="430887"/>
          </a:xfrm>
          <a:prstGeom prst="rect">
            <a:avLst/>
          </a:prstGeom>
          <a:noFill/>
        </p:spPr>
        <p:txBody>
          <a:bodyPr wrap="none">
            <a:spAutoFit/>
          </a:bodyPr>
          <a:lstStyle/>
          <a:p>
            <a:pPr algn="r">
              <a:defRPr sz="2200" b="1">
                <a:solidFill>
                  <a:srgbClr val="C026A3"/>
                </a:solidFill>
                <a:latin typeface="Georgia"/>
              </a:defRPr>
            </a:pPr>
            <a:r>
              <a:rPr dirty="0">
                <a:solidFill>
                  <a:schemeClr val="bg1"/>
                </a:solidFill>
              </a:rPr>
              <a:t>No Charge</a:t>
            </a:r>
          </a:p>
        </p:txBody>
      </p:sp>
      <p:sp>
        <p:nvSpPr>
          <p:cNvPr id="17" name="TextBox 16"/>
          <p:cNvSpPr txBox="1"/>
          <p:nvPr/>
        </p:nvSpPr>
        <p:spPr>
          <a:xfrm>
            <a:off x="411480" y="5806440"/>
            <a:ext cx="10972800" cy="338554"/>
          </a:xfrm>
          <a:prstGeom prst="rect">
            <a:avLst/>
          </a:prstGeom>
          <a:noFill/>
        </p:spPr>
        <p:txBody>
          <a:bodyPr wrap="square">
            <a:spAutoFit/>
          </a:bodyPr>
          <a:lstStyle/>
          <a:p>
            <a:pPr>
              <a:defRPr sz="900" i="1">
                <a:solidFill>
                  <a:srgbClr val="A8C4C8"/>
                </a:solidFill>
                <a:latin typeface="Arial"/>
              </a:defRPr>
            </a:pPr>
            <a:r>
              <a:rPr sz="1600" dirty="0"/>
              <a:t>All options: 12-month initial term</a:t>
            </a:r>
          </a:p>
        </p:txBody>
      </p:sp>
      <p:sp>
        <p:nvSpPr>
          <p:cNvPr id="18" name="TextBox 17"/>
          <p:cNvSpPr txBox="1"/>
          <p:nvPr/>
        </p:nvSpPr>
        <p:spPr>
          <a:xfrm>
            <a:off x="411480" y="6537960"/>
            <a:ext cx="7315200" cy="274320"/>
          </a:xfrm>
          <a:prstGeom prst="rect">
            <a:avLst/>
          </a:prstGeom>
          <a:noFill/>
        </p:spPr>
        <p:txBody>
          <a:bodyPr wrap="none">
            <a:spAutoFit/>
          </a:bodyPr>
          <a:lstStyle/>
          <a:p>
            <a:pPr>
              <a:defRPr sz="700">
                <a:solidFill>
                  <a:srgbClr val="A8C4C8"/>
                </a:solidFill>
                <a:latin typeface="Arial"/>
              </a:defRPr>
            </a:pPr>
            <a:r>
              <a:rPr dirty="0"/>
              <a:t>A. MARSHALL HOSPITALITY / PARTNERSHIP PROPOSAL</a:t>
            </a:r>
          </a:p>
        </p:txBody>
      </p:sp>
      <p:sp>
        <p:nvSpPr>
          <p:cNvPr id="19" name="TextBox 18"/>
          <p:cNvSpPr txBox="1"/>
          <p:nvPr/>
        </p:nvSpPr>
        <p:spPr>
          <a:xfrm>
            <a:off x="10972800" y="6469006"/>
            <a:ext cx="731520" cy="200055"/>
          </a:xfrm>
          <a:prstGeom prst="rect">
            <a:avLst/>
          </a:prstGeom>
          <a:noFill/>
        </p:spPr>
        <p:txBody>
          <a:bodyPr wrap="square">
            <a:spAutoFit/>
          </a:bodyPr>
          <a:lstStyle/>
          <a:p>
            <a:pPr algn="r">
              <a:defRPr sz="700">
                <a:solidFill>
                  <a:srgbClr val="A8C4C8"/>
                </a:solidFill>
              </a:defRPr>
            </a:pPr>
            <a:r>
              <a:rPr dirty="0"/>
              <a:t>07</a:t>
            </a:r>
          </a:p>
        </p:txBody>
      </p:sp>
      <p:sp>
        <p:nvSpPr>
          <p:cNvPr id="20" name="Rectangle 19">
            <a:extLst>
              <a:ext uri="{FF2B5EF4-FFF2-40B4-BE49-F238E27FC236}">
                <a16:creationId xmlns:a16="http://schemas.microsoft.com/office/drawing/2014/main" id="{AACDD3BE-250A-9290-2121-6F596891A23E}"/>
              </a:ext>
            </a:extLst>
          </p:cNvPr>
          <p:cNvSpPr/>
          <p:nvPr/>
        </p:nvSpPr>
        <p:spPr>
          <a:xfrm flipH="1">
            <a:off x="487695" y="2047293"/>
            <a:ext cx="45719" cy="718436"/>
          </a:xfrm>
          <a:prstGeom prst="rect">
            <a:avLst/>
          </a:prstGeom>
          <a:solidFill>
            <a:srgbClr val="C02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535D"/>
        </a:solidFill>
        <a:effectLst/>
      </p:bgPr>
    </p:bg>
    <p:spTree>
      <p:nvGrpSpPr>
        <p:cNvPr id="1" name=""/>
        <p:cNvGrpSpPr/>
        <p:nvPr/>
      </p:nvGrpSpPr>
      <p:grpSpPr>
        <a:xfrm>
          <a:off x="0" y="0"/>
          <a:ext cx="0" cy="0"/>
          <a:chOff x="0" y="0"/>
          <a:chExt cx="0" cy="0"/>
        </a:xfrm>
      </p:grpSpPr>
      <p:pic>
        <p:nvPicPr>
          <p:cNvPr id="2" name="Picture 1" descr="crosswalk-logo-white.png"/>
          <p:cNvPicPr>
            <a:picLocks noChangeAspect="1"/>
          </p:cNvPicPr>
          <p:nvPr/>
        </p:nvPicPr>
        <p:blipFill>
          <a:blip r:embed="rId2"/>
          <a:stretch>
            <a:fillRect/>
          </a:stretch>
        </p:blipFill>
        <p:spPr>
          <a:xfrm>
            <a:off x="411480" y="320040"/>
            <a:ext cx="1234440" cy="204706"/>
          </a:xfrm>
          <a:prstGeom prst="rect">
            <a:avLst/>
          </a:prstGeom>
        </p:spPr>
      </p:pic>
      <p:sp>
        <p:nvSpPr>
          <p:cNvPr id="3" name="TextBox 2"/>
          <p:cNvSpPr txBox="1"/>
          <p:nvPr/>
        </p:nvSpPr>
        <p:spPr>
          <a:xfrm>
            <a:off x="6858000" y="365760"/>
            <a:ext cx="4846320" cy="320040"/>
          </a:xfrm>
          <a:prstGeom prst="rect">
            <a:avLst/>
          </a:prstGeom>
          <a:noFill/>
        </p:spPr>
        <p:txBody>
          <a:bodyPr wrap="none">
            <a:spAutoFit/>
          </a:bodyPr>
          <a:lstStyle/>
          <a:p>
            <a:pPr algn="r">
              <a:defRPr sz="700" b="1">
                <a:solidFill>
                  <a:srgbClr val="A8C4C8"/>
                </a:solidFill>
                <a:latin typeface="Arial"/>
              </a:defRPr>
            </a:pPr>
            <a:r>
              <a:t>A. MARSHALL HOSPITALITY / NEXT STEPS</a:t>
            </a:r>
          </a:p>
        </p:txBody>
      </p:sp>
      <p:sp>
        <p:nvSpPr>
          <p:cNvPr id="4" name="TextBox 3"/>
          <p:cNvSpPr txBox="1"/>
          <p:nvPr/>
        </p:nvSpPr>
        <p:spPr>
          <a:xfrm>
            <a:off x="411480" y="1097280"/>
            <a:ext cx="7315200" cy="1097280"/>
          </a:xfrm>
          <a:prstGeom prst="rect">
            <a:avLst/>
          </a:prstGeom>
          <a:noFill/>
        </p:spPr>
        <p:txBody>
          <a:bodyPr wrap="square">
            <a:spAutoFit/>
          </a:bodyPr>
          <a:lstStyle/>
          <a:p>
            <a:pPr>
              <a:defRPr sz="3600" b="1">
                <a:solidFill>
                  <a:srgbClr val="F5F8F9"/>
                </a:solidFill>
                <a:latin typeface="Georgia"/>
              </a:defRPr>
            </a:pPr>
            <a:r>
              <a:rPr dirty="0"/>
              <a:t>Let's get started.</a:t>
            </a:r>
          </a:p>
        </p:txBody>
      </p:sp>
      <p:sp>
        <p:nvSpPr>
          <p:cNvPr id="5" name="TextBox 4"/>
          <p:cNvSpPr txBox="1"/>
          <p:nvPr/>
        </p:nvSpPr>
        <p:spPr>
          <a:xfrm>
            <a:off x="411480" y="1920240"/>
            <a:ext cx="5943600" cy="523220"/>
          </a:xfrm>
          <a:prstGeom prst="rect">
            <a:avLst/>
          </a:prstGeom>
          <a:noFill/>
        </p:spPr>
        <p:txBody>
          <a:bodyPr wrap="square">
            <a:spAutoFit/>
          </a:bodyPr>
          <a:lstStyle/>
          <a:p>
            <a:pPr>
              <a:defRPr sz="1100" i="0">
                <a:solidFill>
                  <a:srgbClr val="F5F8F9"/>
                </a:solidFill>
                <a:latin typeface="Arial"/>
              </a:defRPr>
            </a:pPr>
            <a:r>
              <a:rPr sz="1400" dirty="0"/>
              <a:t>We're ready to scope locations, load your competitive sets and stand up your first Profile IQ dashboards within weeks of contract execution.</a:t>
            </a:r>
          </a:p>
        </p:txBody>
      </p:sp>
      <p:sp>
        <p:nvSpPr>
          <p:cNvPr id="6" name="TextBox 5"/>
          <p:cNvSpPr txBox="1"/>
          <p:nvPr/>
        </p:nvSpPr>
        <p:spPr>
          <a:xfrm>
            <a:off x="411480" y="2834640"/>
            <a:ext cx="5943600" cy="307777"/>
          </a:xfrm>
          <a:prstGeom prst="rect">
            <a:avLst/>
          </a:prstGeom>
          <a:noFill/>
        </p:spPr>
        <p:txBody>
          <a:bodyPr wrap="square">
            <a:spAutoFit/>
          </a:bodyPr>
          <a:lstStyle/>
          <a:p>
            <a:pPr>
              <a:defRPr sz="1100" i="0">
                <a:solidFill>
                  <a:srgbClr val="F5F8F9"/>
                </a:solidFill>
                <a:latin typeface="Arial"/>
              </a:defRPr>
            </a:pPr>
            <a:r>
              <a:rPr sz="1400"/>
              <a:t>•  Confirm location list across your portfolio</a:t>
            </a:r>
          </a:p>
        </p:txBody>
      </p:sp>
      <p:sp>
        <p:nvSpPr>
          <p:cNvPr id="7" name="TextBox 6"/>
          <p:cNvSpPr txBox="1"/>
          <p:nvPr/>
        </p:nvSpPr>
        <p:spPr>
          <a:xfrm>
            <a:off x="411480" y="3182112"/>
            <a:ext cx="5943600" cy="307777"/>
          </a:xfrm>
          <a:prstGeom prst="rect">
            <a:avLst/>
          </a:prstGeom>
          <a:noFill/>
        </p:spPr>
        <p:txBody>
          <a:bodyPr wrap="square">
            <a:spAutoFit/>
          </a:bodyPr>
          <a:lstStyle/>
          <a:p>
            <a:pPr>
              <a:defRPr sz="1100" i="0">
                <a:solidFill>
                  <a:srgbClr val="F5F8F9"/>
                </a:solidFill>
                <a:latin typeface="Arial"/>
              </a:defRPr>
            </a:pPr>
            <a:r>
              <a:rPr sz="1400"/>
              <a:t>•  Select investment tier and panel cadence</a:t>
            </a:r>
          </a:p>
        </p:txBody>
      </p:sp>
      <p:sp>
        <p:nvSpPr>
          <p:cNvPr id="8" name="TextBox 7"/>
          <p:cNvSpPr txBox="1"/>
          <p:nvPr/>
        </p:nvSpPr>
        <p:spPr>
          <a:xfrm>
            <a:off x="411480" y="3529584"/>
            <a:ext cx="5943600" cy="307777"/>
          </a:xfrm>
          <a:prstGeom prst="rect">
            <a:avLst/>
          </a:prstGeom>
          <a:noFill/>
        </p:spPr>
        <p:txBody>
          <a:bodyPr wrap="square">
            <a:spAutoFit/>
          </a:bodyPr>
          <a:lstStyle/>
          <a:p>
            <a:pPr>
              <a:defRPr sz="1100" i="0">
                <a:solidFill>
                  <a:srgbClr val="F5F8F9"/>
                </a:solidFill>
                <a:latin typeface="Arial"/>
              </a:defRPr>
            </a:pPr>
            <a:r>
              <a:rPr sz="1400"/>
              <a:t>•  Kickoff: competitor uploads and journey mapping</a:t>
            </a:r>
          </a:p>
        </p:txBody>
      </p:sp>
      <p:sp>
        <p:nvSpPr>
          <p:cNvPr id="9" name="TextBox 8"/>
          <p:cNvSpPr txBox="1"/>
          <p:nvPr/>
        </p:nvSpPr>
        <p:spPr>
          <a:xfrm>
            <a:off x="411480" y="3877056"/>
            <a:ext cx="5943600" cy="307777"/>
          </a:xfrm>
          <a:prstGeom prst="rect">
            <a:avLst/>
          </a:prstGeom>
          <a:noFill/>
        </p:spPr>
        <p:txBody>
          <a:bodyPr wrap="square">
            <a:spAutoFit/>
          </a:bodyPr>
          <a:lstStyle/>
          <a:p>
            <a:pPr>
              <a:defRPr sz="1100" i="0">
                <a:solidFill>
                  <a:srgbClr val="F5F8F9"/>
                </a:solidFill>
                <a:latin typeface="Arial"/>
              </a:defRPr>
            </a:pPr>
            <a:r>
              <a:rPr sz="1400"/>
              <a:t>•  First location profiles delivered to dashboard</a:t>
            </a:r>
          </a:p>
        </p:txBody>
      </p:sp>
      <p:sp>
        <p:nvSpPr>
          <p:cNvPr id="10" name="TextBox 9"/>
          <p:cNvSpPr txBox="1"/>
          <p:nvPr/>
        </p:nvSpPr>
        <p:spPr>
          <a:xfrm>
            <a:off x="8506265" y="5029200"/>
            <a:ext cx="3198055" cy="307777"/>
          </a:xfrm>
          <a:prstGeom prst="rect">
            <a:avLst/>
          </a:prstGeom>
          <a:noFill/>
        </p:spPr>
        <p:txBody>
          <a:bodyPr wrap="none">
            <a:spAutoFit/>
          </a:bodyPr>
          <a:lstStyle/>
          <a:p>
            <a:pPr algn="r">
              <a:defRPr sz="700" b="1">
                <a:solidFill>
                  <a:srgbClr val="A8C4C8"/>
                </a:solidFill>
                <a:latin typeface="Arial"/>
              </a:defRPr>
            </a:pPr>
            <a:r>
              <a:rPr sz="1400" dirty="0">
                <a:solidFill>
                  <a:srgbClr val="C126A3"/>
                </a:solidFill>
              </a:rPr>
              <a:t>CROSSWALK TECHNOLOGIES INC</a:t>
            </a:r>
          </a:p>
        </p:txBody>
      </p:sp>
      <p:sp>
        <p:nvSpPr>
          <p:cNvPr id="11" name="TextBox 10"/>
          <p:cNvSpPr txBox="1"/>
          <p:nvPr/>
        </p:nvSpPr>
        <p:spPr>
          <a:xfrm>
            <a:off x="9645808" y="5349240"/>
            <a:ext cx="2058512" cy="307777"/>
          </a:xfrm>
          <a:prstGeom prst="rect">
            <a:avLst/>
          </a:prstGeom>
          <a:noFill/>
        </p:spPr>
        <p:txBody>
          <a:bodyPr wrap="none">
            <a:spAutoFit/>
          </a:bodyPr>
          <a:lstStyle/>
          <a:p>
            <a:pPr algn="r">
              <a:defRPr sz="1200">
                <a:solidFill>
                  <a:srgbClr val="F5F8F9"/>
                </a:solidFill>
              </a:defRPr>
            </a:pPr>
            <a:r>
              <a:rPr sz="1400" dirty="0" err="1"/>
              <a:t>jessie@crosswalknyc.com</a:t>
            </a:r>
            <a:endParaRPr sz="1400" dirty="0"/>
          </a:p>
        </p:txBody>
      </p:sp>
      <p:sp>
        <p:nvSpPr>
          <p:cNvPr id="12" name="TextBox 11"/>
          <p:cNvSpPr txBox="1"/>
          <p:nvPr/>
        </p:nvSpPr>
        <p:spPr>
          <a:xfrm>
            <a:off x="411480" y="6446520"/>
            <a:ext cx="7315200" cy="274320"/>
          </a:xfrm>
          <a:prstGeom prst="rect">
            <a:avLst/>
          </a:prstGeom>
          <a:noFill/>
        </p:spPr>
        <p:txBody>
          <a:bodyPr wrap="none">
            <a:spAutoFit/>
          </a:bodyPr>
          <a:lstStyle/>
          <a:p>
            <a:pPr>
              <a:defRPr sz="700">
                <a:solidFill>
                  <a:srgbClr val="A8C4C8"/>
                </a:solidFill>
                <a:latin typeface="Arial"/>
              </a:defRPr>
            </a:pPr>
            <a:r>
              <a:t>A. MARSHALL HOSPITALITY / PARTNERSHIP PROPOSAL</a:t>
            </a:r>
          </a:p>
        </p:txBody>
      </p:sp>
      <p:sp>
        <p:nvSpPr>
          <p:cNvPr id="13" name="TextBox 12"/>
          <p:cNvSpPr txBox="1"/>
          <p:nvPr/>
        </p:nvSpPr>
        <p:spPr>
          <a:xfrm>
            <a:off x="11155680" y="6446520"/>
            <a:ext cx="731520" cy="274320"/>
          </a:xfrm>
          <a:prstGeom prst="rect">
            <a:avLst/>
          </a:prstGeom>
          <a:noFill/>
        </p:spPr>
        <p:txBody>
          <a:bodyPr wrap="none">
            <a:spAutoFit/>
          </a:bodyPr>
          <a:lstStyle/>
          <a:p>
            <a:pPr algn="r">
              <a:defRPr sz="700">
                <a:solidFill>
                  <a:srgbClr val="A8C4C8"/>
                </a:solidFill>
              </a:defRPr>
            </a:pPr>
            <a: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995</TotalTime>
  <Words>748</Words>
  <Application>Microsoft Macintosh PowerPoint</Application>
  <PresentationFormat>Widescreen</PresentationFormat>
  <Paragraphs>107</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Jessie McNamara</cp:lastModifiedBy>
  <cp:revision>5</cp:revision>
  <dcterms:created xsi:type="dcterms:W3CDTF">2013-01-27T09:14:16Z</dcterms:created>
  <dcterms:modified xsi:type="dcterms:W3CDTF">2026-06-03T18:02:57Z</dcterms:modified>
  <cp:category/>
</cp:coreProperties>
</file>