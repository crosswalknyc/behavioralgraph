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notesMasterIdLst>
    <p:notesMasterId r:id="rId77"/>
  </p:notesMasterIdLst>
  <p:sldIdLst>
    <p:sldId id="1448945833" r:id="rId50"/>
    <p:sldId id="1448945834" r:id="rId51"/>
    <p:sldId id="1448945835" r:id="rId52"/>
    <p:sldId id="1448945836" r:id="rId53"/>
    <p:sldId id="1448945837" r:id="rId54"/>
    <p:sldId id="1448945838" r:id="rId55"/>
    <p:sldId id="1448945839" r:id="rId56"/>
    <p:sldId id="1448945840" r:id="rId57"/>
    <p:sldId id="1448945841" r:id="rId58"/>
    <p:sldId id="1448945842" r:id="rId59"/>
    <p:sldId id="1448945843" r:id="rId60"/>
    <p:sldId id="1448945844" r:id="rId61"/>
    <p:sldId id="1448945845" r:id="rId62"/>
    <p:sldId id="1448945846" r:id="rId63"/>
    <p:sldId id="1448945847" r:id="rId64"/>
    <p:sldId id="1448945848" r:id="rId65"/>
    <p:sldId id="1448945849" r:id="rId66"/>
    <p:sldId id="1448945850" r:id="rId67"/>
    <p:sldId id="1448945911" r:id="rId68"/>
    <p:sldId id="1448945851" r:id="rId69"/>
    <p:sldId id="1448945904" r:id="rId70"/>
    <p:sldId id="286" r:id="rId71"/>
    <p:sldId id="1448945852" r:id="rId72"/>
    <p:sldId id="1448945853" r:id="rId73"/>
    <p:sldId id="1448945854" r:id="rId74"/>
    <p:sldId id="1448945903" r:id="rId75"/>
    <p:sldId id="1448945855" r:id="rId7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1D20"/>
    <a:srgbClr val="EAE8E2"/>
    <a:srgbClr val="C7F33F"/>
    <a:srgbClr val="010203"/>
    <a:srgbClr val="B7B3D8"/>
    <a:srgbClr val="3258FF"/>
    <a:srgbClr val="2D3A22"/>
    <a:srgbClr val="9AA09B"/>
    <a:srgbClr val="5C6466"/>
    <a:srgbClr val="5D7E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43"/>
    <p:restoredTop sz="94589"/>
  </p:normalViewPr>
  <p:slideViewPr>
    <p:cSldViewPr snapToGrid="0" snapToObjects="1">
      <p:cViewPr varScale="1">
        <p:scale>
          <a:sx n="120" d="100"/>
          <a:sy n="120" d="100"/>
        </p:scale>
        <p:origin x="664" y="184"/>
      </p:cViewPr>
      <p:guideLst/>
    </p:cSldViewPr>
  </p:slideViewPr>
  <p:notesTextViewPr>
    <p:cViewPr>
      <p:scale>
        <a:sx n="40" d="100"/>
        <a:sy n="4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0" Type="http://schemas.openxmlformats.org/officeDocument/2006/relationships/slide" Target="slides/slide1.xml"/><Relationship Id="rId51" Type="http://schemas.openxmlformats.org/officeDocument/2006/relationships/slide" Target="slides/slide2.xml"/><Relationship Id="rId52" Type="http://schemas.openxmlformats.org/officeDocument/2006/relationships/slide" Target="slides/slide3.xml"/><Relationship Id="rId53" Type="http://schemas.openxmlformats.org/officeDocument/2006/relationships/slide" Target="slides/slide4.xml"/><Relationship Id="rId54" Type="http://schemas.openxmlformats.org/officeDocument/2006/relationships/slide" Target="slides/slide5.xml"/><Relationship Id="rId55" Type="http://schemas.openxmlformats.org/officeDocument/2006/relationships/slide" Target="slides/slide6.xml"/><Relationship Id="rId56" Type="http://schemas.openxmlformats.org/officeDocument/2006/relationships/slide" Target="slides/slide7.xml"/><Relationship Id="rId57" Type="http://schemas.openxmlformats.org/officeDocument/2006/relationships/slide" Target="slides/slide8.xml"/><Relationship Id="rId58" Type="http://schemas.openxmlformats.org/officeDocument/2006/relationships/slide" Target="slides/slide9.xml"/><Relationship Id="rId59" Type="http://schemas.openxmlformats.org/officeDocument/2006/relationships/slide" Target="slides/slide10.xml"/><Relationship Id="rId60" Type="http://schemas.openxmlformats.org/officeDocument/2006/relationships/slide" Target="slides/slide11.xml"/><Relationship Id="rId61" Type="http://schemas.openxmlformats.org/officeDocument/2006/relationships/slide" Target="slides/slide12.xml"/><Relationship Id="rId62" Type="http://schemas.openxmlformats.org/officeDocument/2006/relationships/slide" Target="slides/slide13.xml"/><Relationship Id="rId63" Type="http://schemas.openxmlformats.org/officeDocument/2006/relationships/slide" Target="slides/slide14.xml"/><Relationship Id="rId64" Type="http://schemas.openxmlformats.org/officeDocument/2006/relationships/slide" Target="slides/slide15.xml"/><Relationship Id="rId65" Type="http://schemas.openxmlformats.org/officeDocument/2006/relationships/slide" Target="slides/slide16.xml"/><Relationship Id="rId66" Type="http://schemas.openxmlformats.org/officeDocument/2006/relationships/slide" Target="slides/slide17.xml"/><Relationship Id="rId67" Type="http://schemas.openxmlformats.org/officeDocument/2006/relationships/slide" Target="slides/slide18.xml"/><Relationship Id="rId68" Type="http://schemas.openxmlformats.org/officeDocument/2006/relationships/slide" Target="slides/slide19.xml"/><Relationship Id="rId69" Type="http://schemas.openxmlformats.org/officeDocument/2006/relationships/slide" Target="slides/slide20.xml"/><Relationship Id="rId70" Type="http://schemas.openxmlformats.org/officeDocument/2006/relationships/slide" Target="slides/slide21.xml"/><Relationship Id="rId71" Type="http://schemas.openxmlformats.org/officeDocument/2006/relationships/slide" Target="slides/slide22.xml"/><Relationship Id="rId72" Type="http://schemas.openxmlformats.org/officeDocument/2006/relationships/slide" Target="slides/slide23.xml"/><Relationship Id="rId73" Type="http://schemas.openxmlformats.org/officeDocument/2006/relationships/slide" Target="slides/slide24.xml"/><Relationship Id="rId74" Type="http://schemas.openxmlformats.org/officeDocument/2006/relationships/slide" Target="slides/slide25.xml"/><Relationship Id="rId75" Type="http://schemas.openxmlformats.org/officeDocument/2006/relationships/slide" Target="slides/slide26.xml"/><Relationship Id="rId76" Type="http://schemas.openxmlformats.org/officeDocument/2006/relationships/slide" Target="slides/slide27.xml"/><Relationship Id="rId77" Type="http://schemas.openxmlformats.org/officeDocument/2006/relationships/notesMaster" Target="notesMasters/notesMaster1.xml"/><Relationship Id="rId98" Type="http://schemas.openxmlformats.org/officeDocument/2006/relationships/presProps" Target="presProps.xml"/><Relationship Id="rId99" Type="http://schemas.openxmlformats.org/officeDocument/2006/relationships/viewProps" Target="viewProps.xml"/><Relationship Id="rId100" Type="http://schemas.openxmlformats.org/officeDocument/2006/relationships/theme" Target="theme/theme1.xml"/><Relationship Id="rId10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7503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0A64C-8151-DD4B-B907-999A00E31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A05EB7-4808-F6D0-F540-347A3AD342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AB2140-86B2-91E9-348A-78BC530882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4FBEF-935D-35B0-4B32-2E3441E214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rosswalk Inter" panose="02000503000000020004" pitchFamily="34" charset="0"/>
                  <a:ea typeface="Crosswalk Inter" panose="02000503000000020004" pitchFamily="34" charset="0"/>
                  <a:cs typeface="Crosswalk Inter" panose="02000503000000020004" pitchFamily="34" charset="0"/>
                </a:defRPr>
              </a:pPr>
              <a:t>49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67280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rosswalk Inter" panose="02000503000000020004" pitchFamily="34" charset="0"/>
                  <a:ea typeface="Crosswalk Inter" panose="02000503000000020004" pitchFamily="34" charset="0"/>
                  <a:cs typeface="Crosswalk Inter" panose="02000503000000020004" pitchFamily="34" charset="0"/>
                </a:defRPr>
              </a:pPr>
              <a:t>50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rosswalk Inter" panose="02000503000000020004" pitchFamily="34" charset="0"/>
                  <a:ea typeface="Crosswalk Inter" panose="02000503000000020004" pitchFamily="34" charset="0"/>
                  <a:cs typeface="Crosswalk Inter" panose="02000503000000020004" pitchFamily="34" charset="0"/>
                </a:defRPr>
              </a:pPr>
              <a:t>51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rosswalk Inter" panose="02000503000000020004" pitchFamily="34" charset="0"/>
                  <a:ea typeface="Crosswalk Inter" panose="02000503000000020004" pitchFamily="34" charset="0"/>
                  <a:cs typeface="Crosswalk Inter" panose="02000503000000020004" pitchFamily="34" charset="0"/>
                </a:defRPr>
              </a:pPr>
              <a:t>52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rosswalk Inter" panose="02000503000000020004" pitchFamily="34" charset="0"/>
                  <a:ea typeface="Crosswalk Inter" panose="02000503000000020004" pitchFamily="34" charset="0"/>
                  <a:cs typeface="Crosswalk Inter" panose="02000503000000020004" pitchFamily="34" charset="0"/>
                </a:defRPr>
              </a:pPr>
              <a:t>53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rosswalk Inter" panose="02000503000000020004" pitchFamily="34" charset="0"/>
                  <a:ea typeface="Crosswalk Inter" panose="02000503000000020004" pitchFamily="34" charset="0"/>
                  <a:cs typeface="Crosswalk Inter" panose="02000503000000020004" pitchFamily="34" charset="0"/>
                </a:defRPr>
              </a:pPr>
              <a:t>54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rosswalk Inter" panose="02000503000000020004" pitchFamily="34" charset="0"/>
                  <a:ea typeface="Crosswalk Inter" panose="02000503000000020004" pitchFamily="34" charset="0"/>
                  <a:cs typeface="Crosswalk Inter" panose="02000503000000020004" pitchFamily="34" charset="0"/>
                </a:defRPr>
              </a:pPr>
              <a:t>55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rosswalk Inter" panose="02000503000000020004" pitchFamily="34" charset="0"/>
                  <a:ea typeface="Crosswalk Inter" panose="02000503000000020004" pitchFamily="34" charset="0"/>
                  <a:cs typeface="Crosswalk Inter" panose="02000503000000020004" pitchFamily="34" charset="0"/>
                </a:defRPr>
              </a:pPr>
              <a:t>56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rosswalk Inter" panose="02000503000000020004" pitchFamily="34" charset="0"/>
                  <a:ea typeface="Crosswalk Inter" panose="02000503000000020004" pitchFamily="34" charset="0"/>
                  <a:cs typeface="Crosswalk Inter" panose="02000503000000020004" pitchFamily="34" charset="0"/>
                </a:defRPr>
              </a:pPr>
              <a:t>57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rosswalk Inter" panose="02000503000000020004" pitchFamily="34" charset="0"/>
                  <a:ea typeface="Crosswalk Inter" panose="02000503000000020004" pitchFamily="34" charset="0"/>
                  <a:cs typeface="Crosswalk Inter" panose="02000503000000020004" pitchFamily="34" charset="0"/>
                </a:defRPr>
              </a:pPr>
              <a:t>58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rosswalk Inter" panose="02000503000000020004" pitchFamily="34" charset="0"/>
                  <a:ea typeface="Crosswalk Inter" panose="02000503000000020004" pitchFamily="34" charset="0"/>
                  <a:cs typeface="Crosswalk Inter" panose="02000503000000020004" pitchFamily="34" charset="0"/>
                </a:defRPr>
              </a:pPr>
              <a:t>59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rosswalk Inter" panose="02000503000000020004" pitchFamily="34" charset="0"/>
                  <a:ea typeface="Crosswalk Inter" panose="02000503000000020004" pitchFamily="34" charset="0"/>
                  <a:cs typeface="Crosswalk Inter" panose="02000503000000020004" pitchFamily="34" charset="0"/>
                </a:defRPr>
              </a:pPr>
              <a:t>60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rosswalk Inter" panose="02000503000000020004" pitchFamily="34" charset="0"/>
                  <a:ea typeface="Crosswalk Inter" panose="02000503000000020004" pitchFamily="34" charset="0"/>
                  <a:cs typeface="Crosswalk Inter" panose="02000503000000020004" pitchFamily="34" charset="0"/>
                </a:defRPr>
              </a:pPr>
              <a:t>61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rosswalk Inter" panose="02000503000000020004" pitchFamily="34" charset="0"/>
                  <a:ea typeface="Crosswalk Inter" panose="02000503000000020004" pitchFamily="34" charset="0"/>
                  <a:cs typeface="Crosswalk Inter" panose="02000503000000020004" pitchFamily="34" charset="0"/>
                </a:defRPr>
              </a:pPr>
              <a:t>62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rosswalk Inter" panose="02000503000000020004" pitchFamily="34" charset="0"/>
                  <a:ea typeface="Crosswalk Inter" panose="02000503000000020004" pitchFamily="34" charset="0"/>
                  <a:cs typeface="Crosswalk Inter" panose="02000503000000020004" pitchFamily="34" charset="0"/>
                </a:defRPr>
              </a:pPr>
              <a:t>63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rosswalk Inter" panose="02000503000000020004" pitchFamily="34" charset="0"/>
                  <a:ea typeface="Crosswalk Inter" panose="02000503000000020004" pitchFamily="34" charset="0"/>
                  <a:cs typeface="Crosswalk Inter" panose="02000503000000020004" pitchFamily="34" charset="0"/>
                </a:defRPr>
              </a:pPr>
              <a:t>64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rosswalk Inter" panose="02000503000000020004" pitchFamily="34" charset="0"/>
                  <a:ea typeface="Crosswalk Inter" panose="02000503000000020004" pitchFamily="34" charset="0"/>
                  <a:cs typeface="Crosswalk Inter" panose="02000503000000020004" pitchFamily="34" charset="0"/>
                </a:defRPr>
              </a:pPr>
              <a:t>65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rosswalk Inter" panose="02000503000000020004" pitchFamily="34" charset="0"/>
                  <a:ea typeface="Crosswalk Inter" panose="02000503000000020004" pitchFamily="34" charset="0"/>
                  <a:cs typeface="Crosswalk Inter" panose="02000503000000020004" pitchFamily="34" charset="0"/>
                </a:defRPr>
              </a:pPr>
              <a:t>66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D2321-1B68-6128-E16B-748284969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72786-28F6-66EF-9919-9C5B43E198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492329-DF13-4156-A58F-94E7E57D99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AE443-DFFD-01FC-6665-EC26EF21A6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rosswalk Inter" panose="02000503000000020004" pitchFamily="34" charset="0"/>
                  <a:ea typeface="Crosswalk Inter" panose="02000503000000020004" pitchFamily="34" charset="0"/>
                  <a:cs typeface="Crosswalk Inter" panose="02000503000000020004" pitchFamily="34" charset="0"/>
                </a:defRPr>
              </a:pPr>
              <a:t>67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451973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rosswalk Inter" panose="02000503000000020004" pitchFamily="34" charset="0"/>
                  <a:ea typeface="Crosswalk Inter" panose="02000503000000020004" pitchFamily="34" charset="0"/>
                  <a:cs typeface="Crosswalk Inter" panose="02000503000000020004" pitchFamily="34" charset="0"/>
                </a:defRPr>
              </a:pPr>
              <a:t>68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5D7C2-7F20-2099-1764-AAD56A198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345B1F-8893-FDA4-7350-C0ED704A44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DD8F1F-5E28-23EF-D995-B4AFC3905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95238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rosswalk Inter" panose="02000503000000020004" pitchFamily="34" charset="0"/>
                  <a:ea typeface="Crosswalk Inter" panose="02000503000000020004" pitchFamily="34" charset="0"/>
                  <a:cs typeface="Crosswalk Inter" panose="02000503000000020004" pitchFamily="34" charset="0"/>
                </a:defRPr>
              </a:pPr>
              <a:t>70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rosswalk Inter" panose="02000503000000020004" pitchFamily="34" charset="0"/>
                  <a:ea typeface="Crosswalk Inter" panose="02000503000000020004" pitchFamily="34" charset="0"/>
                  <a:cs typeface="Crosswalk Inter" panose="02000503000000020004" pitchFamily="34" charset="0"/>
                </a:defRPr>
              </a:pPr>
              <a:t>71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rosswalk Inter" panose="02000503000000020004" pitchFamily="34" charset="0"/>
                  <a:ea typeface="Crosswalk Inter" panose="02000503000000020004" pitchFamily="34" charset="0"/>
                  <a:cs typeface="Crosswalk Inter" panose="02000503000000020004" pitchFamily="34" charset="0"/>
                </a:defRPr>
              </a:pPr>
              <a:t>72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1AF23-D3BD-2F18-E32E-3A14E181F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2A3C16-ED07-008A-F6C4-BD9259E0FF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50AADB-873A-272D-86FB-EE9F35456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BFBE6-286E-2367-F5DC-7F6D882E74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rosswalk Inter" panose="02000503000000020004" pitchFamily="34" charset="0"/>
                  <a:ea typeface="Crosswalk Inter" panose="02000503000000020004" pitchFamily="34" charset="0"/>
                  <a:cs typeface="Crosswalk Inter" panose="02000503000000020004" pitchFamily="34" charset="0"/>
                </a:defRPr>
              </a:pPr>
              <a:t>73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852947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5BB3A-F117-5A70-99DE-025E9EF97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B0B0E7-DEED-A957-9726-ED6A31A8B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FF13D6-2C39-3F72-665B-18758FB62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9FDE4-DB23-59B9-CD95-F4EAE252AB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rosswalk Inter" panose="02000503000000020004" pitchFamily="34" charset="0"/>
                  <a:ea typeface="Crosswalk Inter" panose="02000503000000020004" pitchFamily="34" charset="0"/>
                  <a:cs typeface="Crosswalk Inter" panose="02000503000000020004" pitchFamily="34" charset="0"/>
                </a:defRPr>
              </a:pPr>
              <a:t>74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787283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24CFF-BA31-C218-4A91-A11B2A2BD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C0CE7B-E688-C985-2946-9C1F72884F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A67319-4D5F-7378-7527-A5B93B75E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B08DF-7138-4E6C-48E6-457CFF59B0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rosswalk Inter" panose="02000503000000020004" pitchFamily="34" charset="0"/>
                  <a:ea typeface="Crosswalk Inter" panose="02000503000000020004" pitchFamily="34" charset="0"/>
                  <a:cs typeface="Crosswalk Inter" panose="02000503000000020004" pitchFamily="34" charset="0"/>
                </a:defRPr>
              </a:pPr>
              <a:t>75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34416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Crosswalk Inter" panose="02000503000000020004" pitchFamily="34" charset="0"/>
          <a:ea typeface="Crosswalk Inter" panose="02000503000000020004" pitchFamily="34" charset="0"/>
          <a:cs typeface="Crosswalk Inter" panose="020005030000000200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rosswalk Inter" panose="02000503000000020004" pitchFamily="34" charset="0"/>
          <a:ea typeface="Crosswalk Inter" panose="02000503000000020004" pitchFamily="34" charset="0"/>
          <a:cs typeface="Crosswalk Inter" panose="020005030000000200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rosswalk Inter" panose="02000503000000020004" pitchFamily="34" charset="0"/>
          <a:ea typeface="Crosswalk Inter" panose="02000503000000020004" pitchFamily="34" charset="0"/>
          <a:cs typeface="Crosswalk Inter" panose="020005030000000200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rosswalk Inter" panose="02000503000000020004" pitchFamily="34" charset="0"/>
          <a:ea typeface="Crosswalk Inter" panose="02000503000000020004" pitchFamily="34" charset="0"/>
          <a:cs typeface="Crosswalk Inter" panose="020005030000000200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rosswalk Inter" panose="02000503000000020004" pitchFamily="34" charset="0"/>
          <a:ea typeface="Crosswalk Inter" panose="02000503000000020004" pitchFamily="34" charset="0"/>
          <a:cs typeface="Crosswalk Inter" panose="020005030000000200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rosswalk Inter" panose="02000503000000020004" pitchFamily="34" charset="0"/>
          <a:ea typeface="Crosswalk Inter" panose="02000503000000020004" pitchFamily="34" charset="0"/>
          <a:cs typeface="Crosswalk Inter" panose="020005030000000200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rosswalk Inter" panose="02000503000000020004" pitchFamily="34" charset="0"/>
          <a:ea typeface="Crosswalk Inter" panose="02000503000000020004" pitchFamily="34" charset="0"/>
          <a:cs typeface="Crosswalk Inter" panose="02000503000000020004" pitchFamily="34" charset="0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rosswalk Inter" panose="02000503000000020004" pitchFamily="34" charset="0"/>
          <a:ea typeface="Crosswalk Inter" panose="02000503000000020004" pitchFamily="34" charset="0"/>
          <a:cs typeface="Crosswalk Inter" panose="02000503000000020004" pitchFamily="34" charset="0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rosswalk Inter" panose="02000503000000020004" pitchFamily="34" charset="0"/>
          <a:ea typeface="Crosswalk Inter" panose="02000503000000020004" pitchFamily="34" charset="0"/>
          <a:cs typeface="Crosswalk Inter" panose="02000503000000020004" pitchFamily="34" charset="0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rosswalk Inter" panose="02000503000000020004" pitchFamily="34" charset="0"/>
          <a:ea typeface="Crosswalk Inter" panose="02000503000000020004" pitchFamily="34" charset="0"/>
          <a:cs typeface="Crosswalk Inter" panose="02000503000000020004" pitchFamily="34" charset="0"/>
        </a:defRPr>
      </a:lvl9pPr>
    </p:bodyStyle>
    <p:otherStyle>
      <a:defPPr>
        <a:defRPr lang="en-US">
          <a:latin typeface="Crosswalk Inter" panose="02000503000000020004" pitchFamily="34" charset="0"/>
          <a:ea typeface="Crosswalk Inter" panose="02000503000000020004" pitchFamily="34" charset="0"/>
          <a:cs typeface="Crosswalk Inter" panose="02000503000000020004" pitchFamily="34" charset="0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Crosswalk Inter" panose="02000503000000020004" pitchFamily="34" charset="0"/>
          <a:ea typeface="Crosswalk Inter" panose="02000503000000020004" pitchFamily="34" charset="0"/>
          <a:cs typeface="Crosswalk Inter" panose="02000503000000020004" pitchFamily="34" charset="0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Crosswalk Inter" panose="02000503000000020004" pitchFamily="34" charset="0"/>
          <a:ea typeface="Crosswalk Inter" panose="02000503000000020004" pitchFamily="34" charset="0"/>
          <a:cs typeface="Crosswalk Inter" panose="02000503000000020004" pitchFamily="34" charset="0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Crosswalk Inter" panose="02000503000000020004" pitchFamily="34" charset="0"/>
          <a:ea typeface="Crosswalk Inter" panose="02000503000000020004" pitchFamily="34" charset="0"/>
          <a:cs typeface="Crosswalk Inter" panose="02000503000000020004" pitchFamily="34" charset="0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Crosswalk Inter" panose="02000503000000020004" pitchFamily="34" charset="0"/>
          <a:ea typeface="Crosswalk Inter" panose="02000503000000020004" pitchFamily="34" charset="0"/>
          <a:cs typeface="Crosswalk Inter" panose="02000503000000020004" pitchFamily="34" charset="0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Crosswalk Inter" panose="02000503000000020004" pitchFamily="34" charset="0"/>
          <a:ea typeface="Crosswalk Inter" panose="02000503000000020004" pitchFamily="34" charset="0"/>
          <a:cs typeface="Crosswalk Inter" panose="02000503000000020004" pitchFamily="34" charset="0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Crosswalk Inter" panose="02000503000000020004" pitchFamily="34" charset="0"/>
          <a:ea typeface="Crosswalk Inter" panose="02000503000000020004" pitchFamily="34" charset="0"/>
          <a:cs typeface="Crosswalk Inter" panose="02000503000000020004" pitchFamily="34" charset="0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Crosswalk Inter" panose="02000503000000020004" pitchFamily="34" charset="0"/>
          <a:ea typeface="Crosswalk Inter" panose="02000503000000020004" pitchFamily="34" charset="0"/>
          <a:cs typeface="Crosswalk Inter" panose="02000503000000020004" pitchFamily="34" charset="0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Crosswalk Inter" panose="02000503000000020004" pitchFamily="34" charset="0"/>
          <a:ea typeface="Crosswalk Inter" panose="02000503000000020004" pitchFamily="34" charset="0"/>
          <a:cs typeface="Crosswalk Inter" panose="02000503000000020004" pitchFamily="34" charset="0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Crosswalk Inter" panose="02000503000000020004" pitchFamily="34" charset="0"/>
          <a:ea typeface="Crosswalk Inter" panose="02000503000000020004" pitchFamily="34" charset="0"/>
          <a:cs typeface="Crosswalk Inter" panose="02000503000000020004" pitchFamily="34" charset="0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microsoft.com/office/2007/relationships/hdphoto" Target="../media/hdphoto1.wdp"/><Relationship Id="rId8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4" Type="http://schemas.openxmlformats.org/officeDocument/2006/relationships/image" Target="../media/image8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.png"/><Relationship Id="rId6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4" Type="http://schemas.openxmlformats.org/officeDocument/2006/relationships/image" Target="../media/image24.png"/><Relationship Id="rId5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4" Type="http://schemas.openxmlformats.org/officeDocument/2006/relationships/image" Target="../media/image25.png"/><Relationship Id="rId5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4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4.png"/><Relationship Id="rId5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6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image" Target="../media/image37.png"/><Relationship Id="rId14" Type="http://schemas.openxmlformats.org/officeDocument/2006/relationships/image" Target="../media/image38.jpeg"/><Relationship Id="rId15" Type="http://schemas.openxmlformats.org/officeDocument/2006/relationships/image" Target="../media/image39.png"/><Relationship Id="rId16" Type="http://schemas.openxmlformats.org/officeDocument/2006/relationships/image" Target="../media/image40.png"/><Relationship Id="rId17" Type="http://schemas.openxmlformats.org/officeDocument/2006/relationships/image" Target="../media/image41.png"/><Relationship Id="rId18" Type="http://schemas.openxmlformats.org/officeDocument/2006/relationships/image" Target="../media/image42.jpg"/><Relationship Id="rId19" Type="http://schemas.openxmlformats.org/officeDocument/2006/relationships/image" Target="../media/image43.png"/><Relationship Id="rId20" Type="http://schemas.openxmlformats.org/officeDocument/2006/relationships/image" Target="../media/image44.png"/><Relationship Id="rId2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4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5.jpeg"/><Relationship Id="rId4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4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4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4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4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6.jpeg"/><Relationship Id="rId5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7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D49F0B-522C-7453-0EC7-E4FB0056C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48A6CDB-FF6B-1554-F8F8-BED0B748988E}"/>
              </a:ext>
            </a:extLst>
          </p:cNvPr>
          <p:cNvGrpSpPr/>
          <p:nvPr/>
        </p:nvGrpSpPr>
        <p:grpSpPr>
          <a:xfrm>
            <a:off x="6949048" y="535119"/>
            <a:ext cx="4813647" cy="5796385"/>
            <a:chOff x="6949048" y="535119"/>
            <a:chExt cx="4813647" cy="579638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57E881E-2394-D18F-EEC2-8410CD358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rcRect l="15569" t="16401" r="14231" b="18198"/>
            <a:stretch>
              <a:fillRect/>
            </a:stretch>
          </p:blipFill>
          <p:spPr>
            <a:xfrm>
              <a:off x="11694632" y="535119"/>
              <a:ext cx="68063" cy="6341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3856BEE-88D2-85D6-6C2A-AB3F3C8533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rcRect l="15569" t="16401" r="14231" b="18198"/>
            <a:stretch>
              <a:fillRect/>
            </a:stretch>
          </p:blipFill>
          <p:spPr>
            <a:xfrm>
              <a:off x="11694632" y="1681714"/>
              <a:ext cx="68063" cy="63410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E0856664-8929-772E-7A4E-A91A89D011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rcRect l="15569" t="16401" r="14231" b="18198"/>
            <a:stretch>
              <a:fillRect/>
            </a:stretch>
          </p:blipFill>
          <p:spPr>
            <a:xfrm>
              <a:off x="11694632" y="2828309"/>
              <a:ext cx="68063" cy="6341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7DE91D5F-8687-9DC2-0159-94ABF1D7D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rcRect l="15569" t="16401" r="14231" b="18198"/>
            <a:stretch>
              <a:fillRect/>
            </a:stretch>
          </p:blipFill>
          <p:spPr>
            <a:xfrm>
              <a:off x="11694632" y="3974904"/>
              <a:ext cx="68063" cy="63410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7B6F1077-18D6-C492-ED5A-3AB88243F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rcRect l="15569" t="16401" r="14231" b="18198"/>
            <a:stretch>
              <a:fillRect/>
            </a:stretch>
          </p:blipFill>
          <p:spPr>
            <a:xfrm>
              <a:off x="11694632" y="5121499"/>
              <a:ext cx="68063" cy="63410"/>
            </a:xfrm>
            <a:prstGeom prst="rect">
              <a:avLst/>
            </a:prstGeom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E5316786-A6E5-3F89-DB05-1DA25EEB4A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3000"/>
                      </a14:imgEffect>
                    </a14:imgLayer>
                  </a14:imgProps>
                </a:ext>
              </a:extLst>
            </a:blip>
            <a:srcRect l="15569" t="16401" r="14231" b="18198"/>
            <a:stretch>
              <a:fillRect/>
            </a:stretch>
          </p:blipFill>
          <p:spPr>
            <a:xfrm>
              <a:off x="11694632" y="6268094"/>
              <a:ext cx="68063" cy="63410"/>
            </a:xfrm>
            <a:prstGeom prst="rect">
              <a:avLst/>
            </a:prstGeom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B0CBFB99-24C2-5284-EAF2-7CD17807B7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rcRect l="15569" t="16401" r="14231" b="18198"/>
            <a:stretch>
              <a:fillRect/>
            </a:stretch>
          </p:blipFill>
          <p:spPr>
            <a:xfrm>
              <a:off x="10745516" y="535119"/>
              <a:ext cx="68063" cy="63410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8E339ABE-B4A2-F52D-A1A8-D8C187FE85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rcRect l="15569" t="16401" r="14231" b="18198"/>
            <a:stretch>
              <a:fillRect/>
            </a:stretch>
          </p:blipFill>
          <p:spPr>
            <a:xfrm>
              <a:off x="10745516" y="1681714"/>
              <a:ext cx="68063" cy="63410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FD4B12FA-5374-F10D-A5EA-0153AC5EA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rcRect l="15569" t="16401" r="14231" b="18198"/>
            <a:stretch>
              <a:fillRect/>
            </a:stretch>
          </p:blipFill>
          <p:spPr>
            <a:xfrm>
              <a:off x="10745516" y="2828309"/>
              <a:ext cx="68063" cy="63410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9ED5F508-FEBF-9235-3BD3-C61641353C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rcRect l="15569" t="16401" r="14231" b="18198"/>
            <a:stretch>
              <a:fillRect/>
            </a:stretch>
          </p:blipFill>
          <p:spPr>
            <a:xfrm>
              <a:off x="10745516" y="3974904"/>
              <a:ext cx="68063" cy="63410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077F15AF-99A9-4413-A360-44B553166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rcRect l="15569" t="16401" r="14231" b="18198"/>
            <a:stretch>
              <a:fillRect/>
            </a:stretch>
          </p:blipFill>
          <p:spPr>
            <a:xfrm>
              <a:off x="10745516" y="5121499"/>
              <a:ext cx="68063" cy="63410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06744FA8-9015-1105-9E83-D741341FBA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3000"/>
                      </a14:imgEffect>
                    </a14:imgLayer>
                  </a14:imgProps>
                </a:ext>
              </a:extLst>
            </a:blip>
            <a:srcRect l="15569" t="16401" r="14231" b="18198"/>
            <a:stretch>
              <a:fillRect/>
            </a:stretch>
          </p:blipFill>
          <p:spPr>
            <a:xfrm>
              <a:off x="10745516" y="6268094"/>
              <a:ext cx="68063" cy="63410"/>
            </a:xfrm>
            <a:prstGeom prst="rect">
              <a:avLst/>
            </a:prstGeom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2A1E74A2-540C-030C-524C-E80D7D9FE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rcRect l="15569" t="16401" r="14231" b="18198"/>
            <a:stretch>
              <a:fillRect/>
            </a:stretch>
          </p:blipFill>
          <p:spPr>
            <a:xfrm>
              <a:off x="9796399" y="535119"/>
              <a:ext cx="68063" cy="63410"/>
            </a:xfrm>
            <a:prstGeom prst="rect">
              <a:avLst/>
            </a:prstGeom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6FFBE0E6-420C-0BC0-F024-6121ED654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rcRect l="15569" t="16401" r="14231" b="18198"/>
            <a:stretch>
              <a:fillRect/>
            </a:stretch>
          </p:blipFill>
          <p:spPr>
            <a:xfrm>
              <a:off x="9796399" y="1681714"/>
              <a:ext cx="68063" cy="63410"/>
            </a:xfrm>
            <a:prstGeom prst="rect">
              <a:avLst/>
            </a:prstGeom>
          </p:spPr>
        </p:pic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39D27CDA-7E6D-0927-4BC4-B51108658C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rcRect l="15569" t="16401" r="14231" b="18198"/>
            <a:stretch>
              <a:fillRect/>
            </a:stretch>
          </p:blipFill>
          <p:spPr>
            <a:xfrm>
              <a:off x="9796399" y="2828309"/>
              <a:ext cx="68063" cy="63410"/>
            </a:xfrm>
            <a:prstGeom prst="rect">
              <a:avLst/>
            </a:prstGeom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A1ACB0EC-54B9-36C1-F179-BD8ADCE6E7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rcRect l="15569" t="16401" r="14231" b="18198"/>
            <a:stretch>
              <a:fillRect/>
            </a:stretch>
          </p:blipFill>
          <p:spPr>
            <a:xfrm>
              <a:off x="9796399" y="3974904"/>
              <a:ext cx="68063" cy="63410"/>
            </a:xfrm>
            <a:prstGeom prst="rect">
              <a:avLst/>
            </a:prstGeom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6403DECA-4930-F089-0573-DEE9B6D8C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rcRect l="15569" t="16401" r="14231" b="18198"/>
            <a:stretch>
              <a:fillRect/>
            </a:stretch>
          </p:blipFill>
          <p:spPr>
            <a:xfrm>
              <a:off x="9796399" y="5121499"/>
              <a:ext cx="68063" cy="63410"/>
            </a:xfrm>
            <a:prstGeom prst="rect">
              <a:avLst/>
            </a:prstGeom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CA69C5AD-D9B6-A466-6A77-F414D36DC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3000"/>
                      </a14:imgEffect>
                    </a14:imgLayer>
                  </a14:imgProps>
                </a:ext>
              </a:extLst>
            </a:blip>
            <a:srcRect l="15569" t="16401" r="14231" b="18198"/>
            <a:stretch>
              <a:fillRect/>
            </a:stretch>
          </p:blipFill>
          <p:spPr>
            <a:xfrm>
              <a:off x="9796399" y="6268094"/>
              <a:ext cx="68063" cy="63410"/>
            </a:xfrm>
            <a:prstGeom prst="rect">
              <a:avLst/>
            </a:prstGeom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37C03B9D-7DB0-FA66-8A5C-DA39901EA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rcRect l="15569" t="16401" r="14231" b="18198"/>
            <a:stretch>
              <a:fillRect/>
            </a:stretch>
          </p:blipFill>
          <p:spPr>
            <a:xfrm>
              <a:off x="8847282" y="535119"/>
              <a:ext cx="68063" cy="63410"/>
            </a:xfrm>
            <a:prstGeom prst="rect">
              <a:avLst/>
            </a:prstGeom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90E62AF3-B6C7-00D0-1056-C817EE882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rcRect l="15569" t="16401" r="14231" b="18198"/>
            <a:stretch>
              <a:fillRect/>
            </a:stretch>
          </p:blipFill>
          <p:spPr>
            <a:xfrm>
              <a:off x="8847282" y="1681714"/>
              <a:ext cx="68063" cy="63410"/>
            </a:xfrm>
            <a:prstGeom prst="rect">
              <a:avLst/>
            </a:prstGeom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275473A4-4430-B28E-4D1D-016BF2AC0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rcRect l="15569" t="16401" r="14231" b="18198"/>
            <a:stretch>
              <a:fillRect/>
            </a:stretch>
          </p:blipFill>
          <p:spPr>
            <a:xfrm>
              <a:off x="8847282" y="2828309"/>
              <a:ext cx="68063" cy="63410"/>
            </a:xfrm>
            <a:prstGeom prst="rect">
              <a:avLst/>
            </a:prstGeom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0507AC2D-9B7D-4299-FDB1-C3357483F5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rcRect l="15569" t="16401" r="14231" b="18198"/>
            <a:stretch>
              <a:fillRect/>
            </a:stretch>
          </p:blipFill>
          <p:spPr>
            <a:xfrm>
              <a:off x="8847282" y="3974904"/>
              <a:ext cx="68063" cy="6341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C8D55289-B9E3-4E90-C1DF-025018D9E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rcRect l="15569" t="16401" r="14231" b="18198"/>
            <a:stretch>
              <a:fillRect/>
            </a:stretch>
          </p:blipFill>
          <p:spPr>
            <a:xfrm>
              <a:off x="8847282" y="5121499"/>
              <a:ext cx="68063" cy="63410"/>
            </a:xfrm>
            <a:prstGeom prst="rect">
              <a:avLst/>
            </a:prstGeom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22D26AF0-2C63-3B71-EADD-D286AA3E8A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3000"/>
                      </a14:imgEffect>
                    </a14:imgLayer>
                  </a14:imgProps>
                </a:ext>
              </a:extLst>
            </a:blip>
            <a:srcRect l="15569" t="16401" r="14231" b="18198"/>
            <a:stretch>
              <a:fillRect/>
            </a:stretch>
          </p:blipFill>
          <p:spPr>
            <a:xfrm>
              <a:off x="8847282" y="6268094"/>
              <a:ext cx="68063" cy="63410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B1609AF8-0F7C-ECDB-11F5-E30293185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0000"/>
            </a:blip>
            <a:srcRect l="15569" t="16401" r="14231" b="18198"/>
            <a:stretch>
              <a:fillRect/>
            </a:stretch>
          </p:blipFill>
          <p:spPr>
            <a:xfrm>
              <a:off x="7898165" y="535119"/>
              <a:ext cx="68063" cy="63410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F8532951-E32D-C829-4CF9-F8BDD2945D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0000"/>
            </a:blip>
            <a:srcRect l="15569" t="16401" r="14231" b="18198"/>
            <a:stretch>
              <a:fillRect/>
            </a:stretch>
          </p:blipFill>
          <p:spPr>
            <a:xfrm>
              <a:off x="7898165" y="1681714"/>
              <a:ext cx="68063" cy="63410"/>
            </a:xfrm>
            <a:prstGeom prst="rect">
              <a:avLst/>
            </a:prstGeom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3382FC27-6AE1-E0EB-90ED-7434378E8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0000"/>
            </a:blip>
            <a:srcRect l="15569" t="16401" r="14231" b="18198"/>
            <a:stretch>
              <a:fillRect/>
            </a:stretch>
          </p:blipFill>
          <p:spPr>
            <a:xfrm>
              <a:off x="7898165" y="2828309"/>
              <a:ext cx="68063" cy="63410"/>
            </a:xfrm>
            <a:prstGeom prst="rect">
              <a:avLst/>
            </a:prstGeom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286AD126-9EB8-F6AF-B69C-166DFCD322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0000"/>
            </a:blip>
            <a:srcRect l="15569" t="16401" r="14231" b="18198"/>
            <a:stretch>
              <a:fillRect/>
            </a:stretch>
          </p:blipFill>
          <p:spPr>
            <a:xfrm>
              <a:off x="7898165" y="3974904"/>
              <a:ext cx="68063" cy="63410"/>
            </a:xfrm>
            <a:prstGeom prst="rect">
              <a:avLst/>
            </a:prstGeom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2715F9FD-4793-A7D7-57C7-CA13CA15D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0000"/>
            </a:blip>
            <a:srcRect l="15569" t="16401" r="14231" b="18198"/>
            <a:stretch>
              <a:fillRect/>
            </a:stretch>
          </p:blipFill>
          <p:spPr>
            <a:xfrm>
              <a:off x="7898165" y="5121499"/>
              <a:ext cx="68063" cy="63410"/>
            </a:xfrm>
            <a:prstGeom prst="rect">
              <a:avLst/>
            </a:prstGeom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B60F8CE6-57B6-8340-78BB-F6A0FEE97A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3000"/>
                      </a14:imgEffect>
                    </a14:imgLayer>
                  </a14:imgProps>
                </a:ext>
              </a:extLst>
            </a:blip>
            <a:srcRect l="15569" t="16401" r="14231" b="18198"/>
            <a:stretch>
              <a:fillRect/>
            </a:stretch>
          </p:blipFill>
          <p:spPr>
            <a:xfrm>
              <a:off x="7898165" y="6268094"/>
              <a:ext cx="68063" cy="63410"/>
            </a:xfrm>
            <a:prstGeom prst="rect">
              <a:avLst/>
            </a:prstGeom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F75B1244-A63F-E363-8D05-E3E72A11D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60000"/>
            </a:blip>
            <a:srcRect l="15569" t="16401" r="14231" b="18198"/>
            <a:stretch>
              <a:fillRect/>
            </a:stretch>
          </p:blipFill>
          <p:spPr>
            <a:xfrm>
              <a:off x="6949048" y="535119"/>
              <a:ext cx="68063" cy="63410"/>
            </a:xfrm>
            <a:prstGeom prst="rect">
              <a:avLst/>
            </a:prstGeom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27842FFB-A5E1-F6D1-400A-4773729072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60000"/>
            </a:blip>
            <a:srcRect l="15569" t="16401" r="14231" b="18198"/>
            <a:stretch>
              <a:fillRect/>
            </a:stretch>
          </p:blipFill>
          <p:spPr>
            <a:xfrm>
              <a:off x="6949048" y="1681714"/>
              <a:ext cx="68063" cy="63410"/>
            </a:xfrm>
            <a:prstGeom prst="rect">
              <a:avLst/>
            </a:prstGeom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599D0478-2445-3FB1-9C94-85E59B69A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60000"/>
            </a:blip>
            <a:srcRect l="15569" t="16401" r="14231" b="18198"/>
            <a:stretch>
              <a:fillRect/>
            </a:stretch>
          </p:blipFill>
          <p:spPr>
            <a:xfrm>
              <a:off x="6949048" y="2828309"/>
              <a:ext cx="68063" cy="63410"/>
            </a:xfrm>
            <a:prstGeom prst="rect">
              <a:avLst/>
            </a:prstGeom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BE4E5807-48A2-B58B-BB5E-3DABF6D4BA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60000"/>
            </a:blip>
            <a:srcRect l="15569" t="16401" r="14231" b="18198"/>
            <a:stretch>
              <a:fillRect/>
            </a:stretch>
          </p:blipFill>
          <p:spPr>
            <a:xfrm>
              <a:off x="6949048" y="3974904"/>
              <a:ext cx="68063" cy="63410"/>
            </a:xfrm>
            <a:prstGeom prst="rect">
              <a:avLst/>
            </a:prstGeom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41D5F523-64AF-E483-C672-95D375484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60000"/>
            </a:blip>
            <a:srcRect l="15569" t="16401" r="14231" b="18198"/>
            <a:stretch>
              <a:fillRect/>
            </a:stretch>
          </p:blipFill>
          <p:spPr>
            <a:xfrm>
              <a:off x="6949048" y="5121499"/>
              <a:ext cx="68063" cy="63410"/>
            </a:xfrm>
            <a:prstGeom prst="rect">
              <a:avLst/>
            </a:prstGeom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28FC87D8-F07F-3073-8CC1-C881A71F0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6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3000"/>
                      </a14:imgEffect>
                    </a14:imgLayer>
                  </a14:imgProps>
                </a:ext>
              </a:extLst>
            </a:blip>
            <a:srcRect l="15569" t="16401" r="14231" b="18198"/>
            <a:stretch>
              <a:fillRect/>
            </a:stretch>
          </p:blipFill>
          <p:spPr>
            <a:xfrm>
              <a:off x="6949048" y="6268094"/>
              <a:ext cx="68063" cy="63410"/>
            </a:xfrm>
            <a:prstGeom prst="rect">
              <a:avLst/>
            </a:prstGeom>
          </p:spPr>
        </p:pic>
      </p:grpSp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06B44244-416F-79B8-8BCC-C2F9D6351B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34295" y="510235"/>
            <a:ext cx="1216152" cy="154073"/>
          </a:xfrm>
          <a:prstGeom prst="rect">
            <a:avLst/>
          </a:prstGeom>
        </p:spPr>
      </p:pic>
      <p:sp>
        <p:nvSpPr>
          <p:cNvPr id="25" name="Text 0">
            <a:extLst>
              <a:ext uri="{FF2B5EF4-FFF2-40B4-BE49-F238E27FC236}">
                <a16:creationId xmlns:a16="http://schemas.microsoft.com/office/drawing/2014/main" id="{9C7D7B73-7FA1-1835-77BA-BCCA7B0DC4CD}"/>
              </a:ext>
            </a:extLst>
          </p:cNvPr>
          <p:cNvSpPr/>
          <p:nvPr/>
        </p:nvSpPr>
        <p:spPr>
          <a:xfrm>
            <a:off x="841248" y="6473952"/>
            <a:ext cx="10509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CONFIDENTIAL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F750FFA5-A9C2-F091-7291-F5787EDEAC54}"/>
              </a:ext>
            </a:extLst>
          </p:cNvPr>
          <p:cNvSpPr/>
          <p:nvPr/>
        </p:nvSpPr>
        <p:spPr>
          <a:xfrm>
            <a:off x="10893247" y="6409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00000000-1234-1234-1234-123412341234}" type="slidenum"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49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EA56C1CF-42A8-0B00-9149-5E0BAAE3567E}"/>
              </a:ext>
            </a:extLst>
          </p:cNvPr>
          <p:cNvSpPr/>
          <p:nvPr/>
        </p:nvSpPr>
        <p:spPr>
          <a:xfrm>
            <a:off x="841248" y="2798064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Pre-purchase behavioral</a:t>
            </a:r>
            <a:b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</a:b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intelligence for [Client].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2BE16C1B-B540-A187-1618-0027C0B84C68}"/>
              </a:ext>
            </a:extLst>
          </p:cNvPr>
          <p:cNvSpPr/>
          <p:nvPr/>
        </p:nvSpPr>
        <p:spPr>
          <a:xfrm>
            <a:off x="841248" y="4862779"/>
            <a:ext cx="10509199" cy="10058"/>
          </a:xfrm>
          <a:prstGeom prst="rect">
            <a:avLst/>
          </a:prstGeom>
          <a:solidFill>
            <a:srgbClr val="8FA84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625E8015-480B-9CF1-6236-237853739372}"/>
              </a:ext>
            </a:extLst>
          </p:cNvPr>
          <p:cNvSpPr/>
          <p:nvPr/>
        </p:nvSpPr>
        <p:spPr>
          <a:xfrm>
            <a:off x="841248" y="5091379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190M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90BE4E3A-1607-689A-03FD-026C2718579D}"/>
              </a:ext>
            </a:extLst>
          </p:cNvPr>
          <p:cNvSpPr/>
          <p:nvPr/>
        </p:nvSpPr>
        <p:spPr>
          <a:xfrm>
            <a:off x="841248" y="5475427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monthly ad-tier viewers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2C66F5A7-80AB-DE53-A70E-27B33F5BAA5E}"/>
              </a:ext>
            </a:extLst>
          </p:cNvPr>
          <p:cNvSpPr/>
          <p:nvPr/>
        </p:nvSpPr>
        <p:spPr>
          <a:xfrm>
            <a:off x="4498848" y="5091379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$9B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0069ED3E-6BE3-AED3-958C-DDB7008D2694}"/>
              </a:ext>
            </a:extLst>
          </p:cNvPr>
          <p:cNvSpPr/>
          <p:nvPr/>
        </p:nvSpPr>
        <p:spPr>
          <a:xfrm>
            <a:off x="4498848" y="5475427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projected ad revenue by 2029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A9C6F824-95D3-A5C5-EDBB-05E25C0AB3E8}"/>
              </a:ext>
            </a:extLst>
          </p:cNvPr>
          <p:cNvSpPr/>
          <p:nvPr/>
        </p:nvSpPr>
        <p:spPr>
          <a:xfrm>
            <a:off x="8156448" y="5091379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2 in 3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83C91974-BD9C-1D80-16E6-C5B20977F3EB}"/>
              </a:ext>
            </a:extLst>
          </p:cNvPr>
          <p:cNvSpPr/>
          <p:nvPr/>
        </p:nvSpPr>
        <p:spPr>
          <a:xfrm>
            <a:off x="8156448" y="5475427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panelists are [Client] subscribers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D80268A-D80B-9753-1970-265EFE8B2AB4}"/>
              </a:ext>
            </a:extLst>
          </p:cNvPr>
          <p:cNvSpPr/>
          <p:nvPr/>
        </p:nvSpPr>
        <p:spPr>
          <a:xfrm>
            <a:off x="841248" y="566928"/>
            <a:ext cx="77724" cy="77724"/>
          </a:xfrm>
          <a:prstGeom prst="ellipse">
            <a:avLst/>
          </a:prstGeom>
          <a:solidFill>
            <a:srgbClr val="0C161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C1618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E058E15-DD5A-4E81-FAB4-E4488B0CC8CD}"/>
              </a:ext>
            </a:extLst>
          </p:cNvPr>
          <p:cNvSpPr/>
          <p:nvPr/>
        </p:nvSpPr>
        <p:spPr>
          <a:xfrm>
            <a:off x="1032358" y="4937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u="none" strike="noStrike" kern="0" cap="none" spc="26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TEMPLATE 01 — </a:t>
            </a:r>
            <a:r>
              <a:rPr lang="en-US" sz="1050" kern="0" spc="140" dirty="0">
                <a:solidFill>
                  <a:srgbClr val="0C1618"/>
                </a:solidFill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COVER, SIGNAL GRADIENT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874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41248" y="6473952"/>
            <a:ext cx="10509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CONFIDENTIAL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0893247" y="6409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00000000-1234-1234-1234-123412341234}" type="slidenum"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50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21144" r="21144"/>
          <a:stretch>
            <a:fillRect/>
          </a:stretch>
        </p:blipFill>
        <p:spPr>
          <a:xfrm>
            <a:off x="6035040" y="0"/>
            <a:ext cx="6156655" cy="6858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35040" y="3319272"/>
            <a:ext cx="6156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50" b="0" i="0" u="none" strike="noStrike" kern="0" cap="none" spc="120" normalizeH="0" baseline="0" noProof="0" dirty="0">
                <a:ln>
                  <a:noFill/>
                </a:ln>
                <a:solidFill>
                  <a:srgbClr val="5C7A80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HALF BLEED  ·  6.733 x 7.500  ·  RIGHT EDGE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" name="Text 3"/>
          <p:cNvSpPr/>
          <p:nvPr/>
        </p:nvSpPr>
        <p:spPr>
          <a:xfrm>
            <a:off x="841248" y="22860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50" b="0" i="0" u="none" strike="noStrike" kern="0" cap="none" spc="14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TEMPLATE 02  ·  COVER, HALF-BLEED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841248" y="2651760"/>
            <a:ext cx="4983480" cy="99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Real-time human behavior</a:t>
            </a:r>
            <a:b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</a:b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infrastructure for [Client].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841248" y="4146471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The grounded signal that models cannot generate and cannot train without.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841248" y="4768263"/>
            <a:ext cx="4480560" cy="10058"/>
          </a:xfrm>
          <a:prstGeom prst="rect">
            <a:avLst/>
          </a:prstGeom>
          <a:solidFill>
            <a:srgbClr val="2739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841248" y="498771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300T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920240" y="4987719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human text tokens, gone by 2028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841248" y="5390055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74%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1920240" y="5390055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of new web pages are AI-generated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841248" y="5792391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30M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1920240" y="5792391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opted-in panelists to date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pic>
        <p:nvPicPr>
          <p:cNvPr id="18" name="Image 3" descr="preencoded.png">
            <a:extLst>
              <a:ext uri="{FF2B5EF4-FFF2-40B4-BE49-F238E27FC236}">
                <a16:creationId xmlns:a16="http://schemas.microsoft.com/office/drawing/2014/main" id="{07749F8A-11FE-FECD-E974-89A570EE7E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658368"/>
            <a:ext cx="1920240" cy="2432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rcRect t="6249" b="624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AA3C83C-D942-9012-D81E-1B4610B04125}"/>
              </a:ext>
            </a:extLst>
          </p:cNvPr>
          <p:cNvSpPr/>
          <p:nvPr/>
        </p:nvSpPr>
        <p:spPr>
          <a:xfrm>
            <a:off x="0" y="-1"/>
            <a:ext cx="9132571" cy="6858000"/>
          </a:xfrm>
          <a:prstGeom prst="rect">
            <a:avLst/>
          </a:prstGeom>
          <a:gradFill>
            <a:gsLst>
              <a:gs pos="0">
                <a:srgbClr val="060E0E">
                  <a:alpha val="0"/>
                </a:srgbClr>
              </a:gs>
              <a:gs pos="100000">
                <a:srgbClr val="040A0A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658368"/>
            <a:ext cx="1920240" cy="243274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841248" y="27432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50" b="0" i="0" u="none" strike="noStrike" kern="0" cap="none" spc="14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TEMPLATE 03  ·  COVER, FULL BLEED + COPY SHADOW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0" name="Text 3"/>
          <p:cNvSpPr/>
          <p:nvPr/>
        </p:nvSpPr>
        <p:spPr>
          <a:xfrm>
            <a:off x="841248" y="310896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Every consumer journey </a:t>
            </a:r>
            <a:b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</a:b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becomes intelligence.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1" name="Text 4"/>
          <p:cNvSpPr/>
          <p:nvPr/>
        </p:nvSpPr>
        <p:spPr>
          <a:xfrm>
            <a:off x="841248" y="4663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One consumer. One ordinary day. </a:t>
            </a: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Every moment is an observed signal.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Text 0"/>
          <p:cNvSpPr/>
          <p:nvPr/>
        </p:nvSpPr>
        <p:spPr>
          <a:xfrm>
            <a:off x="841248" y="6473952"/>
            <a:ext cx="10509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5C6466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CONFIDENTIAL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0893247" y="6409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00000000-1234-1234-1234-123412341234}" type="slidenum"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C6466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51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11683F55-FBBF-A093-30A0-B1AD1AB3A68C}"/>
              </a:ext>
            </a:extLst>
          </p:cNvPr>
          <p:cNvSpPr/>
          <p:nvPr/>
        </p:nvSpPr>
        <p:spPr>
          <a:xfrm>
            <a:off x="4967785" y="3383280"/>
            <a:ext cx="7224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50" b="0" i="0" u="none" strike="noStrike" kern="0" cap="none" spc="120" normalizeH="0" baseline="0" noProof="0" dirty="0">
                <a:ln>
                  <a:noFill/>
                </a:ln>
                <a:solidFill>
                  <a:srgbClr val="5C7A80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IMAGE  ·  13.333 x 7.500  ·  FULL BLEED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66928"/>
            <a:ext cx="77724" cy="77724"/>
          </a:xfrm>
          <a:prstGeom prst="ellipse">
            <a:avLst/>
          </a:prstGeom>
          <a:solidFill>
            <a:srgbClr val="C7F2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32358" y="4937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0" cap="none" spc="26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TEMPLATE 04 — SECTION DIVIDER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41248" y="6473952"/>
            <a:ext cx="10509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CROSSWALK / BEHAVIORAL INTELLIGENCE ENGINE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893247" y="6409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00000000-1234-1234-1234-123412341234}" type="slidenum"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52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41248" y="26517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0" cap="none" spc="14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SECTION 02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41248" y="30175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The distribution 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dynamic.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41248" y="41148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Where the index goes quiet and where it explodes. Same audience, same study, opposite ends of the retail map.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41248" y="5029200"/>
            <a:ext cx="10509199" cy="10058"/>
          </a:xfrm>
          <a:prstGeom prst="rect">
            <a:avLst/>
          </a:prstGeom>
          <a:solidFill>
            <a:srgbClr val="2739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41248" y="5248656"/>
            <a:ext cx="24352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0" cap="none" spc="6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01  Retail behavior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7C878A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532556" y="5248656"/>
            <a:ext cx="24352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0" cap="none" spc="60" normalizeH="0" baseline="0" noProof="0" dirty="0">
                <a:ln>
                  <a:noFill/>
                </a:ln>
                <a:solidFill>
                  <a:srgbClr val="C7F33F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02  Purchase fingerprint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C7F33F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223864" y="5248656"/>
            <a:ext cx="24352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0" cap="none" spc="6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03  Channel versus format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915171" y="5248656"/>
            <a:ext cx="24352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lang="en-US" sz="1050" kern="0" spc="60" dirty="0">
                <a:solidFill>
                  <a:srgbClr val="7C878A"/>
                </a:solidFill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04</a:t>
            </a:r>
            <a:r>
              <a:rPr kumimoji="0" lang="en-US" sz="1050" b="0" i="0" u="none" strike="noStrike" kern="0" cap="none" spc="6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  The opportunity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ED64FB7-ABB9-99E3-3AE5-B1157CFF1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510235"/>
            <a:ext cx="1216152" cy="1540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510235"/>
            <a:ext cx="1216152" cy="154073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41248" y="566928"/>
            <a:ext cx="77724" cy="77724"/>
          </a:xfrm>
          <a:prstGeom prst="ellipse">
            <a:avLst/>
          </a:prstGeom>
          <a:solidFill>
            <a:srgbClr val="0C161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032358" y="4937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0" cap="none" spc="26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TEMPLATE 05 — STATEMENT, ORCHID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841248" y="6473952"/>
            <a:ext cx="10509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CROSSWALK / BEHAVIORAL INTELLIGENCE ENGINE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10893247" y="6409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00000000-1234-1234-1234-123412341234}" type="slidenum"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53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841248" y="258318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Signal-driven media buying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is replacing audience buying.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841248" y="448056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Advertisers no longer pay for demographics. They pay for intent, for the person who is about to buy. That signal is the scarce input.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6249" b="624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0" name="Copy shadow">
            <a:extLst>
              <a:ext uri="{FF2B5EF4-FFF2-40B4-BE49-F238E27FC236}">
                <a16:creationId xmlns:a16="http://schemas.microsoft.com/office/drawing/2014/main" id="{FAA3C83C-D942-9012-D81E-1B4610B04125}"/>
              </a:ext>
            </a:extLst>
          </p:cNvPr>
          <p:cNvSpPr/>
          <p:nvPr/>
        </p:nvSpPr>
        <p:spPr>
          <a:xfrm>
            <a:off x="0" y="-1"/>
            <a:ext cx="12191695" cy="6858000"/>
          </a:xfrm>
          <a:prstGeom prst="rect">
            <a:avLst/>
          </a:prstGeom>
          <a:gradFill>
            <a:gsLst>
              <a:gs pos="0">
                <a:srgbClr val="081113">
                  <a:alpha val="90000"/>
                </a:srgbClr>
              </a:gs>
              <a:gs pos="25000">
                <a:srgbClr val="081113">
                  <a:alpha val="78000"/>
                </a:srgbClr>
              </a:gs>
              <a:gs pos="50000">
                <a:srgbClr val="081113">
                  <a:alpha val="52000"/>
                </a:srgbClr>
              </a:gs>
              <a:gs pos="75000">
                <a:srgbClr val="081113">
                  <a:alpha val="22000"/>
                </a:srgbClr>
              </a:gs>
              <a:gs pos="100000">
                <a:srgbClr val="081113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Shape 0"/>
          <p:cNvSpPr/>
          <p:nvPr/>
        </p:nvSpPr>
        <p:spPr>
          <a:xfrm>
            <a:off x="841248" y="566928"/>
            <a:ext cx="77724" cy="77724"/>
          </a:xfrm>
          <a:prstGeom prst="ellipse">
            <a:avLst/>
          </a:prstGeom>
          <a:solidFill>
            <a:srgbClr val="C7F2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032358" y="4937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0" cap="none" spc="26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TEMPLATE 06 — WEIGHT PAIR OVER IMAGERY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841248" y="6473952"/>
            <a:ext cx="10509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5C6466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CROSSWALK / BEHAVIORAL INTELLIGENCE ENGINE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10893247" y="6409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00000000-1234-1234-1234-123412341234}" type="slidenum"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C6466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54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378C9469-376E-40D4-0194-39C23F4A1F1F}"/>
              </a:ext>
            </a:extLst>
          </p:cNvPr>
          <p:cNvSpPr/>
          <p:nvPr/>
        </p:nvSpPr>
        <p:spPr>
          <a:xfrm>
            <a:off x="841248" y="44805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ts val="2100"/>
              </a:lnSpc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lang="en-US" sz="1500" dirty="0">
                <a:solidFill>
                  <a:srgbClr val="9AA09B"/>
                </a:solidFill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The pre-purchase research window is where a brand is still winnable.</a:t>
            </a:r>
            <a:endParaRPr lang="en-US" sz="1500" dirty="0">
              <a:solidFill>
                <a:prstClr val="black"/>
              </a:solidFill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1DDEC72D-1D24-ECFE-7004-A20DCBB7F9FE}"/>
              </a:ext>
            </a:extLst>
          </p:cNvPr>
          <p:cNvSpPr/>
          <p:nvPr/>
        </p:nvSpPr>
        <p:spPr>
          <a:xfrm>
            <a:off x="841248" y="2583180"/>
            <a:ext cx="1018106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lnSpc>
                <a:spcPts val="5000"/>
              </a:lnSpc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lang="en-US" sz="4000" dirty="0">
                <a:solidFill>
                  <a:srgbClr val="9AA09B"/>
                </a:solidFill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Retargeting reaches yesterday's customer. </a:t>
            </a:r>
            <a:endParaRPr lang="en-US" sz="4000" dirty="0">
              <a:solidFill>
                <a:prstClr val="black"/>
              </a:solidFill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  <a:p>
            <a:pPr lvl="0">
              <a:lnSpc>
                <a:spcPts val="5000"/>
              </a:lnSpc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lang="en-US" sz="4000" b="1" dirty="0">
                <a:solidFill>
                  <a:srgbClr val="C7F23E"/>
                </a:solidFill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Crosswalk reaches tomorrow's.</a:t>
            </a:r>
            <a:endParaRPr lang="en-US" sz="4000" dirty="0">
              <a:solidFill>
                <a:prstClr val="black"/>
              </a:solidFill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F972537-FE7B-6AC8-9892-EDB16935CE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4295" y="510235"/>
            <a:ext cx="1216152" cy="1540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66928"/>
            <a:ext cx="77724" cy="77724"/>
          </a:xfrm>
          <a:prstGeom prst="ellipse">
            <a:avLst/>
          </a:prstGeom>
          <a:solidFill>
            <a:srgbClr val="5E7E1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32358" y="4937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0" cap="none" spc="26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TEMPLATE 07 — ARGUMENT AND EVIDENCE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4295" y="510235"/>
            <a:ext cx="1216152" cy="1540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" y="6473952"/>
            <a:ext cx="10509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5C6466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CROSSWALK / BEHAVIORAL INTELLIGENCE ENGINE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893247" y="6409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00000000-1234-1234-1234-123412341234}" type="slidenum"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C6466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55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41248" y="96012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You see them on one platform.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41248" y="168798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E7E12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We see them everywhere else.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41248" y="261518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888C89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WHAT YOUR STACK SEES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41248" y="2889504"/>
            <a:ext cx="5126584" cy="10058"/>
          </a:xfrm>
          <a:prstGeom prst="rect">
            <a:avLst/>
          </a:prstGeom>
          <a:solidFill>
            <a:srgbClr val="C9C6B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41248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8C89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—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188720" y="31455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Owned platform viewership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41248" y="3630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8C89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—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188720" y="36484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Nielsen, MRI, comScore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41248" y="4133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8C89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—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188720" y="41513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First-party CRM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41248" y="4636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8C89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—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188720" y="46542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Surveys and focus groups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223864" y="2487168"/>
            <a:ext cx="5126584" cy="3054096"/>
          </a:xfrm>
          <a:prstGeom prst="roundRect">
            <a:avLst>
              <a:gd name="adj" fmla="val 4192"/>
            </a:avLst>
          </a:prstGeom>
          <a:solidFill>
            <a:srgbClr val="0C161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607912" y="2743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WHAT WE ADD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900520" y="3218416"/>
            <a:ext cx="406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30M panelists to date, 10M active daily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900520" y="3767056"/>
            <a:ext cx="406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What subscribers do off-platform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900520" y="4315696"/>
            <a:ext cx="406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What they do before sign-up and after churn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900520" y="4864336"/>
            <a:ext cx="406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Cross-platform overlap on any title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841248" y="60533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8C89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Source: Crosswalk single-source behavioral panel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1F74088-31A9-1E46-3244-A670D9F3C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336" y="3211908"/>
            <a:ext cx="177475" cy="17747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48449C5-2D84-7C6E-2440-466339C04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336" y="3761012"/>
            <a:ext cx="177475" cy="17747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BDF972F-A83D-C5C4-206A-1F9D09C02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336" y="4310116"/>
            <a:ext cx="177475" cy="17747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393492E-D0D8-B244-23D6-7AF89AED0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336" y="4859220"/>
            <a:ext cx="177475" cy="1774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66928"/>
            <a:ext cx="77724" cy="77724"/>
          </a:xfrm>
          <a:prstGeom prst="ellipse">
            <a:avLst/>
          </a:prstGeom>
          <a:solidFill>
            <a:srgbClr val="C7F2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32358" y="4937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0" cap="none" spc="26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TEMPLATE 08 — STAT ROW AND CHART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41248" y="6473952"/>
            <a:ext cx="10509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CROSSWALK / BEHAVIORAL INTELLIGENCE ENGINE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893247" y="6409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00000000-1234-1234-1234-123412341234}" type="slidenum"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56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41248" y="9601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The market just entered</a:t>
            </a:r>
            <a:b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</a:b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signal-driven advertising.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41248" y="2286000"/>
            <a:ext cx="46828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March 2026: the platform opened its ad inventory to third-party demand, formally entering the signal-driven ad ecosystem.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41248" y="398678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190M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286000" y="40599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Monthly ad-tier viewers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41248" y="453542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325M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286000" y="46085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Global paid subscribers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41248" y="508406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~2%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286000" y="51572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Annual churn, best in class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943600" y="4890135"/>
            <a:ext cx="701040" cy="413385"/>
          </a:xfrm>
          <a:prstGeom prst="roundRect">
            <a:avLst>
              <a:gd name="adj" fmla="val 22120"/>
            </a:avLst>
          </a:prstGeom>
          <a:solidFill>
            <a:srgbClr val="7C878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760720" y="4579239"/>
            <a:ext cx="106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$1.4B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760720" y="5394960"/>
            <a:ext cx="106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2024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7C878A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864096" y="4653915"/>
            <a:ext cx="701040" cy="649605"/>
          </a:xfrm>
          <a:prstGeom prst="roundRect">
            <a:avLst>
              <a:gd name="adj" fmla="val 14076"/>
            </a:avLst>
          </a:prstGeom>
          <a:solidFill>
            <a:srgbClr val="7C878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681216" y="4343019"/>
            <a:ext cx="106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$2.2B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681216" y="5394960"/>
            <a:ext cx="106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2025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7C878A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7784592" y="4240530"/>
            <a:ext cx="701040" cy="1062990"/>
          </a:xfrm>
          <a:prstGeom prst="roundRect">
            <a:avLst>
              <a:gd name="adj" fmla="val 13043"/>
            </a:avLst>
          </a:prstGeom>
          <a:solidFill>
            <a:srgbClr val="7C878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601712" y="3929634"/>
            <a:ext cx="106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$3.6B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601712" y="5394960"/>
            <a:ext cx="106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2026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7C878A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8705088" y="3709035"/>
            <a:ext cx="701040" cy="1594485"/>
          </a:xfrm>
          <a:prstGeom prst="roundRect">
            <a:avLst>
              <a:gd name="adj" fmla="val 13043"/>
            </a:avLst>
          </a:prstGeom>
          <a:solidFill>
            <a:srgbClr val="7C878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8522208" y="3398139"/>
            <a:ext cx="106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$5.4B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522208" y="5394960"/>
            <a:ext cx="106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2027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7C878A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9625584" y="3207068"/>
            <a:ext cx="701040" cy="2096453"/>
          </a:xfrm>
          <a:prstGeom prst="roundRect">
            <a:avLst>
              <a:gd name="adj" fmla="val 13043"/>
            </a:avLst>
          </a:prstGeom>
          <a:solidFill>
            <a:srgbClr val="7C878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9442704" y="2896172"/>
            <a:ext cx="106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$7.1B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9442704" y="5394960"/>
            <a:ext cx="106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2028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7C878A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10546080" y="2646045"/>
            <a:ext cx="701040" cy="2657475"/>
          </a:xfrm>
          <a:prstGeom prst="roundRect">
            <a:avLst>
              <a:gd name="adj" fmla="val 13043"/>
            </a:avLst>
          </a:prstGeom>
          <a:solidFill>
            <a:srgbClr val="C7F2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10363200" y="2335149"/>
            <a:ext cx="106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$9.0B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10363200" y="5394960"/>
            <a:ext cx="106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2029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7C878A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5943600" y="5303520"/>
            <a:ext cx="5303520" cy="10058"/>
          </a:xfrm>
          <a:prstGeom prst="rect">
            <a:avLst/>
          </a:prstGeom>
          <a:solidFill>
            <a:srgbClr val="2739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9052560" y="58521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50" b="0" i="0" u="none" strike="noStrike" kern="0" cap="none" spc="12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AD REVENUE TRAJECTORY ($B)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841248" y="6053328"/>
            <a:ext cx="7955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Source: company disclosures; analyst estimates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0AAC191-8A80-6602-5193-1A8D8DB16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510235"/>
            <a:ext cx="1216152" cy="1540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66928"/>
            <a:ext cx="77724" cy="77724"/>
          </a:xfrm>
          <a:prstGeom prst="ellipse">
            <a:avLst/>
          </a:prstGeom>
          <a:solidFill>
            <a:srgbClr val="5E7E1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32358" y="4937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0" cap="none" spc="26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TEMPLATE 09 — HERO CALLOUT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4295" y="510235"/>
            <a:ext cx="1216152" cy="1540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" y="6473952"/>
            <a:ext cx="10509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5C6466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CROSSWALK / BEHAVIORAL INTELLIGENCE ENGINE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893247" y="6409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00000000-1234-1234-1234-123412341234}" type="slidenum"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C6466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57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41248" y="96012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The web is running out of human text.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41248" y="1993392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2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300</a:t>
            </a:r>
            <a:r>
              <a:rPr kumimoji="0" lang="en-US" sz="8200" b="1" i="0" u="none" strike="noStrike" kern="1200" cap="none" spc="0" normalizeH="0" baseline="0" noProof="0" dirty="0">
                <a:ln>
                  <a:noFill/>
                </a:ln>
                <a:solidFill>
                  <a:srgbClr val="5E7E12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</a:t>
            </a:r>
            <a:endParaRPr kumimoji="0" lang="en-US" sz="8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41248" y="32004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tokens, the entire usable stock of quality human text, projected fully consumed between 2026 and 2032.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41248" y="413308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High-quality text goes first, as early as 2026.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Licensing cannot refill a finite stock.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41248" y="517550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For the last frontier model,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data ran out before compute did.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841248" y="60533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8C89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Source: Epoch AI (2024)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pic>
        <p:nvPicPr>
          <p:cNvPr id="30" name="Image 0" descr="chart_datawall.png">
            <a:extLst>
              <a:ext uri="{FF2B5EF4-FFF2-40B4-BE49-F238E27FC236}">
                <a16:creationId xmlns:a16="http://schemas.microsoft.com/office/drawing/2014/main" id="{67AE1658-B2F3-91E0-CDD2-EFFEA391C1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96326" y="1935249"/>
            <a:ext cx="67208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66928"/>
            <a:ext cx="77724" cy="77724"/>
          </a:xfrm>
          <a:prstGeom prst="ellipse">
            <a:avLst/>
          </a:prstGeom>
          <a:solidFill>
            <a:srgbClr val="C7F2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32358" y="4937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0" cap="none" spc="26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TEMPLATE 10 — SIX-CELL PANEL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41248" y="6473952"/>
            <a:ext cx="10509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CROSSWALK / BEHAVIORAL INTELLIGENCE ENGINE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893247" y="6409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00000000-1234-1234-1234-123412341234}" type="slidenum"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58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41248" y="96012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What Crosswalk adds.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41248" y="168798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Six ways AI teams use one consented behavioral panel.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41248" y="2395727"/>
            <a:ext cx="10509199" cy="3647777"/>
          </a:xfrm>
          <a:prstGeom prst="roundRect">
            <a:avLst>
              <a:gd name="adj" fmla="val 3763"/>
            </a:avLst>
          </a:prstGeom>
          <a:solidFill>
            <a:srgbClr val="15252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344314" y="2395727"/>
            <a:ext cx="10058" cy="3647777"/>
          </a:xfrm>
          <a:prstGeom prst="rect">
            <a:avLst/>
          </a:prstGeom>
          <a:solidFill>
            <a:srgbClr val="2739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847381" y="2395727"/>
            <a:ext cx="10058" cy="3647777"/>
          </a:xfrm>
          <a:prstGeom prst="rect">
            <a:avLst/>
          </a:prstGeom>
          <a:solidFill>
            <a:srgbClr val="2739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41248" y="4236284"/>
            <a:ext cx="10509199" cy="10058"/>
          </a:xfrm>
          <a:prstGeom prst="rect">
            <a:avLst/>
          </a:prstGeom>
          <a:solidFill>
            <a:srgbClr val="2739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106424" y="26883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E682FF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01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106424" y="30358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Behavioral RLHF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106424" y="3383280"/>
            <a:ext cx="29827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Replace thumbs up and down with real-world behavioral outcomes: engagement sequences, longitudinal satisfaction, revealed preference.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609490" y="26883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E682FF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02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609490" y="30358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Consumer Reasoning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609490" y="3383280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Train on the decision sequences consumers actually follow: research, comparison, trust signals and purchase triggers.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112557" y="26883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E682FF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03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112557" y="30358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Intent Modeling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112557" y="3383280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Model how intent forms and evolves. Understand what precedes a query and what follows an answer.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106424" y="45256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E682FF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04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106424" y="48730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Real-Time RAG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106424" y="5220544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Ground behavioral queries in live Crosswalk intelligence via API, refreshed daily.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609490" y="45256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E682FF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05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609490" y="48730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Agentic Ground Truth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609490" y="5220544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Commerce agents and autonomous assistants require real-world behavioral reinforcement. Crosswalk is the feedback loop.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8112557" y="45256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E682FF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06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8112557" y="48730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Benchmark Validation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8112557" y="5220544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Validate or refute any claim about consumer behavior, with outputs that hold up to an audit.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920DFD8-6A12-590A-9A20-EDCE3FF95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510235"/>
            <a:ext cx="1216152" cy="1540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66928"/>
            <a:ext cx="77724" cy="77724"/>
          </a:xfrm>
          <a:prstGeom prst="ellipse">
            <a:avLst/>
          </a:prstGeom>
          <a:solidFill>
            <a:srgbClr val="5E7E1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32358" y="4937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0" cap="none" spc="26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TEMPLATE 11 — FOUR-STEP PROCESS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510235"/>
            <a:ext cx="1216152" cy="1540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" y="6473952"/>
            <a:ext cx="10509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5C6466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CROSSWALK / BEHAVIORAL INTELLIGENCE ENGINE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893247" y="6409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00000000-1234-1234-1234-123412341234}" type="slidenum"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C6466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59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41248" y="2048028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The model sees the prompt.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41248" y="277589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E7E12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We see the journey.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41248" y="3952494"/>
            <a:ext cx="10509199" cy="12802"/>
          </a:xfrm>
          <a:prstGeom prst="rect">
            <a:avLst/>
          </a:prstGeom>
          <a:solidFill>
            <a:srgbClr val="0C161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41248" y="3893058"/>
            <a:ext cx="118872" cy="118872"/>
          </a:xfrm>
          <a:prstGeom prst="ellipse">
            <a:avLst/>
          </a:prstGeom>
          <a:solidFill>
            <a:srgbClr val="5E7E1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41248" y="422681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E7E12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41248" y="4665726"/>
            <a:ext cx="24352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ATTENTION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41248" y="4940046"/>
            <a:ext cx="24352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What people watch, read, scroll, search, open, save, and return to.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532556" y="3893058"/>
            <a:ext cx="118872" cy="118872"/>
          </a:xfrm>
          <a:prstGeom prst="ellipse">
            <a:avLst/>
          </a:prstGeom>
          <a:solidFill>
            <a:srgbClr val="5E7E1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532556" y="422681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E7E12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532556" y="4665726"/>
            <a:ext cx="24352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INTENT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532556" y="4940046"/>
            <a:ext cx="24352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What they compare, revisit, research, add to cart, price-check, and ask about.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223864" y="3893058"/>
            <a:ext cx="118872" cy="118872"/>
          </a:xfrm>
          <a:prstGeom prst="ellipse">
            <a:avLst/>
          </a:prstGeom>
          <a:solidFill>
            <a:srgbClr val="5E7E1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223864" y="422681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E7E12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223864" y="4665726"/>
            <a:ext cx="24352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ACTION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223864" y="4940046"/>
            <a:ext cx="24352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What they buy or abandon, subscribe to or cancel, download, attend and stream.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8915171" y="3893058"/>
            <a:ext cx="118872" cy="118872"/>
          </a:xfrm>
          <a:prstGeom prst="ellipse">
            <a:avLst/>
          </a:prstGeom>
          <a:solidFill>
            <a:srgbClr val="5E7E1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915171" y="422681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E7E12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8915171" y="4665726"/>
            <a:ext cx="24352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AFTEREFFECT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8915171" y="4940046"/>
            <a:ext cx="24352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What changes afterward: loyalty, churn, follow-on purchases, share of time, and next intent.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66928"/>
            <a:ext cx="77724" cy="77724"/>
          </a:xfrm>
          <a:prstGeom prst="ellipse">
            <a:avLst/>
          </a:prstGeom>
          <a:solidFill>
            <a:srgbClr val="5E7E1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32358" y="4937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0" cap="none" spc="26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TEMPLATE 12 — COMPARISON MATRIX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510235"/>
            <a:ext cx="1216152" cy="1540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" y="6473952"/>
            <a:ext cx="10509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5C6466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CROSSWALK / BEHAVIORAL INTELLIGENCE ENGINE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893247" y="6409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00000000-1234-1234-1234-123412341234}" type="slidenum"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C6466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60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41248" y="96012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Signal comparison.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41248" y="168798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Two sources, one column each, one row per capability. The winning column carries the accent.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9" name="Round Same Side Corner Rectangle 8">
            <a:extLst>
              <a:ext uri="{FF2B5EF4-FFF2-40B4-BE49-F238E27FC236}">
                <a16:creationId xmlns:a16="http://schemas.microsoft.com/office/drawing/2014/main" id="{286A124B-310D-6052-6CF2-18AD53F3643F}"/>
              </a:ext>
            </a:extLst>
          </p:cNvPr>
          <p:cNvSpPr/>
          <p:nvPr/>
        </p:nvSpPr>
        <p:spPr>
          <a:xfrm flipV="1">
            <a:off x="841248" y="5336754"/>
            <a:ext cx="10509199" cy="456883"/>
          </a:xfrm>
          <a:prstGeom prst="round2SameRect">
            <a:avLst/>
          </a:prstGeom>
          <a:solidFill>
            <a:srgbClr val="F2F0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0" name="Round Same Side Corner Rectangle 9">
            <a:extLst>
              <a:ext uri="{FF2B5EF4-FFF2-40B4-BE49-F238E27FC236}">
                <a16:creationId xmlns:a16="http://schemas.microsoft.com/office/drawing/2014/main" id="{E0129A5B-E2C6-25B4-F395-4F2F48C1474B}"/>
              </a:ext>
            </a:extLst>
          </p:cNvPr>
          <p:cNvSpPr/>
          <p:nvPr/>
        </p:nvSpPr>
        <p:spPr>
          <a:xfrm>
            <a:off x="841248" y="2209190"/>
            <a:ext cx="10509199" cy="384048"/>
          </a:xfrm>
          <a:prstGeom prst="round2SameRect">
            <a:avLst/>
          </a:prstGeom>
          <a:solidFill>
            <a:srgbClr val="000B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DB8A5753-E9DA-B375-AF12-D107DE3B91E8}"/>
              </a:ext>
            </a:extLst>
          </p:cNvPr>
          <p:cNvSpPr/>
          <p:nvPr/>
        </p:nvSpPr>
        <p:spPr>
          <a:xfrm>
            <a:off x="1005840" y="220919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Signal Type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4B72120D-92CE-0F88-0C7D-DD108E959FE8}"/>
              </a:ext>
            </a:extLst>
          </p:cNvPr>
          <p:cNvSpPr/>
          <p:nvPr/>
        </p:nvSpPr>
        <p:spPr>
          <a:xfrm>
            <a:off x="4114800" y="220919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Amazon Audiences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9D61A082-5CB7-1F12-CFC7-3907AEDBADC2}"/>
              </a:ext>
            </a:extLst>
          </p:cNvPr>
          <p:cNvSpPr/>
          <p:nvPr/>
        </p:nvSpPr>
        <p:spPr>
          <a:xfrm>
            <a:off x="7498080" y="2209190"/>
            <a:ext cx="4016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Crosswalk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39DC62BE-DA66-961E-AF93-039983BDDCC0}"/>
              </a:ext>
            </a:extLst>
          </p:cNvPr>
          <p:cNvSpPr/>
          <p:nvPr/>
        </p:nvSpPr>
        <p:spPr>
          <a:xfrm>
            <a:off x="841248" y="2593238"/>
            <a:ext cx="10509199" cy="457200"/>
          </a:xfrm>
          <a:prstGeom prst="rect">
            <a:avLst/>
          </a:prstGeom>
          <a:solidFill>
            <a:srgbClr val="F1F0E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10C2B683-B48D-F33D-8110-54C3D3836BA5}"/>
              </a:ext>
            </a:extLst>
          </p:cNvPr>
          <p:cNvSpPr/>
          <p:nvPr/>
        </p:nvSpPr>
        <p:spPr>
          <a:xfrm>
            <a:off x="1005840" y="259323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Purchase history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3455983A-66AB-38D9-CE03-9971146F8B7E}"/>
              </a:ext>
            </a:extLst>
          </p:cNvPr>
          <p:cNvSpPr/>
          <p:nvPr/>
        </p:nvSpPr>
        <p:spPr>
          <a:xfrm>
            <a:off x="4114800" y="259323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C6466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Amazon transactions only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80C00C04-C2A0-2E7C-0C5C-922BF43AD256}"/>
              </a:ext>
            </a:extLst>
          </p:cNvPr>
          <p:cNvSpPr/>
          <p:nvPr/>
        </p:nvSpPr>
        <p:spPr>
          <a:xfrm>
            <a:off x="1005840" y="305043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Product search intent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700D5074-E7D4-4876-CBE6-DD65ED155B85}"/>
              </a:ext>
            </a:extLst>
          </p:cNvPr>
          <p:cNvSpPr/>
          <p:nvPr/>
        </p:nvSpPr>
        <p:spPr>
          <a:xfrm>
            <a:off x="4114800" y="305043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C6466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Amazon.com searches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45140EC7-F91B-441B-8149-A3A1269FCB59}"/>
              </a:ext>
            </a:extLst>
          </p:cNvPr>
          <p:cNvSpPr/>
          <p:nvPr/>
        </p:nvSpPr>
        <p:spPr>
          <a:xfrm>
            <a:off x="841248" y="3507638"/>
            <a:ext cx="10509199" cy="457200"/>
          </a:xfrm>
          <a:prstGeom prst="rect">
            <a:avLst/>
          </a:prstGeom>
          <a:solidFill>
            <a:srgbClr val="F1F0E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964F669C-8170-4815-7551-406D91925206}"/>
              </a:ext>
            </a:extLst>
          </p:cNvPr>
          <p:cNvSpPr/>
          <p:nvPr/>
        </p:nvSpPr>
        <p:spPr>
          <a:xfrm>
            <a:off x="1005840" y="350763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Brand comparison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1D20992C-2307-3573-AB03-01D2571C7070}"/>
              </a:ext>
            </a:extLst>
          </p:cNvPr>
          <p:cNvSpPr/>
          <p:nvPr/>
        </p:nvSpPr>
        <p:spPr>
          <a:xfrm>
            <a:off x="4114800" y="350763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C6466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Limited to Amazon marketplace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C8898F98-EBA5-843C-38A2-1CB69626BE44}"/>
              </a:ext>
            </a:extLst>
          </p:cNvPr>
          <p:cNvSpPr/>
          <p:nvPr/>
        </p:nvSpPr>
        <p:spPr>
          <a:xfrm>
            <a:off x="1005840" y="396483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Pre-purchase research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1DDB7384-20AB-DAE9-8D76-69D52FBDCC67}"/>
              </a:ext>
            </a:extLst>
          </p:cNvPr>
          <p:cNvSpPr/>
          <p:nvPr/>
        </p:nvSpPr>
        <p:spPr>
          <a:xfrm>
            <a:off x="4114800" y="396483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C6466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✗  Not available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F5E2A3CB-EED1-1C52-F1BA-933E38CBD869}"/>
              </a:ext>
            </a:extLst>
          </p:cNvPr>
          <p:cNvSpPr/>
          <p:nvPr/>
        </p:nvSpPr>
        <p:spPr>
          <a:xfrm>
            <a:off x="841248" y="4422038"/>
            <a:ext cx="10509199" cy="457200"/>
          </a:xfrm>
          <a:prstGeom prst="rect">
            <a:avLst/>
          </a:prstGeom>
          <a:solidFill>
            <a:srgbClr val="F1F0E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7FB53B0C-27D3-A733-D588-C2F3A6A7E004}"/>
              </a:ext>
            </a:extLst>
          </p:cNvPr>
          <p:cNvSpPr/>
          <p:nvPr/>
        </p:nvSpPr>
        <p:spPr>
          <a:xfrm>
            <a:off x="1005840" y="442203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Competitive media usage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4F079FB1-AC36-1C5E-8B8B-BF6DFFCBF486}"/>
              </a:ext>
            </a:extLst>
          </p:cNvPr>
          <p:cNvSpPr/>
          <p:nvPr/>
        </p:nvSpPr>
        <p:spPr>
          <a:xfrm>
            <a:off x="4114800" y="442203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C6466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Prime Video only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661B536-9BF9-FF92-1275-EACF82E9FFFC}"/>
              </a:ext>
            </a:extLst>
          </p:cNvPr>
          <p:cNvSpPr/>
          <p:nvPr/>
        </p:nvSpPr>
        <p:spPr>
          <a:xfrm>
            <a:off x="1005840" y="487923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Churn / subscription flow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226A5F0-FCEA-7915-33A4-4F10B21AD6FC}"/>
              </a:ext>
            </a:extLst>
          </p:cNvPr>
          <p:cNvSpPr/>
          <p:nvPr/>
        </p:nvSpPr>
        <p:spPr>
          <a:xfrm>
            <a:off x="4114800" y="487923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C6466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✗  Not available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FF6E5E34-39A9-97AF-5BB6-906E23D964E3}"/>
              </a:ext>
            </a:extLst>
          </p:cNvPr>
          <p:cNvSpPr/>
          <p:nvPr/>
        </p:nvSpPr>
        <p:spPr>
          <a:xfrm>
            <a:off x="1005840" y="533643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Emerging trend detection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D406C84C-D002-D9DE-C5D7-9F4EB935DE5D}"/>
              </a:ext>
            </a:extLst>
          </p:cNvPr>
          <p:cNvSpPr/>
          <p:nvPr/>
        </p:nvSpPr>
        <p:spPr>
          <a:xfrm>
            <a:off x="4114800" y="533643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C6466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✗  Not available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FD2171E1-8CB7-C26E-8EB6-F77E36645C5E}"/>
              </a:ext>
            </a:extLst>
          </p:cNvPr>
          <p:cNvSpPr/>
          <p:nvPr/>
        </p:nvSpPr>
        <p:spPr>
          <a:xfrm>
            <a:off x="841248" y="5907024"/>
            <a:ext cx="682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1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Key insight:  </a:t>
            </a:r>
            <a:r>
              <a:rPr kumimoji="0" lang="en-US" sz="1150" b="0" u="none" strike="noStrike" kern="1200" cap="none" spc="0" normalizeH="0" baseline="0" noProof="0" dirty="0">
                <a:ln>
                  <a:noFill/>
                </a:ln>
                <a:solidFill>
                  <a:srgbClr val="5C6466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Amazon tells advertisers who already bought. Crosswalk tells advertisers who is about to buy. The difference between retargeting yesterday's customer and capturing tomorrow's.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8BBA95A1-4D26-C093-4CF0-095B1220E0E7}"/>
              </a:ext>
            </a:extLst>
          </p:cNvPr>
          <p:cNvSpPr/>
          <p:nvPr/>
        </p:nvSpPr>
        <p:spPr>
          <a:xfrm>
            <a:off x="7498080" y="2593238"/>
            <a:ext cx="3497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E7E12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Cross-platform e-commerce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F888A94B-D2A8-8EDF-2955-B7A77EEEBF54}"/>
              </a:ext>
            </a:extLst>
          </p:cNvPr>
          <p:cNvSpPr/>
          <p:nvPr/>
        </p:nvSpPr>
        <p:spPr>
          <a:xfrm>
            <a:off x="7498080" y="3050438"/>
            <a:ext cx="3497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E7E12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Open-web, social, AI tools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B0E7D804-B7C7-CADF-7883-58623CB31F1C}"/>
              </a:ext>
            </a:extLst>
          </p:cNvPr>
          <p:cNvSpPr/>
          <p:nvPr/>
        </p:nvSpPr>
        <p:spPr>
          <a:xfrm>
            <a:off x="7498080" y="3507638"/>
            <a:ext cx="3497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E7E12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Cross-brand, cross-category migration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38F795AA-7030-01C2-346C-2DE0B104F1B8}"/>
              </a:ext>
            </a:extLst>
          </p:cNvPr>
          <p:cNvSpPr/>
          <p:nvPr/>
        </p:nvSpPr>
        <p:spPr>
          <a:xfrm>
            <a:off x="7498080" y="3964838"/>
            <a:ext cx="3497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E7E12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Longitudinal behavioral tracking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F5D2DCC6-0EBD-30A8-FD7C-F43D3FEF02CD}"/>
              </a:ext>
            </a:extLst>
          </p:cNvPr>
          <p:cNvSpPr/>
          <p:nvPr/>
        </p:nvSpPr>
        <p:spPr>
          <a:xfrm>
            <a:off x="7498080" y="4422038"/>
            <a:ext cx="3497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E7E12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All streaming, audio, social platforms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7" name="Text 27">
            <a:extLst>
              <a:ext uri="{FF2B5EF4-FFF2-40B4-BE49-F238E27FC236}">
                <a16:creationId xmlns:a16="http://schemas.microsoft.com/office/drawing/2014/main" id="{ECE81B03-B6C7-4FF2-624A-0928C5F0FBE3}"/>
              </a:ext>
            </a:extLst>
          </p:cNvPr>
          <p:cNvSpPr/>
          <p:nvPr/>
        </p:nvSpPr>
        <p:spPr>
          <a:xfrm>
            <a:off x="7498080" y="4879238"/>
            <a:ext cx="3497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E7E12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Real-time platform switching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5FA5886B-744F-70FF-A6F7-5297561FCDD8}"/>
              </a:ext>
            </a:extLst>
          </p:cNvPr>
          <p:cNvSpPr/>
          <p:nvPr/>
        </p:nvSpPr>
        <p:spPr>
          <a:xfrm>
            <a:off x="7498080" y="5336438"/>
            <a:ext cx="3497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E7E12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Early behavioral shift signals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66928"/>
            <a:ext cx="77724" cy="77724"/>
          </a:xfrm>
          <a:prstGeom prst="ellipse">
            <a:avLst/>
          </a:prstGeom>
          <a:solidFill>
            <a:srgbClr val="C7F2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32358" y="4937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0" cap="none" spc="26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TEMPLATE 13 — RANKED INDEX LIST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41248" y="6473952"/>
            <a:ext cx="10509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CROSSWALK / BEHAVIORAL INTELLIGENCE ENGINE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893247" y="6409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00000000-1234-1234-1234-123412341234}" type="slidenum"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61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41248" y="96012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Ranked by index.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41248" y="1687982"/>
            <a:ext cx="10509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Every entry above a stated penetration floor, ranked by index. Stating the floor shows the list is complete.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41248" y="25786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Cartoons &amp; animation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624328" y="2628900"/>
            <a:ext cx="1874520" cy="155448"/>
          </a:xfrm>
          <a:prstGeom prst="roundRect">
            <a:avLst>
              <a:gd name="adj" fmla="val 50000"/>
            </a:avLst>
          </a:prstGeom>
          <a:solidFill>
            <a:srgbClr val="3B3D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624328" y="2628900"/>
            <a:ext cx="1766735" cy="155448"/>
          </a:xfrm>
          <a:prstGeom prst="roundRect">
            <a:avLst>
              <a:gd name="adj" fmla="val 50000"/>
            </a:avLst>
          </a:prstGeom>
          <a:solidFill>
            <a:srgbClr val="C7F2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608576" y="257860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377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142326" y="25786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50" b="0" i="0" u="none" strike="noStrike" kern="0" cap="none" spc="6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79.1% pen.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9AA09B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41248" y="2962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Comics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624328" y="3012948"/>
            <a:ext cx="1874520" cy="155448"/>
          </a:xfrm>
          <a:prstGeom prst="roundRect">
            <a:avLst>
              <a:gd name="adj" fmla="val 50000"/>
            </a:avLst>
          </a:prstGeom>
          <a:solidFill>
            <a:srgbClr val="3B3D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2624328" y="3012948"/>
            <a:ext cx="1354341" cy="155448"/>
          </a:xfrm>
          <a:prstGeom prst="roundRect">
            <a:avLst>
              <a:gd name="adj" fmla="val 50000"/>
            </a:avLst>
          </a:prstGeom>
          <a:solidFill>
            <a:srgbClr val="C7F2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608576" y="296265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289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142326" y="29626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50" b="0" i="0" u="none" strike="noStrike" kern="0" cap="none" spc="6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52.1% pen.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9AA09B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41248" y="33467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Anime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2624328" y="3396996"/>
            <a:ext cx="1874520" cy="155448"/>
          </a:xfrm>
          <a:prstGeom prst="roundRect">
            <a:avLst>
              <a:gd name="adj" fmla="val 50000"/>
            </a:avLst>
          </a:prstGeom>
          <a:solidFill>
            <a:srgbClr val="3B3D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2624328" y="3396996"/>
            <a:ext cx="1246556" cy="155448"/>
          </a:xfrm>
          <a:prstGeom prst="roundRect">
            <a:avLst>
              <a:gd name="adj" fmla="val 50000"/>
            </a:avLst>
          </a:prstGeom>
          <a:solidFill>
            <a:srgbClr val="C7F2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608576" y="334670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266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142326" y="33467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50" b="0" i="0" u="none" strike="noStrike" kern="0" cap="none" spc="6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58.4% pen.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9AA09B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841248" y="37307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Drop culture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2624328" y="3781044"/>
            <a:ext cx="1874520" cy="155448"/>
          </a:xfrm>
          <a:prstGeom prst="roundRect">
            <a:avLst>
              <a:gd name="adj" fmla="val 50000"/>
            </a:avLst>
          </a:prstGeom>
          <a:solidFill>
            <a:srgbClr val="3B3D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2624328" y="3781044"/>
            <a:ext cx="1026300" cy="155448"/>
          </a:xfrm>
          <a:prstGeom prst="roundRect">
            <a:avLst>
              <a:gd name="adj" fmla="val 50000"/>
            </a:avLst>
          </a:prstGeom>
          <a:solidFill>
            <a:srgbClr val="C7F2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608576" y="373075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219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142326" y="3730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50" b="0" i="0" u="none" strike="noStrike" kern="0" cap="none" spc="6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25.2% pen.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9AA09B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841248" y="41148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Drawing &amp; sketching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2624328" y="4165092"/>
            <a:ext cx="1874520" cy="155448"/>
          </a:xfrm>
          <a:prstGeom prst="roundRect">
            <a:avLst>
              <a:gd name="adj" fmla="val 50000"/>
            </a:avLst>
          </a:prstGeom>
          <a:solidFill>
            <a:srgbClr val="3B3D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2624328" y="4165092"/>
            <a:ext cx="951319" cy="155448"/>
          </a:xfrm>
          <a:prstGeom prst="roundRect">
            <a:avLst>
              <a:gd name="adj" fmla="val 50000"/>
            </a:avLst>
          </a:prstGeom>
          <a:solidFill>
            <a:srgbClr val="C7F2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608576" y="411480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203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5142326" y="4114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50" b="0" i="0" u="none" strike="noStrike" kern="0" cap="none" spc="6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21.5% pen.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9AA09B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841248" y="44988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LGBTQ+ life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2624328" y="4549140"/>
            <a:ext cx="1874520" cy="155448"/>
          </a:xfrm>
          <a:prstGeom prst="roundRect">
            <a:avLst>
              <a:gd name="adj" fmla="val 50000"/>
            </a:avLst>
          </a:prstGeom>
          <a:solidFill>
            <a:srgbClr val="3B3D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2624328" y="4549140"/>
            <a:ext cx="885711" cy="155448"/>
          </a:xfrm>
          <a:prstGeom prst="roundRect">
            <a:avLst>
              <a:gd name="adj" fmla="val 50000"/>
            </a:avLst>
          </a:prstGeom>
          <a:solidFill>
            <a:srgbClr val="C7F2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4608576" y="449884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189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5142326" y="44988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50" b="0" i="0" u="none" strike="noStrike" kern="0" cap="none" spc="6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42.8% pen.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9AA09B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547258" y="25786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Manga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8125618" y="2628900"/>
            <a:ext cx="1874520" cy="155448"/>
          </a:xfrm>
          <a:prstGeom prst="roundRect">
            <a:avLst>
              <a:gd name="adj" fmla="val 50000"/>
            </a:avLst>
          </a:prstGeom>
          <a:solidFill>
            <a:srgbClr val="3B3D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8125618" y="2628900"/>
            <a:ext cx="1373086" cy="155448"/>
          </a:xfrm>
          <a:prstGeom prst="roundRect">
            <a:avLst>
              <a:gd name="adj" fmla="val 50000"/>
            </a:avLst>
          </a:prstGeom>
          <a:solidFill>
            <a:srgbClr val="C7F2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10109866" y="257860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293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10643616" y="25786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50" b="0" i="0" u="none" strike="noStrike" kern="0" cap="none" spc="6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38.9% pen.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9AA09B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6547258" y="2962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Goth style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8125618" y="3012948"/>
            <a:ext cx="1874520" cy="155448"/>
          </a:xfrm>
          <a:prstGeom prst="roundRect">
            <a:avLst>
              <a:gd name="adj" fmla="val 50000"/>
            </a:avLst>
          </a:prstGeom>
          <a:solidFill>
            <a:srgbClr val="3B3D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8125618" y="3012948"/>
            <a:ext cx="1269987" cy="155448"/>
          </a:xfrm>
          <a:prstGeom prst="roundRect">
            <a:avLst>
              <a:gd name="adj" fmla="val 50000"/>
            </a:avLst>
          </a:prstGeom>
          <a:solidFill>
            <a:srgbClr val="E682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10109866" y="296265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E682FF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271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10643616" y="29626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50" b="0" i="0" u="none" strike="noStrike" kern="0" cap="none" spc="6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38.6% pen.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9AA09B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6547258" y="33467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LGBTQ+ activism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8125618" y="3396996"/>
            <a:ext cx="1874520" cy="155448"/>
          </a:xfrm>
          <a:prstGeom prst="roundRect">
            <a:avLst>
              <a:gd name="adj" fmla="val 50000"/>
            </a:avLst>
          </a:prstGeom>
          <a:solidFill>
            <a:srgbClr val="3B3D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8125618" y="3396996"/>
            <a:ext cx="1026300" cy="155448"/>
          </a:xfrm>
          <a:prstGeom prst="roundRect">
            <a:avLst>
              <a:gd name="adj" fmla="val 50000"/>
            </a:avLst>
          </a:prstGeom>
          <a:solidFill>
            <a:srgbClr val="E682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10109866" y="334670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E682FF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219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10643616" y="33467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50" b="0" i="0" u="none" strike="noStrike" kern="0" cap="none" spc="6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37.9% pen.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9AA09B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6547258" y="37307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Nerd culture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5" name="Shape 52"/>
          <p:cNvSpPr/>
          <p:nvPr/>
        </p:nvSpPr>
        <p:spPr>
          <a:xfrm>
            <a:off x="8125618" y="3781044"/>
            <a:ext cx="1874520" cy="155448"/>
          </a:xfrm>
          <a:prstGeom prst="roundRect">
            <a:avLst>
              <a:gd name="adj" fmla="val 50000"/>
            </a:avLst>
          </a:prstGeom>
          <a:solidFill>
            <a:srgbClr val="3B3D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8125618" y="3781044"/>
            <a:ext cx="956005" cy="155448"/>
          </a:xfrm>
          <a:prstGeom prst="roundRect">
            <a:avLst>
              <a:gd name="adj" fmla="val 50000"/>
            </a:avLst>
          </a:prstGeom>
          <a:solidFill>
            <a:srgbClr val="C7F2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10109866" y="373075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204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10643616" y="3730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50" b="0" i="0" u="none" strike="noStrike" kern="0" cap="none" spc="6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34.1% pen.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9AA09B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6547258" y="41148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Teen lifestyle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8125618" y="4165092"/>
            <a:ext cx="1874520" cy="155448"/>
          </a:xfrm>
          <a:prstGeom prst="roundRect">
            <a:avLst>
              <a:gd name="adj" fmla="val 50000"/>
            </a:avLst>
          </a:prstGeom>
          <a:solidFill>
            <a:srgbClr val="3B3D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1" name="Shape 58"/>
          <p:cNvSpPr/>
          <p:nvPr/>
        </p:nvSpPr>
        <p:spPr>
          <a:xfrm>
            <a:off x="8125618" y="4165092"/>
            <a:ext cx="932574" cy="155448"/>
          </a:xfrm>
          <a:prstGeom prst="roundRect">
            <a:avLst>
              <a:gd name="adj" fmla="val 50000"/>
            </a:avLst>
          </a:prstGeom>
          <a:solidFill>
            <a:srgbClr val="C7F2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10109866" y="411480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199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10643616" y="4114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50" b="0" i="0" u="none" strike="noStrike" kern="0" cap="none" spc="6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33.6% pen.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9AA09B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6547258" y="44988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Writing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8125618" y="4549140"/>
            <a:ext cx="1874520" cy="155448"/>
          </a:xfrm>
          <a:prstGeom prst="roundRect">
            <a:avLst>
              <a:gd name="adj" fmla="val 50000"/>
            </a:avLst>
          </a:prstGeom>
          <a:solidFill>
            <a:srgbClr val="3B3D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6" name="Shape 63"/>
          <p:cNvSpPr/>
          <p:nvPr/>
        </p:nvSpPr>
        <p:spPr>
          <a:xfrm>
            <a:off x="8125618" y="4549140"/>
            <a:ext cx="876338" cy="155448"/>
          </a:xfrm>
          <a:prstGeom prst="roundRect">
            <a:avLst>
              <a:gd name="adj" fmla="val 50000"/>
            </a:avLst>
          </a:prstGeom>
          <a:solidFill>
            <a:srgbClr val="C7F2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10109866" y="449884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187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8" name="Text 65"/>
          <p:cNvSpPr/>
          <p:nvPr/>
        </p:nvSpPr>
        <p:spPr>
          <a:xfrm>
            <a:off x="10643616" y="44988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50" b="0" i="0" u="none" strike="noStrike" kern="0" cap="none" spc="6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26.6% pen.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9AA09B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9" name="Shape 66"/>
          <p:cNvSpPr/>
          <p:nvPr/>
        </p:nvSpPr>
        <p:spPr>
          <a:xfrm>
            <a:off x="841248" y="5029200"/>
            <a:ext cx="10509199" cy="749808"/>
          </a:xfrm>
          <a:prstGeom prst="roundRect">
            <a:avLst>
              <a:gd name="adj" fmla="val 13333"/>
            </a:avLst>
          </a:prstGeom>
          <a:gradFill>
            <a:gsLst>
              <a:gs pos="0">
                <a:srgbClr val="15252A">
                  <a:alpha val="65642"/>
                </a:srgbClr>
              </a:gs>
              <a:gs pos="99000">
                <a:srgbClr val="061112">
                  <a:alpha val="75000"/>
                </a:srgbClr>
              </a:gs>
            </a:gsLst>
            <a:lin ang="13200000" scaled="0"/>
          </a:gra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1097280" y="51846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THE AVID SIGNAL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1097280" y="5385816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Depth intensifies specificity rather than diluting it. Nerd culture runs 204 across the base and 406 among avid fans. Orchid marks the identity rows.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14CB3A12-9779-6BBE-4685-A0BA7EFB4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510235"/>
            <a:ext cx="1216152" cy="15407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66928"/>
            <a:ext cx="77724" cy="77724"/>
          </a:xfrm>
          <a:prstGeom prst="ellipse">
            <a:avLst/>
          </a:prstGeom>
          <a:solidFill>
            <a:srgbClr val="5E7E1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32358" y="4937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0" cap="none" spc="26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TEMPLATE 14 — NUMBERED ROWS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510235"/>
            <a:ext cx="1216152" cy="1540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" y="6473952"/>
            <a:ext cx="10509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5C6466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CROSSWALK / BEHAVIORAL INTELLIGENCE ENGINE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893247" y="6409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00000000-1234-1234-1234-123412341234}" type="slidenum"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C6466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62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41248" y="96012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Sell the audience. Not just the show.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41248" y="168798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The same three products, reframed for ad sales.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41248" y="2743200"/>
            <a:ext cx="10509199" cy="10058"/>
          </a:xfrm>
          <a:prstGeom prst="rect">
            <a:avLst/>
          </a:prstGeom>
          <a:solidFill>
            <a:srgbClr val="C9C6B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41248" y="29443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E7E12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01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600200" y="296265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400" b="1" i="0" u="none" strike="noStrike" kern="0" cap="none" spc="5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PROFILE IQ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453128" y="296265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PRECISION AUDIENCE PACKAGES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571232" y="2944368"/>
            <a:ext cx="3776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Flagship-drama audience: 32M, male skew, luxury-auto intenders, Austin and Miami over-index. Pitch the endemic brands with verified proof.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41248" y="3749040"/>
            <a:ext cx="10509199" cy="10058"/>
          </a:xfrm>
          <a:prstGeom prst="rect">
            <a:avLst/>
          </a:prstGeom>
          <a:solidFill>
            <a:srgbClr val="C9C6B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41248" y="39502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E7E12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02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600200" y="396849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400" b="1" i="0" u="none" strike="noStrike" kern="0" cap="none" spc="5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SUBSCRIBER IQ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453128" y="39684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PROVE UNIQUE REACH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571232" y="3950208"/>
            <a:ext cx="3776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Show advertisers the audience their competitors' buys cannot touch. Non-duplicated reach, on demand, from more than 50K homes.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841248" y="4754880"/>
            <a:ext cx="10509199" cy="10058"/>
          </a:xfrm>
          <a:prstGeom prst="rect">
            <a:avLst/>
          </a:prstGeom>
          <a:solidFill>
            <a:srgbClr val="C9C6B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41248" y="4956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E7E12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03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600200" y="497433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400" b="1" i="0" u="none" strike="noStrike" kern="0" cap="none" spc="5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DIGITAL JOURNEY IQ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453128" y="497433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CLOSE THE LOOP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571232" y="4956048"/>
            <a:ext cx="3776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A 30-second spot ran in the tentpole. Here is the lift in branded search and retail visits in the week after.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841248" y="5760720"/>
            <a:ext cx="10509199" cy="10058"/>
          </a:xfrm>
          <a:prstGeom prst="rect">
            <a:avLst/>
          </a:prstGeom>
          <a:solidFill>
            <a:srgbClr val="C9C6B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66928"/>
            <a:ext cx="77724" cy="77724"/>
          </a:xfrm>
          <a:prstGeom prst="ellipse">
            <a:avLst/>
          </a:prstGeom>
          <a:solidFill>
            <a:srgbClr val="5E7E1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32358" y="4937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0" cap="none" spc="26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TEMPLATE 15 — THIN-NUMERAL LIST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510235"/>
            <a:ext cx="1216152" cy="1540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" y="6473952"/>
            <a:ext cx="10509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5C6466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CROSSWALK / BEHAVIORAL INTELLIGENCE ENGINE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893247" y="6409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00000000-1234-1234-1234-123412341234}" type="slidenum"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C6466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63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41248" y="96012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Noise to Knowledge.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41248" y="21031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Crosswalk is a behavioral intelligence platform built on ethically sourced, zero-party consented data. We do not ask people what they like. We observe what they do: every click, view, search, watch, and purchase across a single consented digital ecosystem, resolved to one person over time.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41248" y="411480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10M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41248" y="46451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Daily active panel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597032" y="411480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5YR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597032" y="46451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Data archive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352816" y="411480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99.2%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352816" y="46451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Human verified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41248" y="512064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82TB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41248" y="5650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Data lake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597032" y="512064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1B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2597032" y="5650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New rows / week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352816" y="512064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Daily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352816" y="5650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Refresh cadence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126480" y="2103120"/>
            <a:ext cx="5221224" cy="914400"/>
          </a:xfrm>
          <a:prstGeom prst="roundRect">
            <a:avLst>
              <a:gd name="adj" fmla="val 12000"/>
            </a:avLst>
          </a:prstGeom>
          <a:solidFill>
            <a:srgbClr val="E1E0D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400800" y="23408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5E7E12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01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40664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1" i="0" u="none" strike="noStrike" kern="0" cap="none" spc="5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CONSENTED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406640" y="2560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Zero-party. Opted in, transparent, revocable. No inference, no scraping, no third-party cookies.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6126480" y="3145536"/>
            <a:ext cx="5221224" cy="914400"/>
          </a:xfrm>
          <a:prstGeom prst="roundRect">
            <a:avLst>
              <a:gd name="adj" fmla="val 12000"/>
            </a:avLst>
          </a:prstGeom>
          <a:solidFill>
            <a:srgbClr val="E1E0D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400800" y="3383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5E7E12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02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406640" y="3310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1" i="0" u="none" strike="noStrike" kern="0" cap="none" spc="5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SINGLE-SOURCE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7406640" y="3602736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Browse, search, stream, and buy observed on the same person, so behavior connects instead of correlating.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6126480" y="4187952"/>
            <a:ext cx="5221224" cy="914400"/>
          </a:xfrm>
          <a:prstGeom prst="roundRect">
            <a:avLst>
              <a:gd name="adj" fmla="val 12000"/>
            </a:avLst>
          </a:prstGeom>
          <a:solidFill>
            <a:srgbClr val="E1E0D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400800" y="44256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5E7E12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03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7406640" y="4352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1" i="0" u="none" strike="noStrike" kern="0" cap="none" spc="5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PROJECTABLE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406640" y="464515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Every study projects to a US population base, so an index becomes a channel plan and a unit forecast.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6126480" y="5230368"/>
            <a:ext cx="5221224" cy="914400"/>
          </a:xfrm>
          <a:prstGeom prst="roundRect">
            <a:avLst>
              <a:gd name="adj" fmla="val 12000"/>
            </a:avLst>
          </a:prstGeom>
          <a:solidFill>
            <a:srgbClr val="E1E0D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400800" y="54681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5E7E12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04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7406640" y="5394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1" i="0" u="none" strike="noStrike" kern="0" cap="none" spc="5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GRANULAR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7406640" y="568756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Over 100 behavioral dimensions, from beauty SKUs to convention attendance to charitable giving.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66928"/>
            <a:ext cx="77724" cy="77724"/>
          </a:xfrm>
          <a:prstGeom prst="ellipse">
            <a:avLst/>
          </a:prstGeom>
          <a:solidFill>
            <a:srgbClr val="5E7E1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32358" y="4937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0" cap="none" spc="26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TEMPLATE 16 — OPPOSITE ENDS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510235"/>
            <a:ext cx="1216152" cy="1540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" y="6473952"/>
            <a:ext cx="10509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5C6466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CROSSWALK / BEHAVIORAL INTELLIGENCE ENGINE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893247" y="6409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00000000-1234-1234-1234-123412341234}" type="slidenum"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C6466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64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41248" y="96012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The distribution dynamic.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41248" y="1687982"/>
            <a:ext cx="10509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Left: every retailer above 30% penetration ranked by lowest index. Right: every retailer above 15% ranked by highest. Same audience, same study.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41248" y="2405280"/>
            <a:ext cx="5126584" cy="3017520"/>
          </a:xfrm>
          <a:prstGeom prst="roundRect">
            <a:avLst>
              <a:gd name="adj" fmla="val 4242"/>
            </a:avLst>
          </a:prstGeom>
          <a:solidFill>
            <a:srgbClr val="E1E0D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70432" y="264302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888C89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WHERE THE INDEX GOES QUIET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70432" y="30819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Target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761488" y="3118512"/>
            <a:ext cx="2286000" cy="155448"/>
          </a:xfrm>
          <a:prstGeom prst="roundRect">
            <a:avLst>
              <a:gd name="adj" fmla="val 50000"/>
            </a:avLst>
          </a:prstGeom>
          <a:solidFill>
            <a:srgbClr val="C9C6B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761488" y="3118512"/>
            <a:ext cx="228600" cy="155448"/>
          </a:xfrm>
          <a:prstGeom prst="roundRect">
            <a:avLst>
              <a:gd name="adj" fmla="val 50000"/>
            </a:avLst>
          </a:prstGeom>
          <a:solidFill>
            <a:srgbClr val="A9A79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193792" y="30636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0" cap="none" spc="60" normalizeH="0" baseline="0" noProof="0" dirty="0">
                <a:ln>
                  <a:noFill/>
                </a:ln>
                <a:solidFill>
                  <a:srgbClr val="888C89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70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170432" y="34659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Amazon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2761488" y="3502560"/>
            <a:ext cx="2286000" cy="155448"/>
          </a:xfrm>
          <a:prstGeom prst="roundRect">
            <a:avLst>
              <a:gd name="adj" fmla="val 50000"/>
            </a:avLst>
          </a:prstGeom>
          <a:solidFill>
            <a:srgbClr val="C9C6B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2761488" y="3502560"/>
            <a:ext cx="251460" cy="155448"/>
          </a:xfrm>
          <a:prstGeom prst="roundRect">
            <a:avLst>
              <a:gd name="adj" fmla="val 50000"/>
            </a:avLst>
          </a:prstGeom>
          <a:solidFill>
            <a:srgbClr val="A9A79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193792" y="34476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0" cap="none" spc="60" normalizeH="0" baseline="0" noProof="0" dirty="0">
                <a:ln>
                  <a:noFill/>
                </a:ln>
                <a:solidFill>
                  <a:srgbClr val="888C89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77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170432" y="3850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Costco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2761488" y="3886608"/>
            <a:ext cx="2286000" cy="155448"/>
          </a:xfrm>
          <a:prstGeom prst="roundRect">
            <a:avLst>
              <a:gd name="adj" fmla="val 50000"/>
            </a:avLst>
          </a:prstGeom>
          <a:solidFill>
            <a:srgbClr val="C9C6B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2761488" y="3886608"/>
            <a:ext cx="257991" cy="155448"/>
          </a:xfrm>
          <a:prstGeom prst="roundRect">
            <a:avLst>
              <a:gd name="adj" fmla="val 50000"/>
            </a:avLst>
          </a:prstGeom>
          <a:solidFill>
            <a:srgbClr val="A9A79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193792" y="38317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0" cap="none" spc="60" normalizeH="0" baseline="0" noProof="0" dirty="0">
                <a:ln>
                  <a:noFill/>
                </a:ln>
                <a:solidFill>
                  <a:srgbClr val="888C89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79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170432" y="4234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Walmart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2761488" y="4270656"/>
            <a:ext cx="2286000" cy="155448"/>
          </a:xfrm>
          <a:prstGeom prst="roundRect">
            <a:avLst>
              <a:gd name="adj" fmla="val 50000"/>
            </a:avLst>
          </a:prstGeom>
          <a:solidFill>
            <a:srgbClr val="C9C6B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2761488" y="4270656"/>
            <a:ext cx="284117" cy="155448"/>
          </a:xfrm>
          <a:prstGeom prst="roundRect">
            <a:avLst>
              <a:gd name="adj" fmla="val 50000"/>
            </a:avLst>
          </a:prstGeom>
          <a:solidFill>
            <a:srgbClr val="A9A79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193792" y="42157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0" cap="none" spc="60" normalizeH="0" baseline="0" noProof="0" dirty="0">
                <a:ln>
                  <a:noFill/>
                </a:ln>
                <a:solidFill>
                  <a:srgbClr val="888C89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87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170432" y="46181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Temu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2761488" y="4654704"/>
            <a:ext cx="2286000" cy="155448"/>
          </a:xfrm>
          <a:prstGeom prst="roundRect">
            <a:avLst>
              <a:gd name="adj" fmla="val 50000"/>
            </a:avLst>
          </a:prstGeom>
          <a:solidFill>
            <a:srgbClr val="C9C6B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2761488" y="4654704"/>
            <a:ext cx="284117" cy="155448"/>
          </a:xfrm>
          <a:prstGeom prst="roundRect">
            <a:avLst>
              <a:gd name="adj" fmla="val 50000"/>
            </a:avLst>
          </a:prstGeom>
          <a:solidFill>
            <a:srgbClr val="A9A79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193792" y="45998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0" cap="none" spc="60" normalizeH="0" baseline="0" noProof="0" dirty="0">
                <a:ln>
                  <a:noFill/>
                </a:ln>
                <a:solidFill>
                  <a:srgbClr val="888C89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87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1170432" y="50021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Walgreens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2761488" y="5038752"/>
            <a:ext cx="2286000" cy="155448"/>
          </a:xfrm>
          <a:prstGeom prst="roundRect">
            <a:avLst>
              <a:gd name="adj" fmla="val 50000"/>
            </a:avLst>
          </a:prstGeom>
          <a:solidFill>
            <a:srgbClr val="C9C6B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2761488" y="5038752"/>
            <a:ext cx="284117" cy="155448"/>
          </a:xfrm>
          <a:prstGeom prst="roundRect">
            <a:avLst>
              <a:gd name="adj" fmla="val 50000"/>
            </a:avLst>
          </a:prstGeom>
          <a:solidFill>
            <a:srgbClr val="A9A79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5193792" y="49838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0" cap="none" spc="60" normalizeH="0" baseline="0" noProof="0" dirty="0">
                <a:ln>
                  <a:noFill/>
                </a:ln>
                <a:solidFill>
                  <a:srgbClr val="888C89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87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6223864" y="2405280"/>
            <a:ext cx="5126584" cy="3017520"/>
          </a:xfrm>
          <a:prstGeom prst="roundRect">
            <a:avLst>
              <a:gd name="adj" fmla="val 4242"/>
            </a:avLst>
          </a:prstGeom>
          <a:solidFill>
            <a:srgbClr val="0C161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553048" y="264302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WHERE THE INDEX EXPLODES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553048" y="308193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Spencer's Gifts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8281264" y="3118512"/>
            <a:ext cx="2148840" cy="155448"/>
          </a:xfrm>
          <a:prstGeom prst="roundRect">
            <a:avLst>
              <a:gd name="adj" fmla="val 50000"/>
            </a:avLst>
          </a:prstGeom>
          <a:solidFill>
            <a:srgbClr val="3B3D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8281264" y="3118512"/>
            <a:ext cx="2096654" cy="155448"/>
          </a:xfrm>
          <a:prstGeom prst="roundRect">
            <a:avLst>
              <a:gd name="adj" fmla="val 50000"/>
            </a:avLst>
          </a:prstGeom>
          <a:solidFill>
            <a:srgbClr val="C7F2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10576408" y="3063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683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553048" y="346598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Redbubble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8281264" y="3502560"/>
            <a:ext cx="2148840" cy="155448"/>
          </a:xfrm>
          <a:prstGeom prst="roundRect">
            <a:avLst>
              <a:gd name="adj" fmla="val 50000"/>
            </a:avLst>
          </a:prstGeom>
          <a:solidFill>
            <a:srgbClr val="3B3D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8281264" y="3502560"/>
            <a:ext cx="1556374" cy="155448"/>
          </a:xfrm>
          <a:prstGeom prst="roundRect">
            <a:avLst>
              <a:gd name="adj" fmla="val 50000"/>
            </a:avLst>
          </a:prstGeom>
          <a:solidFill>
            <a:srgbClr val="C7F2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10576408" y="34476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507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6553048" y="38500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Hot Topic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8281264" y="3886608"/>
            <a:ext cx="2148840" cy="155448"/>
          </a:xfrm>
          <a:prstGeom prst="roundRect">
            <a:avLst>
              <a:gd name="adj" fmla="val 50000"/>
            </a:avLst>
          </a:prstGeom>
          <a:solidFill>
            <a:srgbClr val="3B3D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8281264" y="3886608"/>
            <a:ext cx="798141" cy="155448"/>
          </a:xfrm>
          <a:prstGeom prst="roundRect">
            <a:avLst>
              <a:gd name="adj" fmla="val 50000"/>
            </a:avLst>
          </a:prstGeom>
          <a:solidFill>
            <a:srgbClr val="C7F2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10576408" y="38317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260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6553048" y="42340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Depop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8281264" y="4270656"/>
            <a:ext cx="2148840" cy="155448"/>
          </a:xfrm>
          <a:prstGeom prst="roundRect">
            <a:avLst>
              <a:gd name="adj" fmla="val 50000"/>
            </a:avLst>
          </a:prstGeom>
          <a:solidFill>
            <a:srgbClr val="3B3D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8281264" y="4270656"/>
            <a:ext cx="623164" cy="155448"/>
          </a:xfrm>
          <a:prstGeom prst="roundRect">
            <a:avLst>
              <a:gd name="adj" fmla="val 50000"/>
            </a:avLst>
          </a:prstGeom>
          <a:solidFill>
            <a:srgbClr val="C7F2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10576408" y="42157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203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6553048" y="46181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StockX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8281264" y="4654704"/>
            <a:ext cx="2148840" cy="155448"/>
          </a:xfrm>
          <a:prstGeom prst="roundRect">
            <a:avLst>
              <a:gd name="adj" fmla="val 50000"/>
            </a:avLst>
          </a:prstGeom>
          <a:solidFill>
            <a:srgbClr val="3B3D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5" name="Shape 52"/>
          <p:cNvSpPr/>
          <p:nvPr/>
        </p:nvSpPr>
        <p:spPr>
          <a:xfrm>
            <a:off x="8281264" y="4654704"/>
            <a:ext cx="598605" cy="155448"/>
          </a:xfrm>
          <a:prstGeom prst="roundRect">
            <a:avLst>
              <a:gd name="adj" fmla="val 50000"/>
            </a:avLst>
          </a:prstGeom>
          <a:solidFill>
            <a:srgbClr val="C7F2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10576408" y="45998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195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6553048" y="500217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Etsy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8281264" y="5038752"/>
            <a:ext cx="2148840" cy="155448"/>
          </a:xfrm>
          <a:prstGeom prst="roundRect">
            <a:avLst>
              <a:gd name="adj" fmla="val 50000"/>
            </a:avLst>
          </a:prstGeom>
          <a:solidFill>
            <a:srgbClr val="3B3D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9" name="Shape 56"/>
          <p:cNvSpPr/>
          <p:nvPr/>
        </p:nvSpPr>
        <p:spPr>
          <a:xfrm>
            <a:off x="8281264" y="5038752"/>
            <a:ext cx="543350" cy="155448"/>
          </a:xfrm>
          <a:prstGeom prst="roundRect">
            <a:avLst>
              <a:gd name="adj" fmla="val 50000"/>
            </a:avLst>
          </a:prstGeom>
          <a:solidFill>
            <a:srgbClr val="C7F2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10576408" y="49838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177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841248" y="56692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5E7E12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THE COMMERCIAL POINT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841248" y="5925312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Mass retail reaches them; it just does not convert them. Specialty reaches fewer of them but concentrates them 2.6 to 6.8 times over.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66928"/>
            <a:ext cx="77724" cy="77724"/>
          </a:xfrm>
          <a:prstGeom prst="ellipse">
            <a:avLst/>
          </a:prstGeom>
          <a:solidFill>
            <a:srgbClr val="C7F2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32358" y="4937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0" cap="none" spc="26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TEMPLATE 17 — HERO FIGURE AND PROOF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41248" y="6473952"/>
            <a:ext cx="10509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CROSSWALK / BEHAVIORAL INTELLIGENCE ENGINE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893247" y="6409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00000000-1234-1234-1234-123412341234}" type="slidenum"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65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41248" y="9601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Advertisers pay the most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</a:b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for the in-market moment.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41248" y="28346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20-40%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41248" y="41148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CPM premium on pre-purchase intent targeting. The window before the buyer is visible to Amazon or Google.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41248" y="5029200"/>
            <a:ext cx="4480560" cy="10058"/>
          </a:xfrm>
          <a:prstGeom prst="rect">
            <a:avLst/>
          </a:prstGeom>
          <a:solidFill>
            <a:srgbClr val="2739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41248" y="523036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50" b="0" i="0" u="none" strike="noStrike" kern="0" cap="none" spc="12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SOURCE: INDUSTRY CPM BENCHMARKS, 2026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035040" y="2286000"/>
            <a:ext cx="5312664" cy="10058"/>
          </a:xfrm>
          <a:prstGeom prst="rect">
            <a:avLst/>
          </a:prstGeom>
          <a:solidFill>
            <a:srgbClr val="2739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309360" y="2450592"/>
            <a:ext cx="5038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Detected weeks earlier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309360" y="2798064"/>
            <a:ext cx="50383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Post-purchase data is a signal after the fact. Ours is a signal before it.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035040" y="3246120"/>
            <a:ext cx="5312664" cy="10058"/>
          </a:xfrm>
          <a:prstGeom prst="rect">
            <a:avLst/>
          </a:prstGeom>
          <a:solidFill>
            <a:srgbClr val="2739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309360" y="3410712"/>
            <a:ext cx="5038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A verified premium tier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309360" y="3758184"/>
            <a:ext cx="50383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Scored on observed behavior. No lookalike segments.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035040" y="4206240"/>
            <a:ext cx="5312664" cy="10058"/>
          </a:xfrm>
          <a:prstGeom prst="rect">
            <a:avLst/>
          </a:prstGeom>
          <a:solidFill>
            <a:srgbClr val="2739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309360" y="4370832"/>
            <a:ext cx="5038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Native, not intrusive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309360" y="4718304"/>
            <a:ext cx="50383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Intent-matched placement feels relevant, protecting the viewer experience.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035040" y="5166360"/>
            <a:ext cx="5312664" cy="10058"/>
          </a:xfrm>
          <a:prstGeom prst="rect">
            <a:avLst/>
          </a:prstGeom>
          <a:solidFill>
            <a:srgbClr val="2739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309360" y="5330952"/>
            <a:ext cx="5038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Churn-proofed reach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309360" y="5678424"/>
            <a:ext cx="50383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Non-duplicated reach the competitor buys cannot deliver at any price.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035040" y="6126480"/>
            <a:ext cx="5312664" cy="10058"/>
          </a:xfrm>
          <a:prstGeom prst="rect">
            <a:avLst/>
          </a:prstGeom>
          <a:solidFill>
            <a:srgbClr val="2739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DDFCA21-3DFB-2F2A-0C28-C12286791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869" y="2511476"/>
            <a:ext cx="177475" cy="17747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F0CBF8D-3BB1-4936-709B-B714FB751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869" y="3470490"/>
            <a:ext cx="177475" cy="17747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A4356D1-5D09-C41A-32BC-DDDE74A5C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869" y="4429504"/>
            <a:ext cx="177475" cy="17747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663A85F-F689-684D-2D35-7373F47B4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869" y="5388518"/>
            <a:ext cx="177475" cy="17747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D5849DC-5F2A-1595-4DCC-61CA1268AD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4295" y="510235"/>
            <a:ext cx="1216152" cy="15407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l="14857" r="14857"/>
          <a:stretch>
            <a:fillRect/>
          </a:stretch>
        </p:blipFill>
        <p:spPr>
          <a:xfrm>
            <a:off x="0" y="0"/>
            <a:ext cx="7498080" cy="6858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41248" y="96012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Profile IQ.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841248" y="1737360"/>
            <a:ext cx="30412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The audience for any title, talent, or franchise.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841248" y="3014923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WHAT YOU GET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841248" y="3344107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+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1115568" y="3362395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Audience size and demographics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841248" y="3728155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+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1115568" y="3746443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Streaming, brand, and social overlap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841248" y="4112203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+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1115568" y="4130491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Adjacent talent and franchise pull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841248" y="4496251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+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1115568" y="4514539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Over 35 behavioral categories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rcRect l="22524" r="22524"/>
          <a:stretch>
            <a:fillRect/>
          </a:stretch>
        </p:blipFill>
        <p:spPr>
          <a:xfrm>
            <a:off x="7863840" y="960120"/>
            <a:ext cx="3483864" cy="47548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183880" y="12801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50" b="0" i="0" u="none" strike="noStrike" kern="0" cap="none" spc="12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SAMPLE READ  ·  ILLUSTRATIVE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8183880" y="1627632"/>
            <a:ext cx="2834640" cy="10058"/>
          </a:xfrm>
          <a:prstGeom prst="rect">
            <a:avLst/>
          </a:prstGeom>
          <a:solidFill>
            <a:srgbClr val="2739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8183880" y="181051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Top apps used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8183880" y="20299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Gmail, Wiki, USPS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8183880" y="24323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Heavy machinery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8183880" y="2651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John Deere, CAT, Kubota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8183880" y="30540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What they buy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8183880" y="3273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Gillette, Carhartt, Bud Light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8183880" y="367588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Where they shop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8183880" y="38953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Amazon, Walmart, Home Depot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8183880" y="429768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Post-churn destinations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3" name="Text 27"/>
          <p:cNvSpPr/>
          <p:nvPr/>
        </p:nvSpPr>
        <p:spPr>
          <a:xfrm>
            <a:off x="8183880" y="45171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Max, Peacock, Prime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4" name="Text 28"/>
          <p:cNvSpPr/>
          <p:nvPr/>
        </p:nvSpPr>
        <p:spPr>
          <a:xfrm>
            <a:off x="8183880" y="49194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What they drive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5" name="Text 29"/>
          <p:cNvSpPr/>
          <p:nvPr/>
        </p:nvSpPr>
        <p:spPr>
          <a:xfrm>
            <a:off x="8183880" y="5138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Ford, Toyota, Chevy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" name="Shape 0"/>
          <p:cNvSpPr/>
          <p:nvPr/>
        </p:nvSpPr>
        <p:spPr>
          <a:xfrm>
            <a:off x="841248" y="566928"/>
            <a:ext cx="77724" cy="77724"/>
          </a:xfrm>
          <a:prstGeom prst="ellipse">
            <a:avLst/>
          </a:prstGeom>
          <a:solidFill>
            <a:srgbClr val="C7F2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032358" y="4937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0" cap="none" spc="26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TEMPLATE 18 — IMAGE AND SCRIM CARD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41248" y="6473952"/>
            <a:ext cx="10509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CROSSWALK / BEHAVIORAL INTELLIGENCE ENGINE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893247" y="6409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00000000-1234-1234-1234-123412341234}" type="slidenum"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66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0" y="5474659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50" b="0" i="0" u="none" strike="noStrike" kern="0" cap="none" spc="120" normalizeH="0" baseline="0" noProof="0" dirty="0">
                <a:ln>
                  <a:noFill/>
                </a:ln>
                <a:solidFill>
                  <a:srgbClr val="5C7A80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IMAGE  ·  8.200 x 7.500  ·  BLED LEFT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5546FA6-0D46-E3F1-88BA-8729DDE7C1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4295" y="510235"/>
            <a:ext cx="1216152" cy="15407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F1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18CB85-AEC5-1BCB-BE8A-7A6005015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0">
            <a:extLst>
              <a:ext uri="{FF2B5EF4-FFF2-40B4-BE49-F238E27FC236}">
                <a16:creationId xmlns:a16="http://schemas.microsoft.com/office/drawing/2014/main" id="{4AAF106B-6175-1859-0708-91B54FC6F5F2}"/>
              </a:ext>
            </a:extLst>
          </p:cNvPr>
          <p:cNvSpPr/>
          <p:nvPr/>
        </p:nvSpPr>
        <p:spPr>
          <a:xfrm>
            <a:off x="0" y="0"/>
            <a:ext cx="4874261" cy="6858000"/>
          </a:xfrm>
          <a:prstGeom prst="rect">
            <a:avLst/>
          </a:prstGeom>
          <a:solidFill>
            <a:srgbClr val="E9E8E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11F5825D-9760-29BE-2B8E-B7D9523D9A0E}"/>
              </a:ext>
            </a:extLst>
          </p:cNvPr>
          <p:cNvSpPr/>
          <p:nvPr/>
        </p:nvSpPr>
        <p:spPr>
          <a:xfrm>
            <a:off x="6618108" y="6418830"/>
            <a:ext cx="4024175" cy="292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600" b="0" i="0" u="none" strike="noStrike" kern="0" cap="none" spc="-3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One hour. Connected in sequence.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7C878A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B205C258-F632-A6B5-DCDD-0C6CB3DCF3D6}"/>
              </a:ext>
            </a:extLst>
          </p:cNvPr>
          <p:cNvSpPr/>
          <p:nvPr/>
        </p:nvSpPr>
        <p:spPr>
          <a:xfrm>
            <a:off x="841248" y="1665912"/>
            <a:ext cx="4206240" cy="171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We capture </a:t>
            </a:r>
            <a:b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</a:b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the atoms of</a:t>
            </a:r>
            <a:b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</a:b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digital behavior.</a:t>
            </a: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F44E7D68-92BC-DA22-03E0-FA0D4F701946}"/>
              </a:ext>
            </a:extLst>
          </p:cNvPr>
          <p:cNvSpPr/>
          <p:nvPr/>
        </p:nvSpPr>
        <p:spPr>
          <a:xfrm>
            <a:off x="841248" y="4992967"/>
            <a:ext cx="2784821" cy="112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850" b="0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Five prompts. 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850" b="0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No idea a </a:t>
            </a:r>
            <a:r>
              <a:rPr kumimoji="0" lang="en-US" sz="1850" b="1" i="0" u="none" strike="noStrike" kern="1200" cap="none" spc="0" normalizeH="0" baseline="0" noProof="0" dirty="0">
                <a:ln>
                  <a:noFill/>
                </a:ln>
                <a:solidFill>
                  <a:srgbClr val="5F7E1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$6,000 trip</a:t>
            </a:r>
            <a:r>
              <a:rPr kumimoji="0" lang="en-US" sz="1850" b="0" i="0" u="none" strike="noStrike" kern="1200" cap="none" spc="0" normalizeH="0" baseline="0" noProof="0" dirty="0">
                <a:ln>
                  <a:noFill/>
                </a:ln>
                <a:solidFill>
                  <a:srgbClr val="5F7E1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 </a:t>
            </a:r>
            <a:r>
              <a:rPr kumimoji="0" lang="en-US" sz="1850" b="0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was just booked.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FFDE4C7-1CDF-6590-E9A2-4BAF35076C36}"/>
              </a:ext>
            </a:extLst>
          </p:cNvPr>
          <p:cNvSpPr/>
          <p:nvPr/>
        </p:nvSpPr>
        <p:spPr>
          <a:xfrm>
            <a:off x="877824" y="4096689"/>
            <a:ext cx="1234440" cy="0"/>
          </a:xfrm>
          <a:prstGeom prst="line">
            <a:avLst/>
          </a:prstGeom>
          <a:noFill/>
          <a:ln w="12700">
            <a:solidFill>
              <a:srgbClr val="C9C8B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EAEDB354-7AEB-9ED7-7B68-6DD7BF7DC909}"/>
              </a:ext>
            </a:extLst>
          </p:cNvPr>
          <p:cNvSpPr/>
          <p:nvPr/>
        </p:nvSpPr>
        <p:spPr>
          <a:xfrm>
            <a:off x="841248" y="3523577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F736C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Visibility no one else has.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332CDC10-E6DF-A836-6CD1-218848F17125}"/>
              </a:ext>
            </a:extLst>
          </p:cNvPr>
          <p:cNvSpPr/>
          <p:nvPr/>
        </p:nvSpPr>
        <p:spPr>
          <a:xfrm>
            <a:off x="5574423" y="939385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50" b="0" i="0" u="none" strike="noStrike" kern="0" cap="none" spc="10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ID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75467873-6FCD-4EDB-41BD-5EC932857A64}"/>
              </a:ext>
            </a:extLst>
          </p:cNvPr>
          <p:cNvSpPr/>
          <p:nvPr/>
        </p:nvSpPr>
        <p:spPr>
          <a:xfrm>
            <a:off x="6214503" y="939385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50" b="0" i="0" u="none" strike="noStrike" kern="0" cap="none" spc="10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URL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4249BCB-EAB6-3350-8476-4790A5C37127}"/>
              </a:ext>
            </a:extLst>
          </p:cNvPr>
          <p:cNvSpPr/>
          <p:nvPr/>
        </p:nvSpPr>
        <p:spPr>
          <a:xfrm>
            <a:off x="9361382" y="939385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50" b="0" i="0" u="none" strike="noStrike" kern="0" cap="none" spc="10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VISIT_TS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9338E32E-1EA7-4D7C-049B-B429724718A4}"/>
              </a:ext>
            </a:extLst>
          </p:cNvPr>
          <p:cNvSpPr/>
          <p:nvPr/>
        </p:nvSpPr>
        <p:spPr>
          <a:xfrm>
            <a:off x="5528703" y="1231993"/>
            <a:ext cx="5204279" cy="0"/>
          </a:xfrm>
          <a:prstGeom prst="line">
            <a:avLst/>
          </a:prstGeom>
          <a:noFill/>
          <a:ln w="12700">
            <a:solidFill>
              <a:srgbClr val="2A322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5" name="Shape 17">
            <a:extLst>
              <a:ext uri="{FF2B5EF4-FFF2-40B4-BE49-F238E27FC236}">
                <a16:creationId xmlns:a16="http://schemas.microsoft.com/office/drawing/2014/main" id="{A7ABCDED-B2D9-E3BF-9B9B-B2C297F82F2B}"/>
              </a:ext>
            </a:extLst>
          </p:cNvPr>
          <p:cNvSpPr/>
          <p:nvPr/>
        </p:nvSpPr>
        <p:spPr>
          <a:xfrm>
            <a:off x="5502175" y="3190646"/>
            <a:ext cx="5303520" cy="112471"/>
          </a:xfrm>
          <a:prstGeom prst="rect">
            <a:avLst/>
          </a:prstGeom>
          <a:solidFill>
            <a:srgbClr val="16241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7" name="Shape 18">
            <a:extLst>
              <a:ext uri="{FF2B5EF4-FFF2-40B4-BE49-F238E27FC236}">
                <a16:creationId xmlns:a16="http://schemas.microsoft.com/office/drawing/2014/main" id="{9DC0D837-A8BA-C809-DA68-BF8918247256}"/>
              </a:ext>
            </a:extLst>
          </p:cNvPr>
          <p:cNvSpPr/>
          <p:nvPr/>
        </p:nvSpPr>
        <p:spPr>
          <a:xfrm>
            <a:off x="5502175" y="3313367"/>
            <a:ext cx="5303520" cy="112471"/>
          </a:xfrm>
          <a:prstGeom prst="rect">
            <a:avLst/>
          </a:prstGeom>
          <a:solidFill>
            <a:srgbClr val="16241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8" name="Shape 19">
            <a:extLst>
              <a:ext uri="{FF2B5EF4-FFF2-40B4-BE49-F238E27FC236}">
                <a16:creationId xmlns:a16="http://schemas.microsoft.com/office/drawing/2014/main" id="{8DEC6930-D679-F000-16D0-6CF051B9F385}"/>
              </a:ext>
            </a:extLst>
          </p:cNvPr>
          <p:cNvSpPr/>
          <p:nvPr/>
        </p:nvSpPr>
        <p:spPr>
          <a:xfrm>
            <a:off x="5502175" y="3436087"/>
            <a:ext cx="5303520" cy="112471"/>
          </a:xfrm>
          <a:prstGeom prst="rect">
            <a:avLst/>
          </a:prstGeom>
          <a:solidFill>
            <a:srgbClr val="16241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9" name="Shape 20">
            <a:extLst>
              <a:ext uri="{FF2B5EF4-FFF2-40B4-BE49-F238E27FC236}">
                <a16:creationId xmlns:a16="http://schemas.microsoft.com/office/drawing/2014/main" id="{E15E8CED-D041-65B3-DFCE-7CDEE8A2F008}"/>
              </a:ext>
            </a:extLst>
          </p:cNvPr>
          <p:cNvSpPr/>
          <p:nvPr/>
        </p:nvSpPr>
        <p:spPr>
          <a:xfrm>
            <a:off x="5502175" y="5543414"/>
            <a:ext cx="5303520" cy="112471"/>
          </a:xfrm>
          <a:prstGeom prst="rect">
            <a:avLst/>
          </a:prstGeom>
          <a:solidFill>
            <a:srgbClr val="16241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20DC37AB-5EF1-BC26-A348-D3CDFF823416}"/>
              </a:ext>
            </a:extLst>
          </p:cNvPr>
          <p:cNvSpPr/>
          <p:nvPr/>
        </p:nvSpPr>
        <p:spPr>
          <a:xfrm>
            <a:off x="5502175" y="5670896"/>
            <a:ext cx="5303520" cy="112471"/>
          </a:xfrm>
          <a:prstGeom prst="rect">
            <a:avLst/>
          </a:prstGeom>
          <a:solidFill>
            <a:srgbClr val="16241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1" name="Text 22">
            <a:extLst>
              <a:ext uri="{FF2B5EF4-FFF2-40B4-BE49-F238E27FC236}">
                <a16:creationId xmlns:a16="http://schemas.microsoft.com/office/drawing/2014/main" id="{7822F889-0A00-AE27-261A-2785C17DDEB6}"/>
              </a:ext>
            </a:extLst>
          </p:cNvPr>
          <p:cNvSpPr/>
          <p:nvPr/>
        </p:nvSpPr>
        <p:spPr>
          <a:xfrm>
            <a:off x="5574423" y="1323433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2" name="Text 23">
            <a:extLst>
              <a:ext uri="{FF2B5EF4-FFF2-40B4-BE49-F238E27FC236}">
                <a16:creationId xmlns:a16="http://schemas.microsoft.com/office/drawing/2014/main" id="{8B29D838-822D-3332-ED56-206B5A7E63D8}"/>
              </a:ext>
            </a:extLst>
          </p:cNvPr>
          <p:cNvSpPr/>
          <p:nvPr/>
        </p:nvSpPr>
        <p:spPr>
          <a:xfrm>
            <a:off x="6214503" y="1323433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mail.google.com/mail/u/0/#inbox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3" name="Text 24">
            <a:extLst>
              <a:ext uri="{FF2B5EF4-FFF2-40B4-BE49-F238E27FC236}">
                <a16:creationId xmlns:a16="http://schemas.microsoft.com/office/drawing/2014/main" id="{2EA9C8C5-F80E-2415-F6EC-89C215F9C9B8}"/>
              </a:ext>
            </a:extLst>
          </p:cNvPr>
          <p:cNvSpPr/>
          <p:nvPr/>
        </p:nvSpPr>
        <p:spPr>
          <a:xfrm>
            <a:off x="9864302" y="1323433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8:19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4" name="Text 25">
            <a:extLst>
              <a:ext uri="{FF2B5EF4-FFF2-40B4-BE49-F238E27FC236}">
                <a16:creationId xmlns:a16="http://schemas.microsoft.com/office/drawing/2014/main" id="{F5F19F30-CBE4-3973-B8DB-2890117B8EA3}"/>
              </a:ext>
            </a:extLst>
          </p:cNvPr>
          <p:cNvSpPr/>
          <p:nvPr/>
        </p:nvSpPr>
        <p:spPr>
          <a:xfrm>
            <a:off x="5574423" y="1447441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5" name="Text 26">
            <a:extLst>
              <a:ext uri="{FF2B5EF4-FFF2-40B4-BE49-F238E27FC236}">
                <a16:creationId xmlns:a16="http://schemas.microsoft.com/office/drawing/2014/main" id="{53A5D774-A954-C68D-D0BB-19AF82F2945F}"/>
              </a:ext>
            </a:extLst>
          </p:cNvPr>
          <p:cNvSpPr/>
          <p:nvPr/>
        </p:nvSpPr>
        <p:spPr>
          <a:xfrm>
            <a:off x="6214503" y="1447441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google.com/search?q=japan+2+week+itinerary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6" name="Text 27">
            <a:extLst>
              <a:ext uri="{FF2B5EF4-FFF2-40B4-BE49-F238E27FC236}">
                <a16:creationId xmlns:a16="http://schemas.microsoft.com/office/drawing/2014/main" id="{124B89FF-BB77-5E93-06E1-DC6503EEC445}"/>
              </a:ext>
            </a:extLst>
          </p:cNvPr>
          <p:cNvSpPr/>
          <p:nvPr/>
        </p:nvSpPr>
        <p:spPr>
          <a:xfrm>
            <a:off x="9864302" y="1447441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8:20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7" name="Text 28">
            <a:extLst>
              <a:ext uri="{FF2B5EF4-FFF2-40B4-BE49-F238E27FC236}">
                <a16:creationId xmlns:a16="http://schemas.microsoft.com/office/drawing/2014/main" id="{10023782-8B04-0392-4949-3D8907F66909}"/>
              </a:ext>
            </a:extLst>
          </p:cNvPr>
          <p:cNvSpPr/>
          <p:nvPr/>
        </p:nvSpPr>
        <p:spPr>
          <a:xfrm>
            <a:off x="5574423" y="1571449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8" name="Text 29">
            <a:extLst>
              <a:ext uri="{FF2B5EF4-FFF2-40B4-BE49-F238E27FC236}">
                <a16:creationId xmlns:a16="http://schemas.microsoft.com/office/drawing/2014/main" id="{9EDB2AFD-5161-43E7-0956-2C97488B53C6}"/>
              </a:ext>
            </a:extLst>
          </p:cNvPr>
          <p:cNvSpPr/>
          <p:nvPr/>
        </p:nvSpPr>
        <p:spPr>
          <a:xfrm>
            <a:off x="6214503" y="1571449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reddit.com/r/JapanTravel/two-week-itinerary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9" name="Text 30">
            <a:extLst>
              <a:ext uri="{FF2B5EF4-FFF2-40B4-BE49-F238E27FC236}">
                <a16:creationId xmlns:a16="http://schemas.microsoft.com/office/drawing/2014/main" id="{7C5DDA82-3F43-8A6F-E892-C28EAE74D6CF}"/>
              </a:ext>
            </a:extLst>
          </p:cNvPr>
          <p:cNvSpPr/>
          <p:nvPr/>
        </p:nvSpPr>
        <p:spPr>
          <a:xfrm>
            <a:off x="9864302" y="1571449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8:21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0" name="Text 31">
            <a:extLst>
              <a:ext uri="{FF2B5EF4-FFF2-40B4-BE49-F238E27FC236}">
                <a16:creationId xmlns:a16="http://schemas.microsoft.com/office/drawing/2014/main" id="{21AAF9F5-D076-C3D7-51F1-C8C727453D22}"/>
              </a:ext>
            </a:extLst>
          </p:cNvPr>
          <p:cNvSpPr/>
          <p:nvPr/>
        </p:nvSpPr>
        <p:spPr>
          <a:xfrm>
            <a:off x="5574423" y="1695457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0D1B799B-CCF2-3405-5454-81D67D6439FD}"/>
              </a:ext>
            </a:extLst>
          </p:cNvPr>
          <p:cNvSpPr/>
          <p:nvPr/>
        </p:nvSpPr>
        <p:spPr>
          <a:xfrm>
            <a:off x="6214503" y="1695457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reddit.com/r/JapanTravel/best-time-to-visit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2" name="Text 33">
            <a:extLst>
              <a:ext uri="{FF2B5EF4-FFF2-40B4-BE49-F238E27FC236}">
                <a16:creationId xmlns:a16="http://schemas.microsoft.com/office/drawing/2014/main" id="{5442CD22-B830-25CC-24CD-86E1354CBD56}"/>
              </a:ext>
            </a:extLst>
          </p:cNvPr>
          <p:cNvSpPr/>
          <p:nvPr/>
        </p:nvSpPr>
        <p:spPr>
          <a:xfrm>
            <a:off x="9864302" y="1695457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8:22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3" name="Text 34">
            <a:extLst>
              <a:ext uri="{FF2B5EF4-FFF2-40B4-BE49-F238E27FC236}">
                <a16:creationId xmlns:a16="http://schemas.microsoft.com/office/drawing/2014/main" id="{33E97EFC-F8FD-E742-4BF1-5B4B1B73E6A5}"/>
              </a:ext>
            </a:extLst>
          </p:cNvPr>
          <p:cNvSpPr/>
          <p:nvPr/>
        </p:nvSpPr>
        <p:spPr>
          <a:xfrm>
            <a:off x="5574423" y="1819465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4" name="Text 35">
            <a:extLst>
              <a:ext uri="{FF2B5EF4-FFF2-40B4-BE49-F238E27FC236}">
                <a16:creationId xmlns:a16="http://schemas.microsoft.com/office/drawing/2014/main" id="{33FA45ED-5238-E0EC-77DB-64E640FAE542}"/>
              </a:ext>
            </a:extLst>
          </p:cNvPr>
          <p:cNvSpPr/>
          <p:nvPr/>
        </p:nvSpPr>
        <p:spPr>
          <a:xfrm>
            <a:off x="6214503" y="1819465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instagram.com/explore/tags/japantravel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5" name="Text 36">
            <a:extLst>
              <a:ext uri="{FF2B5EF4-FFF2-40B4-BE49-F238E27FC236}">
                <a16:creationId xmlns:a16="http://schemas.microsoft.com/office/drawing/2014/main" id="{D3C55687-76EB-8C53-9541-1CA13B3AF37D}"/>
              </a:ext>
            </a:extLst>
          </p:cNvPr>
          <p:cNvSpPr/>
          <p:nvPr/>
        </p:nvSpPr>
        <p:spPr>
          <a:xfrm>
            <a:off x="9864302" y="1819465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8:23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6" name="Text 37">
            <a:extLst>
              <a:ext uri="{FF2B5EF4-FFF2-40B4-BE49-F238E27FC236}">
                <a16:creationId xmlns:a16="http://schemas.microsoft.com/office/drawing/2014/main" id="{AD153FFF-8869-CC65-7AED-E7CD647AFC99}"/>
              </a:ext>
            </a:extLst>
          </p:cNvPr>
          <p:cNvSpPr/>
          <p:nvPr/>
        </p:nvSpPr>
        <p:spPr>
          <a:xfrm>
            <a:off x="5574423" y="1943473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7" name="Text 38">
            <a:extLst>
              <a:ext uri="{FF2B5EF4-FFF2-40B4-BE49-F238E27FC236}">
                <a16:creationId xmlns:a16="http://schemas.microsoft.com/office/drawing/2014/main" id="{89C51FE9-E74F-2D85-F277-0871CB46C75D}"/>
              </a:ext>
            </a:extLst>
          </p:cNvPr>
          <p:cNvSpPr/>
          <p:nvPr/>
        </p:nvSpPr>
        <p:spPr>
          <a:xfrm>
            <a:off x="6214503" y="1943473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instagram.com/reel/kyoto-temple-guide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8" name="Text 39">
            <a:extLst>
              <a:ext uri="{FF2B5EF4-FFF2-40B4-BE49-F238E27FC236}">
                <a16:creationId xmlns:a16="http://schemas.microsoft.com/office/drawing/2014/main" id="{0C2809C6-DDCB-A90D-C1F2-685200E1EB73}"/>
              </a:ext>
            </a:extLst>
          </p:cNvPr>
          <p:cNvSpPr/>
          <p:nvPr/>
        </p:nvSpPr>
        <p:spPr>
          <a:xfrm>
            <a:off x="9864302" y="1943473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8:24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9" name="Text 40">
            <a:extLst>
              <a:ext uri="{FF2B5EF4-FFF2-40B4-BE49-F238E27FC236}">
                <a16:creationId xmlns:a16="http://schemas.microsoft.com/office/drawing/2014/main" id="{A19C6DCE-C0B6-14AD-0912-08817C6B893E}"/>
              </a:ext>
            </a:extLst>
          </p:cNvPr>
          <p:cNvSpPr/>
          <p:nvPr/>
        </p:nvSpPr>
        <p:spPr>
          <a:xfrm>
            <a:off x="5574423" y="2067481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90" name="Text 41">
            <a:extLst>
              <a:ext uri="{FF2B5EF4-FFF2-40B4-BE49-F238E27FC236}">
                <a16:creationId xmlns:a16="http://schemas.microsoft.com/office/drawing/2014/main" id="{29CEFF50-1B5D-AE02-B74E-23BE7003E926}"/>
              </a:ext>
            </a:extLst>
          </p:cNvPr>
          <p:cNvSpPr/>
          <p:nvPr/>
        </p:nvSpPr>
        <p:spPr>
          <a:xfrm>
            <a:off x="6214503" y="2067481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tiktok.com/@japan/tokyo-hidden-gems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91" name="Text 42">
            <a:extLst>
              <a:ext uri="{FF2B5EF4-FFF2-40B4-BE49-F238E27FC236}">
                <a16:creationId xmlns:a16="http://schemas.microsoft.com/office/drawing/2014/main" id="{1CFD05FA-77F2-4D60-78DF-D3F96EC44529}"/>
              </a:ext>
            </a:extLst>
          </p:cNvPr>
          <p:cNvSpPr/>
          <p:nvPr/>
        </p:nvSpPr>
        <p:spPr>
          <a:xfrm>
            <a:off x="9864302" y="2067481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8:25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92" name="Text 43">
            <a:extLst>
              <a:ext uri="{FF2B5EF4-FFF2-40B4-BE49-F238E27FC236}">
                <a16:creationId xmlns:a16="http://schemas.microsoft.com/office/drawing/2014/main" id="{65395F9E-BCFF-90E5-C2C0-CC690AC765F6}"/>
              </a:ext>
            </a:extLst>
          </p:cNvPr>
          <p:cNvSpPr/>
          <p:nvPr/>
        </p:nvSpPr>
        <p:spPr>
          <a:xfrm>
            <a:off x="5574423" y="2191489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93" name="Text 44">
            <a:extLst>
              <a:ext uri="{FF2B5EF4-FFF2-40B4-BE49-F238E27FC236}">
                <a16:creationId xmlns:a16="http://schemas.microsoft.com/office/drawing/2014/main" id="{73023E67-1CA6-138B-773C-3A7EC68D88E0}"/>
              </a:ext>
            </a:extLst>
          </p:cNvPr>
          <p:cNvSpPr/>
          <p:nvPr/>
        </p:nvSpPr>
        <p:spPr>
          <a:xfrm>
            <a:off x="6214503" y="2191489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tiktok.com/tag/japantrip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06" name="Text 45">
            <a:extLst>
              <a:ext uri="{FF2B5EF4-FFF2-40B4-BE49-F238E27FC236}">
                <a16:creationId xmlns:a16="http://schemas.microsoft.com/office/drawing/2014/main" id="{653AFEF5-C2AE-4407-F416-E66B2CD0B40D}"/>
              </a:ext>
            </a:extLst>
          </p:cNvPr>
          <p:cNvSpPr/>
          <p:nvPr/>
        </p:nvSpPr>
        <p:spPr>
          <a:xfrm>
            <a:off x="9864302" y="2191489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8:26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10" name="Text 46">
            <a:extLst>
              <a:ext uri="{FF2B5EF4-FFF2-40B4-BE49-F238E27FC236}">
                <a16:creationId xmlns:a16="http://schemas.microsoft.com/office/drawing/2014/main" id="{DFFF80E5-A20E-C4E1-60B6-82BB577EE4CB}"/>
              </a:ext>
            </a:extLst>
          </p:cNvPr>
          <p:cNvSpPr/>
          <p:nvPr/>
        </p:nvSpPr>
        <p:spPr>
          <a:xfrm>
            <a:off x="5574423" y="2315497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14" name="Text 47">
            <a:extLst>
              <a:ext uri="{FF2B5EF4-FFF2-40B4-BE49-F238E27FC236}">
                <a16:creationId xmlns:a16="http://schemas.microsoft.com/office/drawing/2014/main" id="{22B05BCB-61E9-041D-A710-4D550A3CF4C2}"/>
              </a:ext>
            </a:extLst>
          </p:cNvPr>
          <p:cNvSpPr/>
          <p:nvPr/>
        </p:nvSpPr>
        <p:spPr>
          <a:xfrm>
            <a:off x="6214503" y="2315497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youtube.com/watch?v=japan-first-timer-guide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33" name="Text 48">
            <a:extLst>
              <a:ext uri="{FF2B5EF4-FFF2-40B4-BE49-F238E27FC236}">
                <a16:creationId xmlns:a16="http://schemas.microsoft.com/office/drawing/2014/main" id="{253592F8-07C9-0E74-90CF-92C17A1506DE}"/>
              </a:ext>
            </a:extLst>
          </p:cNvPr>
          <p:cNvSpPr/>
          <p:nvPr/>
        </p:nvSpPr>
        <p:spPr>
          <a:xfrm>
            <a:off x="9864302" y="2315497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8:27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34" name="Text 49">
            <a:extLst>
              <a:ext uri="{FF2B5EF4-FFF2-40B4-BE49-F238E27FC236}">
                <a16:creationId xmlns:a16="http://schemas.microsoft.com/office/drawing/2014/main" id="{438A5212-C059-F710-99FD-EDFCE5C790B7}"/>
              </a:ext>
            </a:extLst>
          </p:cNvPr>
          <p:cNvSpPr/>
          <p:nvPr/>
        </p:nvSpPr>
        <p:spPr>
          <a:xfrm>
            <a:off x="5574423" y="2439505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35" name="Text 50">
            <a:extLst>
              <a:ext uri="{FF2B5EF4-FFF2-40B4-BE49-F238E27FC236}">
                <a16:creationId xmlns:a16="http://schemas.microsoft.com/office/drawing/2014/main" id="{68206F56-81CF-68E2-D111-6B0C734ECFC0}"/>
              </a:ext>
            </a:extLst>
          </p:cNvPr>
          <p:cNvSpPr/>
          <p:nvPr/>
        </p:nvSpPr>
        <p:spPr>
          <a:xfrm>
            <a:off x="6214503" y="2439505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youtube.com/watch?v=jr-pass-explained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36" name="Text 51">
            <a:extLst>
              <a:ext uri="{FF2B5EF4-FFF2-40B4-BE49-F238E27FC236}">
                <a16:creationId xmlns:a16="http://schemas.microsoft.com/office/drawing/2014/main" id="{77DC2A5F-7D08-680B-0DBD-A30DD585C1E0}"/>
              </a:ext>
            </a:extLst>
          </p:cNvPr>
          <p:cNvSpPr/>
          <p:nvPr/>
        </p:nvSpPr>
        <p:spPr>
          <a:xfrm>
            <a:off x="9864302" y="2439505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8:28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37" name="Text 52">
            <a:extLst>
              <a:ext uri="{FF2B5EF4-FFF2-40B4-BE49-F238E27FC236}">
                <a16:creationId xmlns:a16="http://schemas.microsoft.com/office/drawing/2014/main" id="{3DAFF43D-4E7F-FB13-35FF-629606C10693}"/>
              </a:ext>
            </a:extLst>
          </p:cNvPr>
          <p:cNvSpPr/>
          <p:nvPr/>
        </p:nvSpPr>
        <p:spPr>
          <a:xfrm>
            <a:off x="5574423" y="2563513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38" name="Text 53">
            <a:extLst>
              <a:ext uri="{FF2B5EF4-FFF2-40B4-BE49-F238E27FC236}">
                <a16:creationId xmlns:a16="http://schemas.microsoft.com/office/drawing/2014/main" id="{E60C8217-C3FA-B8B7-F26C-FC3F2A0177F1}"/>
              </a:ext>
            </a:extLst>
          </p:cNvPr>
          <p:cNvSpPr/>
          <p:nvPr/>
        </p:nvSpPr>
        <p:spPr>
          <a:xfrm>
            <a:off x="6214503" y="2563513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google.com/search?q=is+jr+pass+worth+it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39" name="Text 54">
            <a:extLst>
              <a:ext uri="{FF2B5EF4-FFF2-40B4-BE49-F238E27FC236}">
                <a16:creationId xmlns:a16="http://schemas.microsoft.com/office/drawing/2014/main" id="{43C2683D-8093-B937-53A8-A52321E29CB8}"/>
              </a:ext>
            </a:extLst>
          </p:cNvPr>
          <p:cNvSpPr/>
          <p:nvPr/>
        </p:nvSpPr>
        <p:spPr>
          <a:xfrm>
            <a:off x="9864302" y="2563513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8:29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40" name="Text 55">
            <a:extLst>
              <a:ext uri="{FF2B5EF4-FFF2-40B4-BE49-F238E27FC236}">
                <a16:creationId xmlns:a16="http://schemas.microsoft.com/office/drawing/2014/main" id="{61D2266C-836F-2063-A569-D6CCA73E31D9}"/>
              </a:ext>
            </a:extLst>
          </p:cNvPr>
          <p:cNvSpPr/>
          <p:nvPr/>
        </p:nvSpPr>
        <p:spPr>
          <a:xfrm>
            <a:off x="5574423" y="2687521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41" name="Text 56">
            <a:extLst>
              <a:ext uri="{FF2B5EF4-FFF2-40B4-BE49-F238E27FC236}">
                <a16:creationId xmlns:a16="http://schemas.microsoft.com/office/drawing/2014/main" id="{661A41B2-12A3-3550-6DEF-99F5A5974145}"/>
              </a:ext>
            </a:extLst>
          </p:cNvPr>
          <p:cNvSpPr/>
          <p:nvPr/>
        </p:nvSpPr>
        <p:spPr>
          <a:xfrm>
            <a:off x="6214503" y="2687521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tripadvisor.com/Tourism-Tokyo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42" name="Text 57">
            <a:extLst>
              <a:ext uri="{FF2B5EF4-FFF2-40B4-BE49-F238E27FC236}">
                <a16:creationId xmlns:a16="http://schemas.microsoft.com/office/drawing/2014/main" id="{CCCB9D60-9C42-DB35-5893-CE2E49B9D5D7}"/>
              </a:ext>
            </a:extLst>
          </p:cNvPr>
          <p:cNvSpPr/>
          <p:nvPr/>
        </p:nvSpPr>
        <p:spPr>
          <a:xfrm>
            <a:off x="9864302" y="2687521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8:30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43" name="Text 58">
            <a:extLst>
              <a:ext uri="{FF2B5EF4-FFF2-40B4-BE49-F238E27FC236}">
                <a16:creationId xmlns:a16="http://schemas.microsoft.com/office/drawing/2014/main" id="{13A4AABC-F2CD-C994-F538-EB4D0BD16F39}"/>
              </a:ext>
            </a:extLst>
          </p:cNvPr>
          <p:cNvSpPr/>
          <p:nvPr/>
        </p:nvSpPr>
        <p:spPr>
          <a:xfrm>
            <a:off x="5574423" y="2811529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44" name="Text 59">
            <a:extLst>
              <a:ext uri="{FF2B5EF4-FFF2-40B4-BE49-F238E27FC236}">
                <a16:creationId xmlns:a16="http://schemas.microsoft.com/office/drawing/2014/main" id="{B420F5E5-B430-995C-F789-090653C2A221}"/>
              </a:ext>
            </a:extLst>
          </p:cNvPr>
          <p:cNvSpPr/>
          <p:nvPr/>
        </p:nvSpPr>
        <p:spPr>
          <a:xfrm>
            <a:off x="6214503" y="2811529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tripadvisor.com/Attractions-Kyoto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45" name="Text 60">
            <a:extLst>
              <a:ext uri="{FF2B5EF4-FFF2-40B4-BE49-F238E27FC236}">
                <a16:creationId xmlns:a16="http://schemas.microsoft.com/office/drawing/2014/main" id="{F3B29CD7-A8F5-709D-98B7-E2D200D04A0E}"/>
              </a:ext>
            </a:extLst>
          </p:cNvPr>
          <p:cNvSpPr/>
          <p:nvPr/>
        </p:nvSpPr>
        <p:spPr>
          <a:xfrm>
            <a:off x="9864302" y="2811529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8:32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46" name="Text 61">
            <a:extLst>
              <a:ext uri="{FF2B5EF4-FFF2-40B4-BE49-F238E27FC236}">
                <a16:creationId xmlns:a16="http://schemas.microsoft.com/office/drawing/2014/main" id="{E9513876-6C44-2FD3-C4FA-274506EF1E55}"/>
              </a:ext>
            </a:extLst>
          </p:cNvPr>
          <p:cNvSpPr/>
          <p:nvPr/>
        </p:nvSpPr>
        <p:spPr>
          <a:xfrm>
            <a:off x="5574423" y="2935537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47" name="Text 62">
            <a:extLst>
              <a:ext uri="{FF2B5EF4-FFF2-40B4-BE49-F238E27FC236}">
                <a16:creationId xmlns:a16="http://schemas.microsoft.com/office/drawing/2014/main" id="{D814317D-0623-61C2-249E-BF7E86A53072}"/>
              </a:ext>
            </a:extLst>
          </p:cNvPr>
          <p:cNvSpPr/>
          <p:nvPr/>
        </p:nvSpPr>
        <p:spPr>
          <a:xfrm>
            <a:off x="6214503" y="2935537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imdb.com/title/lost-in-translation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48" name="Text 63">
            <a:extLst>
              <a:ext uri="{FF2B5EF4-FFF2-40B4-BE49-F238E27FC236}">
                <a16:creationId xmlns:a16="http://schemas.microsoft.com/office/drawing/2014/main" id="{FEC31088-04DB-3E2B-66E9-3579E98B62D0}"/>
              </a:ext>
            </a:extLst>
          </p:cNvPr>
          <p:cNvSpPr/>
          <p:nvPr/>
        </p:nvSpPr>
        <p:spPr>
          <a:xfrm>
            <a:off x="9864302" y="2935537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8:33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49" name="Text 64">
            <a:extLst>
              <a:ext uri="{FF2B5EF4-FFF2-40B4-BE49-F238E27FC236}">
                <a16:creationId xmlns:a16="http://schemas.microsoft.com/office/drawing/2014/main" id="{266B5EAB-48D9-D342-47E3-D8F0F46ECA83}"/>
              </a:ext>
            </a:extLst>
          </p:cNvPr>
          <p:cNvSpPr/>
          <p:nvPr/>
        </p:nvSpPr>
        <p:spPr>
          <a:xfrm>
            <a:off x="5574423" y="3059545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50" name="Text 65">
            <a:extLst>
              <a:ext uri="{FF2B5EF4-FFF2-40B4-BE49-F238E27FC236}">
                <a16:creationId xmlns:a16="http://schemas.microsoft.com/office/drawing/2014/main" id="{CAE52943-1BA5-53A5-3F45-C192C7682094}"/>
              </a:ext>
            </a:extLst>
          </p:cNvPr>
          <p:cNvSpPr/>
          <p:nvPr/>
        </p:nvSpPr>
        <p:spPr>
          <a:xfrm>
            <a:off x="6214503" y="3059545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google.com/search?q=tokyo+where+to+stay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51" name="Text 66">
            <a:extLst>
              <a:ext uri="{FF2B5EF4-FFF2-40B4-BE49-F238E27FC236}">
                <a16:creationId xmlns:a16="http://schemas.microsoft.com/office/drawing/2014/main" id="{1136693A-9782-29FB-8333-DFF7FD60224D}"/>
              </a:ext>
            </a:extLst>
          </p:cNvPr>
          <p:cNvSpPr/>
          <p:nvPr/>
        </p:nvSpPr>
        <p:spPr>
          <a:xfrm>
            <a:off x="9864302" y="3059545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8:34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52" name="Text 67">
            <a:extLst>
              <a:ext uri="{FF2B5EF4-FFF2-40B4-BE49-F238E27FC236}">
                <a16:creationId xmlns:a16="http://schemas.microsoft.com/office/drawing/2014/main" id="{6FDD1C0B-DCC9-397D-E246-69A721FF333D}"/>
              </a:ext>
            </a:extLst>
          </p:cNvPr>
          <p:cNvSpPr/>
          <p:nvPr/>
        </p:nvSpPr>
        <p:spPr>
          <a:xfrm>
            <a:off x="5574423" y="3183553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53" name="Text 68">
            <a:extLst>
              <a:ext uri="{FF2B5EF4-FFF2-40B4-BE49-F238E27FC236}">
                <a16:creationId xmlns:a16="http://schemas.microsoft.com/office/drawing/2014/main" id="{51FBE621-9E28-86EF-E45C-FFD37B4D009D}"/>
              </a:ext>
            </a:extLst>
          </p:cNvPr>
          <p:cNvSpPr/>
          <p:nvPr/>
        </p:nvSpPr>
        <p:spPr>
          <a:xfrm>
            <a:off x="6214503" y="3183553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chatgpt.com/c/japan-2-week-itinerary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54" name="Text 69">
            <a:extLst>
              <a:ext uri="{FF2B5EF4-FFF2-40B4-BE49-F238E27FC236}">
                <a16:creationId xmlns:a16="http://schemas.microsoft.com/office/drawing/2014/main" id="{61C4BDD4-8ED2-99DD-2B6E-259C6321EE62}"/>
              </a:ext>
            </a:extLst>
          </p:cNvPr>
          <p:cNvSpPr/>
          <p:nvPr/>
        </p:nvSpPr>
        <p:spPr>
          <a:xfrm>
            <a:off x="9864302" y="3183553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8:35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55" name="Text 70">
            <a:extLst>
              <a:ext uri="{FF2B5EF4-FFF2-40B4-BE49-F238E27FC236}">
                <a16:creationId xmlns:a16="http://schemas.microsoft.com/office/drawing/2014/main" id="{D4AC94F9-0AA9-AFD5-55C8-481C3D447E09}"/>
              </a:ext>
            </a:extLst>
          </p:cNvPr>
          <p:cNvSpPr/>
          <p:nvPr/>
        </p:nvSpPr>
        <p:spPr>
          <a:xfrm>
            <a:off x="5574423" y="3307561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56" name="Text 71">
            <a:extLst>
              <a:ext uri="{FF2B5EF4-FFF2-40B4-BE49-F238E27FC236}">
                <a16:creationId xmlns:a16="http://schemas.microsoft.com/office/drawing/2014/main" id="{36E27A35-90A9-476A-F0A3-CFA99D60837E}"/>
              </a:ext>
            </a:extLst>
          </p:cNvPr>
          <p:cNvSpPr/>
          <p:nvPr/>
        </p:nvSpPr>
        <p:spPr>
          <a:xfrm>
            <a:off x="6214503" y="3307561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chatgpt.com/c/tokyo-kyoto-osaka-split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57" name="Text 72">
            <a:extLst>
              <a:ext uri="{FF2B5EF4-FFF2-40B4-BE49-F238E27FC236}">
                <a16:creationId xmlns:a16="http://schemas.microsoft.com/office/drawing/2014/main" id="{7F07F1E9-D73F-EFC9-B40D-DDE2ACA3948B}"/>
              </a:ext>
            </a:extLst>
          </p:cNvPr>
          <p:cNvSpPr/>
          <p:nvPr/>
        </p:nvSpPr>
        <p:spPr>
          <a:xfrm>
            <a:off x="9864302" y="3307561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8:37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58" name="Text 73">
            <a:extLst>
              <a:ext uri="{FF2B5EF4-FFF2-40B4-BE49-F238E27FC236}">
                <a16:creationId xmlns:a16="http://schemas.microsoft.com/office/drawing/2014/main" id="{6D88102A-766A-BBDD-74CC-8B771ED17495}"/>
              </a:ext>
            </a:extLst>
          </p:cNvPr>
          <p:cNvSpPr/>
          <p:nvPr/>
        </p:nvSpPr>
        <p:spPr>
          <a:xfrm>
            <a:off x="5574423" y="3431569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59" name="Text 74">
            <a:extLst>
              <a:ext uri="{FF2B5EF4-FFF2-40B4-BE49-F238E27FC236}">
                <a16:creationId xmlns:a16="http://schemas.microsoft.com/office/drawing/2014/main" id="{CA1A0DB4-965C-E159-7A06-F667072F9DA1}"/>
              </a:ext>
            </a:extLst>
          </p:cNvPr>
          <p:cNvSpPr/>
          <p:nvPr/>
        </p:nvSpPr>
        <p:spPr>
          <a:xfrm>
            <a:off x="6214503" y="3431569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chatgpt.com/c/daily-budget-japan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60" name="Text 75">
            <a:extLst>
              <a:ext uri="{FF2B5EF4-FFF2-40B4-BE49-F238E27FC236}">
                <a16:creationId xmlns:a16="http://schemas.microsoft.com/office/drawing/2014/main" id="{D188C9DB-E383-E865-D88A-B9CD6168C653}"/>
              </a:ext>
            </a:extLst>
          </p:cNvPr>
          <p:cNvSpPr/>
          <p:nvPr/>
        </p:nvSpPr>
        <p:spPr>
          <a:xfrm>
            <a:off x="9864302" y="3431569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8:40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61" name="Text 76">
            <a:extLst>
              <a:ext uri="{FF2B5EF4-FFF2-40B4-BE49-F238E27FC236}">
                <a16:creationId xmlns:a16="http://schemas.microsoft.com/office/drawing/2014/main" id="{0F6B954E-8DA1-2C64-7D9E-688BD36EB230}"/>
              </a:ext>
            </a:extLst>
          </p:cNvPr>
          <p:cNvSpPr/>
          <p:nvPr/>
        </p:nvSpPr>
        <p:spPr>
          <a:xfrm>
            <a:off x="5574423" y="3555577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62" name="Text 77">
            <a:extLst>
              <a:ext uri="{FF2B5EF4-FFF2-40B4-BE49-F238E27FC236}">
                <a16:creationId xmlns:a16="http://schemas.microsoft.com/office/drawing/2014/main" id="{E1BC6610-6ABF-B967-1B38-58D8EC4FB1B3}"/>
              </a:ext>
            </a:extLst>
          </p:cNvPr>
          <p:cNvSpPr/>
          <p:nvPr/>
        </p:nvSpPr>
        <p:spPr>
          <a:xfrm>
            <a:off x="6214503" y="3555577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google.com/travel/flights?q=SFO-HND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63" name="Text 78">
            <a:extLst>
              <a:ext uri="{FF2B5EF4-FFF2-40B4-BE49-F238E27FC236}">
                <a16:creationId xmlns:a16="http://schemas.microsoft.com/office/drawing/2014/main" id="{4180E087-6CC8-96C6-7701-484021FC9720}"/>
              </a:ext>
            </a:extLst>
          </p:cNvPr>
          <p:cNvSpPr/>
          <p:nvPr/>
        </p:nvSpPr>
        <p:spPr>
          <a:xfrm>
            <a:off x="9864302" y="3555577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8:43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64" name="Text 79">
            <a:extLst>
              <a:ext uri="{FF2B5EF4-FFF2-40B4-BE49-F238E27FC236}">
                <a16:creationId xmlns:a16="http://schemas.microsoft.com/office/drawing/2014/main" id="{5FAA15A7-9E51-8524-8A9E-C89EAB6420FC}"/>
              </a:ext>
            </a:extLst>
          </p:cNvPr>
          <p:cNvSpPr/>
          <p:nvPr/>
        </p:nvSpPr>
        <p:spPr>
          <a:xfrm>
            <a:off x="5574423" y="3679585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65" name="Text 80">
            <a:extLst>
              <a:ext uri="{FF2B5EF4-FFF2-40B4-BE49-F238E27FC236}">
                <a16:creationId xmlns:a16="http://schemas.microsoft.com/office/drawing/2014/main" id="{97EE228F-632A-4128-2005-DDD15329EE25}"/>
              </a:ext>
            </a:extLst>
          </p:cNvPr>
          <p:cNvSpPr/>
          <p:nvPr/>
        </p:nvSpPr>
        <p:spPr>
          <a:xfrm>
            <a:off x="6214503" y="3679585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united.com/flight/select-seats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66" name="Text 81">
            <a:extLst>
              <a:ext uri="{FF2B5EF4-FFF2-40B4-BE49-F238E27FC236}">
                <a16:creationId xmlns:a16="http://schemas.microsoft.com/office/drawing/2014/main" id="{0E916174-2853-D192-6B86-3B1F2A103BF2}"/>
              </a:ext>
            </a:extLst>
          </p:cNvPr>
          <p:cNvSpPr/>
          <p:nvPr/>
        </p:nvSpPr>
        <p:spPr>
          <a:xfrm>
            <a:off x="9864302" y="3679585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8:45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67" name="Text 82">
            <a:extLst>
              <a:ext uri="{FF2B5EF4-FFF2-40B4-BE49-F238E27FC236}">
                <a16:creationId xmlns:a16="http://schemas.microsoft.com/office/drawing/2014/main" id="{B0CEC935-D9A2-A967-1FD7-078C16EA0E47}"/>
              </a:ext>
            </a:extLst>
          </p:cNvPr>
          <p:cNvSpPr/>
          <p:nvPr/>
        </p:nvSpPr>
        <p:spPr>
          <a:xfrm>
            <a:off x="5574423" y="3803593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68" name="Text 83">
            <a:extLst>
              <a:ext uri="{FF2B5EF4-FFF2-40B4-BE49-F238E27FC236}">
                <a16:creationId xmlns:a16="http://schemas.microsoft.com/office/drawing/2014/main" id="{47762CD2-744C-6B71-E43B-6788DFA5508C}"/>
              </a:ext>
            </a:extLst>
          </p:cNvPr>
          <p:cNvSpPr/>
          <p:nvPr/>
        </p:nvSpPr>
        <p:spPr>
          <a:xfrm>
            <a:off x="6214503" y="3803593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united.com/booking/confirmation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69" name="Text 84">
            <a:extLst>
              <a:ext uri="{FF2B5EF4-FFF2-40B4-BE49-F238E27FC236}">
                <a16:creationId xmlns:a16="http://schemas.microsoft.com/office/drawing/2014/main" id="{B6483B23-83F6-F752-ACE2-D5C88E81E45A}"/>
              </a:ext>
            </a:extLst>
          </p:cNvPr>
          <p:cNvSpPr/>
          <p:nvPr/>
        </p:nvSpPr>
        <p:spPr>
          <a:xfrm>
            <a:off x="9864302" y="3803593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8:46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70" name="Text 85">
            <a:extLst>
              <a:ext uri="{FF2B5EF4-FFF2-40B4-BE49-F238E27FC236}">
                <a16:creationId xmlns:a16="http://schemas.microsoft.com/office/drawing/2014/main" id="{4756DFC6-8983-55C4-0776-09F6814447C7}"/>
              </a:ext>
            </a:extLst>
          </p:cNvPr>
          <p:cNvSpPr/>
          <p:nvPr/>
        </p:nvSpPr>
        <p:spPr>
          <a:xfrm>
            <a:off x="5574423" y="3927601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71" name="Text 86">
            <a:extLst>
              <a:ext uri="{FF2B5EF4-FFF2-40B4-BE49-F238E27FC236}">
                <a16:creationId xmlns:a16="http://schemas.microsoft.com/office/drawing/2014/main" id="{22A9E957-EE89-3E3B-3DD8-0E3E8C761DC7}"/>
              </a:ext>
            </a:extLst>
          </p:cNvPr>
          <p:cNvSpPr/>
          <p:nvPr/>
        </p:nvSpPr>
        <p:spPr>
          <a:xfrm>
            <a:off x="6214503" y="3927601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booking.com/hotels/tokyo-shinjuku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72" name="Text 87">
            <a:extLst>
              <a:ext uri="{FF2B5EF4-FFF2-40B4-BE49-F238E27FC236}">
                <a16:creationId xmlns:a16="http://schemas.microsoft.com/office/drawing/2014/main" id="{15175120-541C-6067-BD51-8DB0E7D4F24D}"/>
              </a:ext>
            </a:extLst>
          </p:cNvPr>
          <p:cNvSpPr/>
          <p:nvPr/>
        </p:nvSpPr>
        <p:spPr>
          <a:xfrm>
            <a:off x="9864302" y="3927601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8:48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73" name="Text 88">
            <a:extLst>
              <a:ext uri="{FF2B5EF4-FFF2-40B4-BE49-F238E27FC236}">
                <a16:creationId xmlns:a16="http://schemas.microsoft.com/office/drawing/2014/main" id="{A91C659B-5389-2DF8-50B2-FB31735CC62C}"/>
              </a:ext>
            </a:extLst>
          </p:cNvPr>
          <p:cNvSpPr/>
          <p:nvPr/>
        </p:nvSpPr>
        <p:spPr>
          <a:xfrm>
            <a:off x="5574423" y="4051609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74" name="Text 89">
            <a:extLst>
              <a:ext uri="{FF2B5EF4-FFF2-40B4-BE49-F238E27FC236}">
                <a16:creationId xmlns:a16="http://schemas.microsoft.com/office/drawing/2014/main" id="{B77FEB47-86D0-8289-CE5F-55F9C0DF06B8}"/>
              </a:ext>
            </a:extLst>
          </p:cNvPr>
          <p:cNvSpPr/>
          <p:nvPr/>
        </p:nvSpPr>
        <p:spPr>
          <a:xfrm>
            <a:off x="6214503" y="4051609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booking.com/checkout/confirmation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75" name="Text 90">
            <a:extLst>
              <a:ext uri="{FF2B5EF4-FFF2-40B4-BE49-F238E27FC236}">
                <a16:creationId xmlns:a16="http://schemas.microsoft.com/office/drawing/2014/main" id="{0192F6B1-2C79-111D-FB64-7CE28BDF4D97}"/>
              </a:ext>
            </a:extLst>
          </p:cNvPr>
          <p:cNvSpPr/>
          <p:nvPr/>
        </p:nvSpPr>
        <p:spPr>
          <a:xfrm>
            <a:off x="9864302" y="4051609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8:50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27" name="Text 91">
            <a:extLst>
              <a:ext uri="{FF2B5EF4-FFF2-40B4-BE49-F238E27FC236}">
                <a16:creationId xmlns:a16="http://schemas.microsoft.com/office/drawing/2014/main" id="{7FD6585A-4A0D-7ED7-A3B6-0C066DDCFDD9}"/>
              </a:ext>
            </a:extLst>
          </p:cNvPr>
          <p:cNvSpPr/>
          <p:nvPr/>
        </p:nvSpPr>
        <p:spPr>
          <a:xfrm>
            <a:off x="5574423" y="4175617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40" name="Text 92">
            <a:extLst>
              <a:ext uri="{FF2B5EF4-FFF2-40B4-BE49-F238E27FC236}">
                <a16:creationId xmlns:a16="http://schemas.microsoft.com/office/drawing/2014/main" id="{4426CECF-0FBA-DCE0-804A-D8C5068632FD}"/>
              </a:ext>
            </a:extLst>
          </p:cNvPr>
          <p:cNvSpPr/>
          <p:nvPr/>
        </p:nvSpPr>
        <p:spPr>
          <a:xfrm>
            <a:off x="6214503" y="4175617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airbnb.com/rooms/kyoto-machiya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41" name="Text 93">
            <a:extLst>
              <a:ext uri="{FF2B5EF4-FFF2-40B4-BE49-F238E27FC236}">
                <a16:creationId xmlns:a16="http://schemas.microsoft.com/office/drawing/2014/main" id="{0542FF66-0C05-DF1C-ABF9-727E7CFC6799}"/>
              </a:ext>
            </a:extLst>
          </p:cNvPr>
          <p:cNvSpPr/>
          <p:nvPr/>
        </p:nvSpPr>
        <p:spPr>
          <a:xfrm>
            <a:off x="9864302" y="4175617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8:52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42" name="Text 94">
            <a:extLst>
              <a:ext uri="{FF2B5EF4-FFF2-40B4-BE49-F238E27FC236}">
                <a16:creationId xmlns:a16="http://schemas.microsoft.com/office/drawing/2014/main" id="{5BDD6A9F-B804-8887-D452-2EC521FF9632}"/>
              </a:ext>
            </a:extLst>
          </p:cNvPr>
          <p:cNvSpPr/>
          <p:nvPr/>
        </p:nvSpPr>
        <p:spPr>
          <a:xfrm>
            <a:off x="5574423" y="4299625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43" name="Text 95">
            <a:extLst>
              <a:ext uri="{FF2B5EF4-FFF2-40B4-BE49-F238E27FC236}">
                <a16:creationId xmlns:a16="http://schemas.microsoft.com/office/drawing/2014/main" id="{C2BF95DD-2752-12F8-3207-416C518A2750}"/>
              </a:ext>
            </a:extLst>
          </p:cNvPr>
          <p:cNvSpPr/>
          <p:nvPr/>
        </p:nvSpPr>
        <p:spPr>
          <a:xfrm>
            <a:off x="6214503" y="4299625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airbnb.com/checkout/confirmation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44" name="Text 96">
            <a:extLst>
              <a:ext uri="{FF2B5EF4-FFF2-40B4-BE49-F238E27FC236}">
                <a16:creationId xmlns:a16="http://schemas.microsoft.com/office/drawing/2014/main" id="{B035779F-9A4F-BBB9-FA47-ABBC49934218}"/>
              </a:ext>
            </a:extLst>
          </p:cNvPr>
          <p:cNvSpPr/>
          <p:nvPr/>
        </p:nvSpPr>
        <p:spPr>
          <a:xfrm>
            <a:off x="9864302" y="4299625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8:53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45" name="Text 97">
            <a:extLst>
              <a:ext uri="{FF2B5EF4-FFF2-40B4-BE49-F238E27FC236}">
                <a16:creationId xmlns:a16="http://schemas.microsoft.com/office/drawing/2014/main" id="{F37B9C1D-78D7-54A2-114A-9E180C0AF7EB}"/>
              </a:ext>
            </a:extLst>
          </p:cNvPr>
          <p:cNvSpPr/>
          <p:nvPr/>
        </p:nvSpPr>
        <p:spPr>
          <a:xfrm>
            <a:off x="5574423" y="4423633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46" name="Text 98">
            <a:extLst>
              <a:ext uri="{FF2B5EF4-FFF2-40B4-BE49-F238E27FC236}">
                <a16:creationId xmlns:a16="http://schemas.microsoft.com/office/drawing/2014/main" id="{A387C2FB-41F7-69D1-4E0F-5D38EECFFEB9}"/>
              </a:ext>
            </a:extLst>
          </p:cNvPr>
          <p:cNvSpPr/>
          <p:nvPr/>
        </p:nvSpPr>
        <p:spPr>
          <a:xfrm>
            <a:off x="6214503" y="4423633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amazon.com/Japan-Travel-Guide/dp/B0…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47" name="Text 99">
            <a:extLst>
              <a:ext uri="{FF2B5EF4-FFF2-40B4-BE49-F238E27FC236}">
                <a16:creationId xmlns:a16="http://schemas.microsoft.com/office/drawing/2014/main" id="{A52DA79C-F412-F6DB-2953-17F517C4747A}"/>
              </a:ext>
            </a:extLst>
          </p:cNvPr>
          <p:cNvSpPr/>
          <p:nvPr/>
        </p:nvSpPr>
        <p:spPr>
          <a:xfrm>
            <a:off x="9864302" y="4423633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8:55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48" name="Text 100">
            <a:extLst>
              <a:ext uri="{FF2B5EF4-FFF2-40B4-BE49-F238E27FC236}">
                <a16:creationId xmlns:a16="http://schemas.microsoft.com/office/drawing/2014/main" id="{5B400DD8-6D02-97E6-2B37-666618BE015C}"/>
              </a:ext>
            </a:extLst>
          </p:cNvPr>
          <p:cNvSpPr/>
          <p:nvPr/>
        </p:nvSpPr>
        <p:spPr>
          <a:xfrm>
            <a:off x="5574423" y="4547641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49" name="Text 101">
            <a:extLst>
              <a:ext uri="{FF2B5EF4-FFF2-40B4-BE49-F238E27FC236}">
                <a16:creationId xmlns:a16="http://schemas.microsoft.com/office/drawing/2014/main" id="{9567824D-0971-C264-B737-1C3CB3F77AD7}"/>
              </a:ext>
            </a:extLst>
          </p:cNvPr>
          <p:cNvSpPr/>
          <p:nvPr/>
        </p:nvSpPr>
        <p:spPr>
          <a:xfrm>
            <a:off x="6214503" y="4547641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amazon.com/Portable-WiFi-Japan/dp/B0…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50" name="Text 102">
            <a:extLst>
              <a:ext uri="{FF2B5EF4-FFF2-40B4-BE49-F238E27FC236}">
                <a16:creationId xmlns:a16="http://schemas.microsoft.com/office/drawing/2014/main" id="{308399E0-4488-4FF3-900C-5F49A3351E63}"/>
              </a:ext>
            </a:extLst>
          </p:cNvPr>
          <p:cNvSpPr/>
          <p:nvPr/>
        </p:nvSpPr>
        <p:spPr>
          <a:xfrm>
            <a:off x="9864302" y="4547641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8:56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51" name="Text 103">
            <a:extLst>
              <a:ext uri="{FF2B5EF4-FFF2-40B4-BE49-F238E27FC236}">
                <a16:creationId xmlns:a16="http://schemas.microsoft.com/office/drawing/2014/main" id="{1027B4C3-822C-430E-2F67-C7603AA17574}"/>
              </a:ext>
            </a:extLst>
          </p:cNvPr>
          <p:cNvSpPr/>
          <p:nvPr/>
        </p:nvSpPr>
        <p:spPr>
          <a:xfrm>
            <a:off x="5574423" y="4671649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52" name="Text 104">
            <a:extLst>
              <a:ext uri="{FF2B5EF4-FFF2-40B4-BE49-F238E27FC236}">
                <a16:creationId xmlns:a16="http://schemas.microsoft.com/office/drawing/2014/main" id="{81E0583C-527A-3241-4A74-EC60D5E592C1}"/>
              </a:ext>
            </a:extLst>
          </p:cNvPr>
          <p:cNvSpPr/>
          <p:nvPr/>
        </p:nvSpPr>
        <p:spPr>
          <a:xfrm>
            <a:off x="6214503" y="4671649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amazon.com/cart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53" name="Text 105">
            <a:extLst>
              <a:ext uri="{FF2B5EF4-FFF2-40B4-BE49-F238E27FC236}">
                <a16:creationId xmlns:a16="http://schemas.microsoft.com/office/drawing/2014/main" id="{0DB8E6D4-0F67-BB3F-4767-F46C28DFD48D}"/>
              </a:ext>
            </a:extLst>
          </p:cNvPr>
          <p:cNvSpPr/>
          <p:nvPr/>
        </p:nvSpPr>
        <p:spPr>
          <a:xfrm>
            <a:off x="9864302" y="4671649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8:57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54" name="Text 106">
            <a:extLst>
              <a:ext uri="{FF2B5EF4-FFF2-40B4-BE49-F238E27FC236}">
                <a16:creationId xmlns:a16="http://schemas.microsoft.com/office/drawing/2014/main" id="{FE791B9A-3C22-117C-65D9-88C82701AE9E}"/>
              </a:ext>
            </a:extLst>
          </p:cNvPr>
          <p:cNvSpPr/>
          <p:nvPr/>
        </p:nvSpPr>
        <p:spPr>
          <a:xfrm>
            <a:off x="5574423" y="4795657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55" name="Text 107">
            <a:extLst>
              <a:ext uri="{FF2B5EF4-FFF2-40B4-BE49-F238E27FC236}">
                <a16:creationId xmlns:a16="http://schemas.microsoft.com/office/drawing/2014/main" id="{81A6A993-5DE1-FAD9-1ADF-A1C3D18D3A6C}"/>
              </a:ext>
            </a:extLst>
          </p:cNvPr>
          <p:cNvSpPr/>
          <p:nvPr/>
        </p:nvSpPr>
        <p:spPr>
          <a:xfrm>
            <a:off x="6214503" y="4795657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amazon.com/checkout/order-confirmation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56" name="Text 108">
            <a:extLst>
              <a:ext uri="{FF2B5EF4-FFF2-40B4-BE49-F238E27FC236}">
                <a16:creationId xmlns:a16="http://schemas.microsoft.com/office/drawing/2014/main" id="{D87C7D44-D2BA-F4E3-925A-77CF0B6E106E}"/>
              </a:ext>
            </a:extLst>
          </p:cNvPr>
          <p:cNvSpPr/>
          <p:nvPr/>
        </p:nvSpPr>
        <p:spPr>
          <a:xfrm>
            <a:off x="9864302" y="4795657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8:58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57" name="Text 109">
            <a:extLst>
              <a:ext uri="{FF2B5EF4-FFF2-40B4-BE49-F238E27FC236}">
                <a16:creationId xmlns:a16="http://schemas.microsoft.com/office/drawing/2014/main" id="{D41A30AB-0FEA-E108-E23F-8C29A1DD21AC}"/>
              </a:ext>
            </a:extLst>
          </p:cNvPr>
          <p:cNvSpPr/>
          <p:nvPr/>
        </p:nvSpPr>
        <p:spPr>
          <a:xfrm>
            <a:off x="5574423" y="4919665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58" name="Text 110">
            <a:extLst>
              <a:ext uri="{FF2B5EF4-FFF2-40B4-BE49-F238E27FC236}">
                <a16:creationId xmlns:a16="http://schemas.microsoft.com/office/drawing/2014/main" id="{FCCE9DB5-00C2-4015-053D-A1EBF2453E9C}"/>
              </a:ext>
            </a:extLst>
          </p:cNvPr>
          <p:cNvSpPr/>
          <p:nvPr/>
        </p:nvSpPr>
        <p:spPr>
          <a:xfrm>
            <a:off x="6214503" y="4919665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uber.com/global/cities/tokyo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59" name="Text 111">
            <a:extLst>
              <a:ext uri="{FF2B5EF4-FFF2-40B4-BE49-F238E27FC236}">
                <a16:creationId xmlns:a16="http://schemas.microsoft.com/office/drawing/2014/main" id="{6E49F19B-DC7D-1F77-2DB0-0D93B95FF9F9}"/>
              </a:ext>
            </a:extLst>
          </p:cNvPr>
          <p:cNvSpPr/>
          <p:nvPr/>
        </p:nvSpPr>
        <p:spPr>
          <a:xfrm>
            <a:off x="9864302" y="4919665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9:00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60" name="Text 112">
            <a:extLst>
              <a:ext uri="{FF2B5EF4-FFF2-40B4-BE49-F238E27FC236}">
                <a16:creationId xmlns:a16="http://schemas.microsoft.com/office/drawing/2014/main" id="{94FD0530-FD0C-CBCF-7AA1-71062CAB778C}"/>
              </a:ext>
            </a:extLst>
          </p:cNvPr>
          <p:cNvSpPr/>
          <p:nvPr/>
        </p:nvSpPr>
        <p:spPr>
          <a:xfrm>
            <a:off x="5574423" y="5043673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61" name="Text 113">
            <a:extLst>
              <a:ext uri="{FF2B5EF4-FFF2-40B4-BE49-F238E27FC236}">
                <a16:creationId xmlns:a16="http://schemas.microsoft.com/office/drawing/2014/main" id="{F74320A3-5C9D-67A0-7FAB-2EF3BFED20D8}"/>
              </a:ext>
            </a:extLst>
          </p:cNvPr>
          <p:cNvSpPr/>
          <p:nvPr/>
        </p:nvSpPr>
        <p:spPr>
          <a:xfrm>
            <a:off x="6214503" y="5043673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duolingo.com/course/japanese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62" name="Text 114">
            <a:extLst>
              <a:ext uri="{FF2B5EF4-FFF2-40B4-BE49-F238E27FC236}">
                <a16:creationId xmlns:a16="http://schemas.microsoft.com/office/drawing/2014/main" id="{030C9EDB-B512-4FA9-00BC-B5162DBDCC37}"/>
              </a:ext>
            </a:extLst>
          </p:cNvPr>
          <p:cNvSpPr/>
          <p:nvPr/>
        </p:nvSpPr>
        <p:spPr>
          <a:xfrm>
            <a:off x="9864302" y="5043673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9:02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63" name="Text 115">
            <a:extLst>
              <a:ext uri="{FF2B5EF4-FFF2-40B4-BE49-F238E27FC236}">
                <a16:creationId xmlns:a16="http://schemas.microsoft.com/office/drawing/2014/main" id="{85AAD565-BC14-E188-CB6D-2AD2D257F491}"/>
              </a:ext>
            </a:extLst>
          </p:cNvPr>
          <p:cNvSpPr/>
          <p:nvPr/>
        </p:nvSpPr>
        <p:spPr>
          <a:xfrm>
            <a:off x="5574423" y="5167681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64" name="Text 116">
            <a:extLst>
              <a:ext uri="{FF2B5EF4-FFF2-40B4-BE49-F238E27FC236}">
                <a16:creationId xmlns:a16="http://schemas.microsoft.com/office/drawing/2014/main" id="{3FA086F8-9F62-CAD3-685E-05234EDB0F40}"/>
              </a:ext>
            </a:extLst>
          </p:cNvPr>
          <p:cNvSpPr/>
          <p:nvPr/>
        </p:nvSpPr>
        <p:spPr>
          <a:xfrm>
            <a:off x="6214503" y="5167681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open.spotify.com/playlist/tokyo-city-pop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65" name="Text 117">
            <a:extLst>
              <a:ext uri="{FF2B5EF4-FFF2-40B4-BE49-F238E27FC236}">
                <a16:creationId xmlns:a16="http://schemas.microsoft.com/office/drawing/2014/main" id="{5E9140F3-0563-C949-06E1-CA72A9C9CEE8}"/>
              </a:ext>
            </a:extLst>
          </p:cNvPr>
          <p:cNvSpPr/>
          <p:nvPr/>
        </p:nvSpPr>
        <p:spPr>
          <a:xfrm>
            <a:off x="9864302" y="5167681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9:04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66" name="Text 118">
            <a:extLst>
              <a:ext uri="{FF2B5EF4-FFF2-40B4-BE49-F238E27FC236}">
                <a16:creationId xmlns:a16="http://schemas.microsoft.com/office/drawing/2014/main" id="{CCFE23D3-D2DC-7194-CEE2-E955287A4D78}"/>
              </a:ext>
            </a:extLst>
          </p:cNvPr>
          <p:cNvSpPr/>
          <p:nvPr/>
        </p:nvSpPr>
        <p:spPr>
          <a:xfrm>
            <a:off x="5574423" y="5291689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67" name="Text 119">
            <a:extLst>
              <a:ext uri="{FF2B5EF4-FFF2-40B4-BE49-F238E27FC236}">
                <a16:creationId xmlns:a16="http://schemas.microsoft.com/office/drawing/2014/main" id="{88FE9E78-D65E-64FB-E5F5-EE36C6B19710}"/>
              </a:ext>
            </a:extLst>
          </p:cNvPr>
          <p:cNvSpPr/>
          <p:nvPr/>
        </p:nvSpPr>
        <p:spPr>
          <a:xfrm>
            <a:off x="6214503" y="5291689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en.wikipedia.org/wiki/Kyoto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68" name="Text 120">
            <a:extLst>
              <a:ext uri="{FF2B5EF4-FFF2-40B4-BE49-F238E27FC236}">
                <a16:creationId xmlns:a16="http://schemas.microsoft.com/office/drawing/2014/main" id="{D553502B-A1C1-02B7-434B-61610B48D2E5}"/>
              </a:ext>
            </a:extLst>
          </p:cNvPr>
          <p:cNvSpPr/>
          <p:nvPr/>
        </p:nvSpPr>
        <p:spPr>
          <a:xfrm>
            <a:off x="9864302" y="5291689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9:06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69" name="Text 121">
            <a:extLst>
              <a:ext uri="{FF2B5EF4-FFF2-40B4-BE49-F238E27FC236}">
                <a16:creationId xmlns:a16="http://schemas.microsoft.com/office/drawing/2014/main" id="{906452B6-76D4-BCAB-4AA9-C6A2D89EA806}"/>
              </a:ext>
            </a:extLst>
          </p:cNvPr>
          <p:cNvSpPr/>
          <p:nvPr/>
        </p:nvSpPr>
        <p:spPr>
          <a:xfrm>
            <a:off x="5574423" y="5415697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70" name="Text 122">
            <a:extLst>
              <a:ext uri="{FF2B5EF4-FFF2-40B4-BE49-F238E27FC236}">
                <a16:creationId xmlns:a16="http://schemas.microsoft.com/office/drawing/2014/main" id="{4A9FA987-1194-31BF-F6B6-4B93FE603A02}"/>
              </a:ext>
            </a:extLst>
          </p:cNvPr>
          <p:cNvSpPr/>
          <p:nvPr/>
        </p:nvSpPr>
        <p:spPr>
          <a:xfrm>
            <a:off x="6214503" y="5415697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reddit.com/r/JapanTravel/packing-list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71" name="Text 123">
            <a:extLst>
              <a:ext uri="{FF2B5EF4-FFF2-40B4-BE49-F238E27FC236}">
                <a16:creationId xmlns:a16="http://schemas.microsoft.com/office/drawing/2014/main" id="{0465C4CD-5498-752E-976A-2C4BBD638EE8}"/>
              </a:ext>
            </a:extLst>
          </p:cNvPr>
          <p:cNvSpPr/>
          <p:nvPr/>
        </p:nvSpPr>
        <p:spPr>
          <a:xfrm>
            <a:off x="9864302" y="5415697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9:08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72" name="Text 124">
            <a:extLst>
              <a:ext uri="{FF2B5EF4-FFF2-40B4-BE49-F238E27FC236}">
                <a16:creationId xmlns:a16="http://schemas.microsoft.com/office/drawing/2014/main" id="{4C84D1F5-98E3-6A2A-0FF5-893D6FA8289C}"/>
              </a:ext>
            </a:extLst>
          </p:cNvPr>
          <p:cNvSpPr/>
          <p:nvPr/>
        </p:nvSpPr>
        <p:spPr>
          <a:xfrm>
            <a:off x="5574423" y="5539705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73" name="Text 125">
            <a:extLst>
              <a:ext uri="{FF2B5EF4-FFF2-40B4-BE49-F238E27FC236}">
                <a16:creationId xmlns:a16="http://schemas.microsoft.com/office/drawing/2014/main" id="{DE8A432A-4469-C911-1B3E-750E56D34085}"/>
              </a:ext>
            </a:extLst>
          </p:cNvPr>
          <p:cNvSpPr/>
          <p:nvPr/>
        </p:nvSpPr>
        <p:spPr>
          <a:xfrm>
            <a:off x="6214503" y="5539705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chatgpt.com/c/kyoto-1-day-walking-route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74" name="Text 126">
            <a:extLst>
              <a:ext uri="{FF2B5EF4-FFF2-40B4-BE49-F238E27FC236}">
                <a16:creationId xmlns:a16="http://schemas.microsoft.com/office/drawing/2014/main" id="{8302ED61-BFAF-7990-2373-73536DE18DC8}"/>
              </a:ext>
            </a:extLst>
          </p:cNvPr>
          <p:cNvSpPr/>
          <p:nvPr/>
        </p:nvSpPr>
        <p:spPr>
          <a:xfrm>
            <a:off x="9864302" y="5539705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9:11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75" name="Text 127">
            <a:extLst>
              <a:ext uri="{FF2B5EF4-FFF2-40B4-BE49-F238E27FC236}">
                <a16:creationId xmlns:a16="http://schemas.microsoft.com/office/drawing/2014/main" id="{5FC91AA0-07A2-F41C-7ECE-EA5D1ECDB5E7}"/>
              </a:ext>
            </a:extLst>
          </p:cNvPr>
          <p:cNvSpPr/>
          <p:nvPr/>
        </p:nvSpPr>
        <p:spPr>
          <a:xfrm>
            <a:off x="5574423" y="5663713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76" name="Text 128">
            <a:extLst>
              <a:ext uri="{FF2B5EF4-FFF2-40B4-BE49-F238E27FC236}">
                <a16:creationId xmlns:a16="http://schemas.microsoft.com/office/drawing/2014/main" id="{A3D70C63-F9F2-8691-B763-2759796D9345}"/>
              </a:ext>
            </a:extLst>
          </p:cNvPr>
          <p:cNvSpPr/>
          <p:nvPr/>
        </p:nvSpPr>
        <p:spPr>
          <a:xfrm>
            <a:off x="6214503" y="5663713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chatgpt.com/c/tokyo-food-recommendations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77" name="Text 129">
            <a:extLst>
              <a:ext uri="{FF2B5EF4-FFF2-40B4-BE49-F238E27FC236}">
                <a16:creationId xmlns:a16="http://schemas.microsoft.com/office/drawing/2014/main" id="{3148B993-D7A9-22B6-5EBB-1DE0DC640C64}"/>
              </a:ext>
            </a:extLst>
          </p:cNvPr>
          <p:cNvSpPr/>
          <p:nvPr/>
        </p:nvSpPr>
        <p:spPr>
          <a:xfrm>
            <a:off x="9864302" y="5663713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9:14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78" name="Text 130">
            <a:extLst>
              <a:ext uri="{FF2B5EF4-FFF2-40B4-BE49-F238E27FC236}">
                <a16:creationId xmlns:a16="http://schemas.microsoft.com/office/drawing/2014/main" id="{66F99392-635B-CF9A-DEC1-625DED8716EE}"/>
              </a:ext>
            </a:extLst>
          </p:cNvPr>
          <p:cNvSpPr/>
          <p:nvPr/>
        </p:nvSpPr>
        <p:spPr>
          <a:xfrm>
            <a:off x="5574423" y="5787721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79" name="Text 131">
            <a:extLst>
              <a:ext uri="{FF2B5EF4-FFF2-40B4-BE49-F238E27FC236}">
                <a16:creationId xmlns:a16="http://schemas.microsoft.com/office/drawing/2014/main" id="{0EEA331A-A951-20C7-E487-EBBCB5C44771}"/>
              </a:ext>
            </a:extLst>
          </p:cNvPr>
          <p:cNvSpPr/>
          <p:nvPr/>
        </p:nvSpPr>
        <p:spPr>
          <a:xfrm>
            <a:off x="6214503" y="5787721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google.com/maps/search/kyoto+temples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80" name="Text 132">
            <a:extLst>
              <a:ext uri="{FF2B5EF4-FFF2-40B4-BE49-F238E27FC236}">
                <a16:creationId xmlns:a16="http://schemas.microsoft.com/office/drawing/2014/main" id="{FA55ABFF-46A9-5364-4016-887E4D07CB78}"/>
              </a:ext>
            </a:extLst>
          </p:cNvPr>
          <p:cNvSpPr/>
          <p:nvPr/>
        </p:nvSpPr>
        <p:spPr>
          <a:xfrm>
            <a:off x="9864302" y="5787721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9:16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81" name="Text 133">
            <a:extLst>
              <a:ext uri="{FF2B5EF4-FFF2-40B4-BE49-F238E27FC236}">
                <a16:creationId xmlns:a16="http://schemas.microsoft.com/office/drawing/2014/main" id="{03F3DEBA-3A99-96B6-6437-EC0E374E6733}"/>
              </a:ext>
            </a:extLst>
          </p:cNvPr>
          <p:cNvSpPr/>
          <p:nvPr/>
        </p:nvSpPr>
        <p:spPr>
          <a:xfrm>
            <a:off x="5574423" y="5911729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82" name="Text 134">
            <a:extLst>
              <a:ext uri="{FF2B5EF4-FFF2-40B4-BE49-F238E27FC236}">
                <a16:creationId xmlns:a16="http://schemas.microsoft.com/office/drawing/2014/main" id="{A0FE2928-306A-04AB-CD66-6C1C324D1053}"/>
              </a:ext>
            </a:extLst>
          </p:cNvPr>
          <p:cNvSpPr/>
          <p:nvPr/>
        </p:nvSpPr>
        <p:spPr>
          <a:xfrm>
            <a:off x="6214503" y="5911729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youtube.com/watch?v=tokyo-food-tour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83" name="Text 135">
            <a:extLst>
              <a:ext uri="{FF2B5EF4-FFF2-40B4-BE49-F238E27FC236}">
                <a16:creationId xmlns:a16="http://schemas.microsoft.com/office/drawing/2014/main" id="{553ABDAF-ACBC-FE00-048E-E3B8F3EDF175}"/>
              </a:ext>
            </a:extLst>
          </p:cNvPr>
          <p:cNvSpPr/>
          <p:nvPr/>
        </p:nvSpPr>
        <p:spPr>
          <a:xfrm>
            <a:off x="9864302" y="5911729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9:17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84" name="Text 136">
            <a:extLst>
              <a:ext uri="{FF2B5EF4-FFF2-40B4-BE49-F238E27FC236}">
                <a16:creationId xmlns:a16="http://schemas.microsoft.com/office/drawing/2014/main" id="{58D50143-B615-7201-631C-4461A37B9A03}"/>
              </a:ext>
            </a:extLst>
          </p:cNvPr>
          <p:cNvSpPr/>
          <p:nvPr/>
        </p:nvSpPr>
        <p:spPr>
          <a:xfrm>
            <a:off x="5574423" y="6035737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85" name="Text 137">
            <a:extLst>
              <a:ext uri="{FF2B5EF4-FFF2-40B4-BE49-F238E27FC236}">
                <a16:creationId xmlns:a16="http://schemas.microsoft.com/office/drawing/2014/main" id="{0C4EC7D5-9ADB-3620-3775-E8E801EC2375}"/>
              </a:ext>
            </a:extLst>
          </p:cNvPr>
          <p:cNvSpPr/>
          <p:nvPr/>
        </p:nvSpPr>
        <p:spPr>
          <a:xfrm>
            <a:off x="6214503" y="6035737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instagram.com/save/japan-trip-collection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86" name="Text 138">
            <a:extLst>
              <a:ext uri="{FF2B5EF4-FFF2-40B4-BE49-F238E27FC236}">
                <a16:creationId xmlns:a16="http://schemas.microsoft.com/office/drawing/2014/main" id="{72A8CDEC-48B7-8C09-5C4A-F32604D46C20}"/>
              </a:ext>
            </a:extLst>
          </p:cNvPr>
          <p:cNvSpPr/>
          <p:nvPr/>
        </p:nvSpPr>
        <p:spPr>
          <a:xfrm>
            <a:off x="9864302" y="6035737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9:18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87" name="Text 139">
            <a:extLst>
              <a:ext uri="{FF2B5EF4-FFF2-40B4-BE49-F238E27FC236}">
                <a16:creationId xmlns:a16="http://schemas.microsoft.com/office/drawing/2014/main" id="{83472418-7593-D033-A95E-D29EEE916CFE}"/>
              </a:ext>
            </a:extLst>
          </p:cNvPr>
          <p:cNvSpPr/>
          <p:nvPr/>
        </p:nvSpPr>
        <p:spPr>
          <a:xfrm>
            <a:off x="5574423" y="6159758"/>
            <a:ext cx="59436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112…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88" name="Text 140">
            <a:extLst>
              <a:ext uri="{FF2B5EF4-FFF2-40B4-BE49-F238E27FC236}">
                <a16:creationId xmlns:a16="http://schemas.microsoft.com/office/drawing/2014/main" id="{6F43BF4E-578B-016A-CECD-82C29CCF503C}"/>
              </a:ext>
            </a:extLst>
          </p:cNvPr>
          <p:cNvSpPr/>
          <p:nvPr/>
        </p:nvSpPr>
        <p:spPr>
          <a:xfrm>
            <a:off x="6214503" y="6159758"/>
            <a:ext cx="443484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google.com/travel/my-trips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89" name="Text 141">
            <a:extLst>
              <a:ext uri="{FF2B5EF4-FFF2-40B4-BE49-F238E27FC236}">
                <a16:creationId xmlns:a16="http://schemas.microsoft.com/office/drawing/2014/main" id="{42905E59-E8FE-4F65-D947-389A27C5978B}"/>
              </a:ext>
            </a:extLst>
          </p:cNvPr>
          <p:cNvSpPr/>
          <p:nvPr/>
        </p:nvSpPr>
        <p:spPr>
          <a:xfrm>
            <a:off x="9864302" y="6159758"/>
            <a:ext cx="868680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Geist Mono" panose="02000503000000020004" pitchFamily="34" charset="0"/>
                <a:ea typeface="Geist Mono" panose="02000503000000020004" pitchFamily="34" charset="0"/>
                <a:cs typeface="Geist Mono" panose="02000503000000020004" pitchFamily="34" charset="0"/>
              </a:rPr>
              <a:t>9:19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48749DC0-C7BA-DF9F-2574-BA4DCA375CCD}"/>
              </a:ext>
            </a:extLst>
          </p:cNvPr>
          <p:cNvGrpSpPr/>
          <p:nvPr/>
        </p:nvGrpSpPr>
        <p:grpSpPr>
          <a:xfrm>
            <a:off x="11094818" y="945807"/>
            <a:ext cx="255629" cy="5378057"/>
            <a:chOff x="11537218" y="1012108"/>
            <a:chExt cx="255629" cy="5378057"/>
          </a:xfrm>
        </p:grpSpPr>
        <p:pic>
          <p:nvPicPr>
            <p:cNvPr id="303" name="Picture 302" descr="The image depicts a bold, black tiktok logo with a red, blue, and pink gradient, showcasing the iconic TikTok symbol.  AI-generated content may be incorrect.">
              <a:extLst>
                <a:ext uri="{FF2B5EF4-FFF2-40B4-BE49-F238E27FC236}">
                  <a16:creationId xmlns:a16="http://schemas.microsoft.com/office/drawing/2014/main" id="{D95C1D42-47B3-64EA-C036-A08531AFE3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37582" y="2300024"/>
              <a:ext cx="254901" cy="254900"/>
            </a:xfrm>
            <a:prstGeom prst="rect">
              <a:avLst/>
            </a:prstGeom>
          </p:spPr>
        </p:pic>
        <p:pic>
          <p:nvPicPr>
            <p:cNvPr id="304" name="Picture 303" descr="M  AI-generated content may be incorrect.">
              <a:extLst>
                <a:ext uri="{FF2B5EF4-FFF2-40B4-BE49-F238E27FC236}">
                  <a16:creationId xmlns:a16="http://schemas.microsoft.com/office/drawing/2014/main" id="{C1915171-929F-E9C3-2095-17283F2EA9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538485" y="1012108"/>
              <a:ext cx="253094" cy="253093"/>
            </a:xfrm>
            <a:prstGeom prst="rect">
              <a:avLst/>
            </a:prstGeom>
          </p:spPr>
        </p:pic>
        <p:sp>
          <p:nvSpPr>
            <p:cNvPr id="305" name="Oval 304">
              <a:extLst>
                <a:ext uri="{FF2B5EF4-FFF2-40B4-BE49-F238E27FC236}">
                  <a16:creationId xmlns:a16="http://schemas.microsoft.com/office/drawing/2014/main" id="{22029D9A-5ACE-D8B8-29E8-E7A8BAE9CD4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537582" y="4871202"/>
              <a:ext cx="254901" cy="254900"/>
            </a:xfrm>
            <a:prstGeom prst="ellipse">
              <a:avLst/>
            </a:prstGeom>
            <a:solidFill>
              <a:srgbClr val="303C4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rosswalk Inter" panose="02000503000000020004" pitchFamily="34" charset="0"/>
                  <a:ea typeface="Crosswalk Inter" panose="02000503000000020004" pitchFamily="34" charset="0"/>
                  <a:cs typeface="Crosswalk Inter" panose="02000503000000020004" pitchFamily="34" charset="0"/>
                </a:defRPr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endParaRPr>
            </a:p>
          </p:txBody>
        </p:sp>
        <p:pic>
          <p:nvPicPr>
            <p:cNvPr id="306" name="Picture 305" descr="A  AI-generated content may be incorrect.">
              <a:extLst>
                <a:ext uri="{FF2B5EF4-FFF2-40B4-BE49-F238E27FC236}">
                  <a16:creationId xmlns:a16="http://schemas.microsoft.com/office/drawing/2014/main" id="{AB90894F-F55C-3EBA-166F-7B351F1985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231F20"/>
                </a:clrFrom>
                <a:clrTo>
                  <a:srgbClr val="231F20">
                    <a:alpha val="0"/>
                  </a:srgbClr>
                </a:clrTo>
              </a:clrChange>
            </a:blip>
            <a:srcRect l="14513" t="16550" r="17295" b="14930"/>
            <a:stretch>
              <a:fillRect/>
            </a:stretch>
          </p:blipFill>
          <p:spPr>
            <a:xfrm>
              <a:off x="11568793" y="4906260"/>
              <a:ext cx="186129" cy="187021"/>
            </a:xfrm>
            <a:prstGeom prst="rect">
              <a:avLst/>
            </a:prstGeom>
          </p:spPr>
        </p:pic>
        <p:pic>
          <p:nvPicPr>
            <p:cNvPr id="308" name="Picture 307">
              <a:extLst>
                <a:ext uri="{FF2B5EF4-FFF2-40B4-BE49-F238E27FC236}">
                  <a16:creationId xmlns:a16="http://schemas.microsoft.com/office/drawing/2014/main" id="{B284F1F5-B0C5-DB85-65D2-2FC076F46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537218" y="5835257"/>
              <a:ext cx="255629" cy="255628"/>
            </a:xfrm>
            <a:prstGeom prst="rect">
              <a:avLst/>
            </a:prstGeom>
          </p:spPr>
        </p:pic>
        <p:pic>
          <p:nvPicPr>
            <p:cNvPr id="309" name="Picture 308">
              <a:extLst>
                <a:ext uri="{FF2B5EF4-FFF2-40B4-BE49-F238E27FC236}">
                  <a16:creationId xmlns:a16="http://schemas.microsoft.com/office/drawing/2014/main" id="{52CA8742-A605-9736-87FD-CB772EC50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0872" t="10994" r="11115" b="10994"/>
            <a:stretch>
              <a:fillRect/>
            </a:stretch>
          </p:blipFill>
          <p:spPr>
            <a:xfrm>
              <a:off x="11537218" y="1331214"/>
              <a:ext cx="255629" cy="255628"/>
            </a:xfrm>
            <a:prstGeom prst="ellipse">
              <a:avLst/>
            </a:prstGeom>
          </p:spPr>
        </p:pic>
        <p:pic>
          <p:nvPicPr>
            <p:cNvPr id="310" name="Picture 309">
              <a:extLst>
                <a:ext uri="{FF2B5EF4-FFF2-40B4-BE49-F238E27FC236}">
                  <a16:creationId xmlns:a16="http://schemas.microsoft.com/office/drawing/2014/main" id="{E309F0CF-F9A8-1E77-925C-2856C4E5A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0192" t="9588" r="10020" b="9675"/>
            <a:stretch>
              <a:fillRect/>
            </a:stretch>
          </p:blipFill>
          <p:spPr>
            <a:xfrm>
              <a:off x="11537218" y="1975336"/>
              <a:ext cx="255629" cy="258675"/>
            </a:xfrm>
            <a:prstGeom prst="rect">
              <a:avLst/>
            </a:prstGeom>
          </p:spPr>
        </p:pic>
        <p:pic>
          <p:nvPicPr>
            <p:cNvPr id="311" name="Picture 310">
              <a:extLst>
                <a:ext uri="{FF2B5EF4-FFF2-40B4-BE49-F238E27FC236}">
                  <a16:creationId xmlns:a16="http://schemas.microsoft.com/office/drawing/2014/main" id="{DE12766B-E9BA-D431-C146-BB1BEEEFF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537218" y="2620937"/>
              <a:ext cx="255629" cy="255628"/>
            </a:xfrm>
            <a:prstGeom prst="rect">
              <a:avLst/>
            </a:prstGeom>
          </p:spPr>
        </p:pic>
        <p:pic>
          <p:nvPicPr>
            <p:cNvPr id="312" name="Picture 311">
              <a:extLst>
                <a:ext uri="{FF2B5EF4-FFF2-40B4-BE49-F238E27FC236}">
                  <a16:creationId xmlns:a16="http://schemas.microsoft.com/office/drawing/2014/main" id="{2F24B22F-9E62-58AB-6D4C-56CF34FB2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5668" t="5267" r="5749" b="5859"/>
            <a:stretch>
              <a:fillRect/>
            </a:stretch>
          </p:blipFill>
          <p:spPr>
            <a:xfrm>
              <a:off x="11537218" y="1652855"/>
              <a:ext cx="255629" cy="256468"/>
            </a:xfrm>
            <a:prstGeom prst="ellipse">
              <a:avLst/>
            </a:prstGeom>
            <a:effectLst/>
          </p:spPr>
        </p:pic>
        <p:pic>
          <p:nvPicPr>
            <p:cNvPr id="313" name="Picture 312" descr="File:Imdb logo rounded corners.png - Wikimedia Commons">
              <a:extLst>
                <a:ext uri="{FF2B5EF4-FFF2-40B4-BE49-F238E27FC236}">
                  <a16:creationId xmlns:a16="http://schemas.microsoft.com/office/drawing/2014/main" id="{D1C6CE23-7B60-570D-2B69-F920296B5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1537218" y="3263222"/>
              <a:ext cx="255629" cy="255628"/>
            </a:xfrm>
            <a:prstGeom prst="ellipse">
              <a:avLst/>
            </a:prstGeom>
          </p:spPr>
        </p:pic>
        <p:pic>
          <p:nvPicPr>
            <p:cNvPr id="315" name="Picture 314" descr="TripAdvisor Logo - PNG and Vector - Logo Download">
              <a:extLst>
                <a:ext uri="{FF2B5EF4-FFF2-40B4-BE49-F238E27FC236}">
                  <a16:creationId xmlns:a16="http://schemas.microsoft.com/office/drawing/2014/main" id="{0EA5E218-D4BA-EA1D-C4CC-094BE0B637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12682" t="42050" r="71325" b="42021"/>
            <a:stretch>
              <a:fillRect/>
            </a:stretch>
          </p:blipFill>
          <p:spPr>
            <a:xfrm>
              <a:off x="11537218" y="2942578"/>
              <a:ext cx="255629" cy="254631"/>
            </a:xfrm>
            <a:prstGeom prst="rect">
              <a:avLst/>
            </a:prstGeom>
          </p:spPr>
        </p:pic>
        <p:pic>
          <p:nvPicPr>
            <p:cNvPr id="317" name="Picture 316" descr="File:Wikipedia-logo-v2.svg - Wikimedia Commons">
              <a:extLst>
                <a:ext uri="{FF2B5EF4-FFF2-40B4-BE49-F238E27FC236}">
                  <a16:creationId xmlns:a16="http://schemas.microsoft.com/office/drawing/2014/main" id="{50126059-3B3B-13F6-BE8A-93E4F83384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1537218" y="6156904"/>
              <a:ext cx="255629" cy="233261"/>
            </a:xfrm>
            <a:prstGeom prst="rect">
              <a:avLst/>
            </a:prstGeom>
          </p:spPr>
        </p:pic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9252CAD6-A258-D0AB-95A0-09939761D0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537253" y="5513686"/>
              <a:ext cx="255558" cy="25555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rosswalk Inter" panose="02000503000000020004" pitchFamily="34" charset="0"/>
                  <a:ea typeface="Crosswalk Inter" panose="02000503000000020004" pitchFamily="34" charset="0"/>
                  <a:cs typeface="Crosswalk Inter" panose="02000503000000020004" pitchFamily="34" charset="0"/>
                </a:defRPr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endParaRPr>
            </a:p>
          </p:txBody>
        </p:sp>
        <p:pic>
          <p:nvPicPr>
            <p:cNvPr id="319" name="Picture 318">
              <a:extLst>
                <a:ext uri="{FF2B5EF4-FFF2-40B4-BE49-F238E27FC236}">
                  <a16:creationId xmlns:a16="http://schemas.microsoft.com/office/drawing/2014/main" id="{9F66E92C-7F5B-711D-1A0C-4CEB32C53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3334" r="13468"/>
            <a:stretch>
              <a:fillRect/>
            </a:stretch>
          </p:blipFill>
          <p:spPr>
            <a:xfrm>
              <a:off x="11565177" y="5566333"/>
              <a:ext cx="199711" cy="153472"/>
            </a:xfrm>
            <a:prstGeom prst="rect">
              <a:avLst/>
            </a:prstGeom>
          </p:spPr>
        </p:pic>
        <p:pic>
          <p:nvPicPr>
            <p:cNvPr id="320" name="Picture 319">
              <a:extLst>
                <a:ext uri="{FF2B5EF4-FFF2-40B4-BE49-F238E27FC236}">
                  <a16:creationId xmlns:a16="http://schemas.microsoft.com/office/drawing/2014/main" id="{AC9284E0-8316-C4C3-FCB4-300DC35BD3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1537253" y="3584863"/>
              <a:ext cx="255558" cy="255558"/>
            </a:xfrm>
            <a:prstGeom prst="rect">
              <a:avLst/>
            </a:prstGeom>
          </p:spPr>
        </p:pic>
        <p:pic>
          <p:nvPicPr>
            <p:cNvPr id="321" name="Picture 320">
              <a:extLst>
                <a:ext uri="{FF2B5EF4-FFF2-40B4-BE49-F238E27FC236}">
                  <a16:creationId xmlns:a16="http://schemas.microsoft.com/office/drawing/2014/main" id="{E6BD425F-8EC6-A70B-2B33-7EA7AB5B0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 l="15623" t="4326" r="15729" b="4080"/>
            <a:stretch>
              <a:fillRect/>
            </a:stretch>
          </p:blipFill>
          <p:spPr>
            <a:xfrm>
              <a:off x="11537253" y="4549455"/>
              <a:ext cx="255558" cy="255734"/>
            </a:xfrm>
            <a:prstGeom prst="ellipse">
              <a:avLst/>
            </a:prstGeom>
          </p:spPr>
        </p:pic>
        <p:pic>
          <p:nvPicPr>
            <p:cNvPr id="322" name="Picture 321">
              <a:extLst>
                <a:ext uri="{FF2B5EF4-FFF2-40B4-BE49-F238E27FC236}">
                  <a16:creationId xmlns:a16="http://schemas.microsoft.com/office/drawing/2014/main" id="{FBE7C547-30D5-8E8B-4AD7-1AE1636E4C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 l="939" r="1201"/>
            <a:stretch>
              <a:fillRect/>
            </a:stretch>
          </p:blipFill>
          <p:spPr>
            <a:xfrm>
              <a:off x="11537253" y="4228005"/>
              <a:ext cx="255558" cy="255437"/>
            </a:xfrm>
            <a:prstGeom prst="ellipse">
              <a:avLst/>
            </a:prstGeom>
          </p:spPr>
        </p:pic>
        <p:pic>
          <p:nvPicPr>
            <p:cNvPr id="324" name="Picture 323">
              <a:extLst>
                <a:ext uri="{FF2B5EF4-FFF2-40B4-BE49-F238E27FC236}">
                  <a16:creationId xmlns:a16="http://schemas.microsoft.com/office/drawing/2014/main" id="{BA2F6AF4-BAEC-224E-9D3D-5EF3B3D57B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 l="3356" t="2921" r="3096" b="3531"/>
            <a:stretch>
              <a:fillRect/>
            </a:stretch>
          </p:blipFill>
          <p:spPr>
            <a:xfrm>
              <a:off x="11537253" y="3906434"/>
              <a:ext cx="255558" cy="255558"/>
            </a:xfrm>
            <a:prstGeom prst="ellipse">
              <a:avLst/>
            </a:prstGeom>
          </p:spPr>
        </p:pic>
        <p:pic>
          <p:nvPicPr>
            <p:cNvPr id="326" name="Picture 325">
              <a:extLst>
                <a:ext uri="{FF2B5EF4-FFF2-40B4-BE49-F238E27FC236}">
                  <a16:creationId xmlns:a16="http://schemas.microsoft.com/office/drawing/2014/main" id="{C0EAF304-D255-25DE-D645-C9302239B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 l="4661" t="4661" r="5042" b="5042"/>
            <a:stretch>
              <a:fillRect/>
            </a:stretch>
          </p:blipFill>
          <p:spPr>
            <a:xfrm>
              <a:off x="11537253" y="5192115"/>
              <a:ext cx="255558" cy="255558"/>
            </a:xfrm>
            <a:prstGeom prst="ellipse">
              <a:avLst/>
            </a:prstGeom>
          </p:spPr>
        </p:pic>
      </p:grpSp>
      <p:pic>
        <p:nvPicPr>
          <p:cNvPr id="329" name="Picture 328">
            <a:extLst>
              <a:ext uri="{FF2B5EF4-FFF2-40B4-BE49-F238E27FC236}">
                <a16:creationId xmlns:a16="http://schemas.microsoft.com/office/drawing/2014/main" id="{2E778370-CC54-010A-6935-F91B65C0A505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28840" b="28840"/>
          <a:stretch>
            <a:fillRect/>
          </a:stretch>
        </p:blipFill>
        <p:spPr>
          <a:xfrm>
            <a:off x="765957" y="4375408"/>
            <a:ext cx="1346308" cy="427328"/>
          </a:xfrm>
          <a:prstGeom prst="rect">
            <a:avLst/>
          </a:prstGeom>
        </p:spPr>
      </p:pic>
      <p:sp>
        <p:nvSpPr>
          <p:cNvPr id="332" name="Google Shape;100;p37">
            <a:extLst>
              <a:ext uri="{FF2B5EF4-FFF2-40B4-BE49-F238E27FC236}">
                <a16:creationId xmlns:a16="http://schemas.microsoft.com/office/drawing/2014/main" id="{878F9655-5C04-7810-26B7-E32AA717D507}"/>
              </a:ext>
            </a:extLst>
          </p:cNvPr>
          <p:cNvSpPr txBox="1">
            <a:spLocks/>
          </p:cNvSpPr>
          <p:nvPr/>
        </p:nvSpPr>
        <p:spPr>
          <a:xfrm>
            <a:off x="10938260" y="6410261"/>
            <a:ext cx="3795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00000000-1234-1234-1234-123412341234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50"/>
                <a:buNone/>
                <a:tabLst/>
                <a:defRPr>
                  <a:latin typeface="Crosswalk Inter" panose="02000503000000020004" pitchFamily="34" charset="0"/>
                  <a:ea typeface="Crosswalk Inter" panose="02000503000000020004" pitchFamily="34" charset="0"/>
                  <a:cs typeface="Crosswalk Inter" panose="02000503000000020004" pitchFamily="34" charset="0"/>
                </a:defRPr>
              </a:pPr>
              <a:t>67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7C878A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33" name="Text 10">
            <a:extLst>
              <a:ext uri="{FF2B5EF4-FFF2-40B4-BE49-F238E27FC236}">
                <a16:creationId xmlns:a16="http://schemas.microsoft.com/office/drawing/2014/main" id="{9582B8C8-138B-7697-6534-C6CD0A3353FF}"/>
              </a:ext>
            </a:extLst>
          </p:cNvPr>
          <p:cNvSpPr/>
          <p:nvPr/>
        </p:nvSpPr>
        <p:spPr>
          <a:xfrm>
            <a:off x="841248" y="6473952"/>
            <a:ext cx="10509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CROSSWALK / BEHAVIORAL INTELLIGENCE ENGINE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34" name="Shape 2">
            <a:extLst>
              <a:ext uri="{FF2B5EF4-FFF2-40B4-BE49-F238E27FC236}">
                <a16:creationId xmlns:a16="http://schemas.microsoft.com/office/drawing/2014/main" id="{3B1FB293-4383-33D2-9148-9895537F37B6}"/>
              </a:ext>
            </a:extLst>
          </p:cNvPr>
          <p:cNvSpPr/>
          <p:nvPr/>
        </p:nvSpPr>
        <p:spPr>
          <a:xfrm>
            <a:off x="841248" y="566928"/>
            <a:ext cx="77724" cy="77724"/>
          </a:xfrm>
          <a:prstGeom prst="ellipse">
            <a:avLst/>
          </a:prstGeom>
          <a:solidFill>
            <a:srgbClr val="5E7E1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9159D1-DA0A-BAAD-F027-061999EAE0B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134295" y="510235"/>
            <a:ext cx="1216152" cy="154073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A3BBB5A7-2455-F45B-6520-40DE0C48E025}"/>
              </a:ext>
            </a:extLst>
          </p:cNvPr>
          <p:cNvSpPr/>
          <p:nvPr/>
        </p:nvSpPr>
        <p:spPr>
          <a:xfrm>
            <a:off x="1032358" y="4937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0" cap="none" spc="26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TEMPLATE 19 — CLICKSTREAM DATA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767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66928"/>
            <a:ext cx="77724" cy="77724"/>
          </a:xfrm>
          <a:prstGeom prst="ellipse">
            <a:avLst/>
          </a:prstGeom>
          <a:solidFill>
            <a:srgbClr val="C7F2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32358" y="4937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0" cap="none" spc="26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TEMPLATE 20 — STAT WALL / OPTION 1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41248" y="6473952"/>
            <a:ext cx="10509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CROSSWALK / BEHAVIORAL INTELLIGENCE ENGINE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893247" y="6409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00000000-1234-1234-1234-123412341234}" type="slidenum"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68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41248" y="9601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One consented panel.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Grounded in what people do.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41248" y="2651760"/>
            <a:ext cx="33323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30M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41248" y="3401568"/>
            <a:ext cx="333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Panelists to date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41248" y="3749040"/>
            <a:ext cx="3108960" cy="10058"/>
          </a:xfrm>
          <a:prstGeom prst="rect">
            <a:avLst/>
          </a:prstGeom>
          <a:solidFill>
            <a:srgbClr val="2739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41520" y="2651760"/>
            <a:ext cx="33323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82TB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41520" y="3401568"/>
            <a:ext cx="333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Data lake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541520" y="3749040"/>
            <a:ext cx="3108960" cy="10058"/>
          </a:xfrm>
          <a:prstGeom prst="rect">
            <a:avLst/>
          </a:prstGeom>
          <a:solidFill>
            <a:srgbClr val="2739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241487" y="2651760"/>
            <a:ext cx="33323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10M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241487" y="3401568"/>
            <a:ext cx="333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Daily active panel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241487" y="3749040"/>
            <a:ext cx="3108960" cy="10058"/>
          </a:xfrm>
          <a:prstGeom prst="rect">
            <a:avLst/>
          </a:prstGeom>
          <a:solidFill>
            <a:srgbClr val="2739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41248" y="4169664"/>
            <a:ext cx="33323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1B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41248" y="4919472"/>
            <a:ext cx="333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New rows / week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841248" y="5266944"/>
            <a:ext cx="3108960" cy="10058"/>
          </a:xfrm>
          <a:prstGeom prst="rect">
            <a:avLst/>
          </a:prstGeom>
          <a:solidFill>
            <a:srgbClr val="2739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541520" y="4169664"/>
            <a:ext cx="33323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40+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541520" y="4919472"/>
            <a:ext cx="333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Blue-chip brand partners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541520" y="5266944"/>
            <a:ext cx="3108960" cy="10058"/>
          </a:xfrm>
          <a:prstGeom prst="rect">
            <a:avLst/>
          </a:prstGeom>
          <a:solidFill>
            <a:srgbClr val="2739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8241487" y="4169664"/>
            <a:ext cx="33323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Daily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8241487" y="4919472"/>
            <a:ext cx="333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Refresh cadence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8241487" y="5266944"/>
            <a:ext cx="3108960" cy="10058"/>
          </a:xfrm>
          <a:prstGeom prst="rect">
            <a:avLst/>
          </a:prstGeom>
          <a:solidFill>
            <a:srgbClr val="2739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41248" y="60533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Source: Crosswalk single-source behavioral panel, August 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01E16AA-95ED-AB98-BBF9-9B92987D9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510235"/>
            <a:ext cx="1216152" cy="15407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B846E-DB84-EEF2-76A3-59801717E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7C405A-13EE-E103-AF5B-C340D8746B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42" b="774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EE0B109-7EFD-AF61-DEF4-CFEF0A959A84}"/>
              </a:ext>
            </a:extLst>
          </p:cNvPr>
          <p:cNvSpPr/>
          <p:nvPr/>
        </p:nvSpPr>
        <p:spPr>
          <a:xfrm>
            <a:off x="-1" y="0"/>
            <a:ext cx="10700951" cy="6858000"/>
          </a:xfrm>
          <a:prstGeom prst="rect">
            <a:avLst/>
          </a:prstGeom>
          <a:gradFill>
            <a:gsLst>
              <a:gs pos="0">
                <a:srgbClr val="EAE8E1">
                  <a:alpha val="0"/>
                </a:srgbClr>
              </a:gs>
              <a:gs pos="53000">
                <a:srgbClr val="EAE8E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4AC428C9-E2A7-9690-7FDF-1EB28F220AB2}"/>
              </a:ext>
            </a:extLst>
          </p:cNvPr>
          <p:cNvSpPr/>
          <p:nvPr/>
        </p:nvSpPr>
        <p:spPr>
          <a:xfrm>
            <a:off x="841248" y="3998952"/>
            <a:ext cx="1771450" cy="420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B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82TB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B1618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7A5E922B-041E-ABA7-C70B-0C36D241C30A}"/>
              </a:ext>
            </a:extLst>
          </p:cNvPr>
          <p:cNvSpPr/>
          <p:nvPr/>
        </p:nvSpPr>
        <p:spPr>
          <a:xfrm>
            <a:off x="841248" y="4482807"/>
            <a:ext cx="1771450" cy="255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Data lake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3B098C93-34ED-7DD7-9F2E-2E34931049A7}"/>
              </a:ext>
            </a:extLst>
          </p:cNvPr>
          <p:cNvSpPr/>
          <p:nvPr/>
        </p:nvSpPr>
        <p:spPr>
          <a:xfrm>
            <a:off x="3076952" y="3998952"/>
            <a:ext cx="1771450" cy="420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B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5YR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B1618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F384A58E-7315-33D2-0903-B362875A33CD}"/>
              </a:ext>
            </a:extLst>
          </p:cNvPr>
          <p:cNvSpPr/>
          <p:nvPr/>
        </p:nvSpPr>
        <p:spPr>
          <a:xfrm>
            <a:off x="3076952" y="4482807"/>
            <a:ext cx="1771450" cy="255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Data archive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F6477C50-5688-D818-DB9A-D6C1B1563F93}"/>
              </a:ext>
            </a:extLst>
          </p:cNvPr>
          <p:cNvSpPr/>
          <p:nvPr/>
        </p:nvSpPr>
        <p:spPr>
          <a:xfrm>
            <a:off x="5242554" y="3998952"/>
            <a:ext cx="1771450" cy="420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99.2%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DF229A18-A3BA-AF37-73B4-260407FE1AB2}"/>
              </a:ext>
            </a:extLst>
          </p:cNvPr>
          <p:cNvSpPr/>
          <p:nvPr/>
        </p:nvSpPr>
        <p:spPr>
          <a:xfrm>
            <a:off x="5242554" y="4482807"/>
            <a:ext cx="1771450" cy="255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Human verified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C9D0F28C-AD45-6BF5-29DC-CBC2D76A740A}"/>
              </a:ext>
            </a:extLst>
          </p:cNvPr>
          <p:cNvSpPr/>
          <p:nvPr/>
        </p:nvSpPr>
        <p:spPr>
          <a:xfrm>
            <a:off x="841248" y="5196589"/>
            <a:ext cx="1771450" cy="420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1B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D76D1138-8148-F4CB-F14F-DD96A1C1EADF}"/>
              </a:ext>
            </a:extLst>
          </p:cNvPr>
          <p:cNvSpPr/>
          <p:nvPr/>
        </p:nvSpPr>
        <p:spPr>
          <a:xfrm>
            <a:off x="841248" y="5680444"/>
            <a:ext cx="1771450" cy="255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New rows / week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21CC8543-183B-E577-DA73-5F0B354C1880}"/>
              </a:ext>
            </a:extLst>
          </p:cNvPr>
          <p:cNvSpPr/>
          <p:nvPr/>
        </p:nvSpPr>
        <p:spPr>
          <a:xfrm>
            <a:off x="3076952" y="5196589"/>
            <a:ext cx="1771450" cy="420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B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150M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B1618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D3745762-EB36-FE13-9BA4-21615F559CCD}"/>
              </a:ext>
            </a:extLst>
          </p:cNvPr>
          <p:cNvSpPr/>
          <p:nvPr/>
        </p:nvSpPr>
        <p:spPr>
          <a:xfrm>
            <a:off x="3076952" y="5680444"/>
            <a:ext cx="1771450" cy="255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New rows / day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C1227E37-B933-08CF-8E2D-A347AC1C02FB}"/>
              </a:ext>
            </a:extLst>
          </p:cNvPr>
          <p:cNvSpPr/>
          <p:nvPr/>
        </p:nvSpPr>
        <p:spPr>
          <a:xfrm>
            <a:off x="5242554" y="5196589"/>
            <a:ext cx="1771450" cy="420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Daily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0874849F-7F41-F90F-4659-6C781658981F}"/>
              </a:ext>
            </a:extLst>
          </p:cNvPr>
          <p:cNvSpPr/>
          <p:nvPr/>
        </p:nvSpPr>
        <p:spPr>
          <a:xfrm>
            <a:off x="5242554" y="5680444"/>
            <a:ext cx="1771450" cy="255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Refresh cadence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3" name="Text 70">
            <a:extLst>
              <a:ext uri="{FF2B5EF4-FFF2-40B4-BE49-F238E27FC236}">
                <a16:creationId xmlns:a16="http://schemas.microsoft.com/office/drawing/2014/main" id="{6CC5AC0A-0B8E-F1E8-F343-0E6D87AE3E08}"/>
              </a:ext>
            </a:extLst>
          </p:cNvPr>
          <p:cNvSpPr/>
          <p:nvPr/>
        </p:nvSpPr>
        <p:spPr>
          <a:xfrm>
            <a:off x="841248" y="6473952"/>
            <a:ext cx="10509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5C6466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CROSSWALK / BEHAVIORAL INTELLIGENCE ENGINE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3BBBFA01-3E57-F9C2-9B41-AB9C65101434}"/>
              </a:ext>
            </a:extLst>
          </p:cNvPr>
          <p:cNvSpPr/>
          <p:nvPr/>
        </p:nvSpPr>
        <p:spPr>
          <a:xfrm>
            <a:off x="841248" y="960120"/>
            <a:ext cx="7217655" cy="1106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One consented panel.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Grounded in what people do.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08467DEA-AA1B-B4C1-8CA2-922127951160}"/>
              </a:ext>
            </a:extLst>
          </p:cNvPr>
          <p:cNvSpPr/>
          <p:nvPr/>
        </p:nvSpPr>
        <p:spPr>
          <a:xfrm>
            <a:off x="841248" y="566928"/>
            <a:ext cx="77724" cy="77724"/>
          </a:xfrm>
          <a:prstGeom prst="ellipse">
            <a:avLst/>
          </a:prstGeom>
          <a:solidFill>
            <a:srgbClr val="5E7E1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" name="Text 14">
            <a:extLst>
              <a:ext uri="{FF2B5EF4-FFF2-40B4-BE49-F238E27FC236}">
                <a16:creationId xmlns:a16="http://schemas.microsoft.com/office/drawing/2014/main" id="{0538AD63-862D-B27E-5DFA-F1E108688356}"/>
              </a:ext>
            </a:extLst>
          </p:cNvPr>
          <p:cNvSpPr/>
          <p:nvPr/>
        </p:nvSpPr>
        <p:spPr>
          <a:xfrm>
            <a:off x="841248" y="2773656"/>
            <a:ext cx="1771450" cy="420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E7E1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2 in 3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5E7E11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Text 15">
            <a:extLst>
              <a:ext uri="{FF2B5EF4-FFF2-40B4-BE49-F238E27FC236}">
                <a16:creationId xmlns:a16="http://schemas.microsoft.com/office/drawing/2014/main" id="{267EB480-EA58-76E4-BF9D-B89A2ABA512D}"/>
              </a:ext>
            </a:extLst>
          </p:cNvPr>
          <p:cNvSpPr/>
          <p:nvPr/>
        </p:nvSpPr>
        <p:spPr>
          <a:xfrm>
            <a:off x="841248" y="3257511"/>
            <a:ext cx="1771450" cy="255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Are Prime subscribers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07C1D5A9-0CA3-D906-3A96-CDF0FFB2CE30}"/>
              </a:ext>
            </a:extLst>
          </p:cNvPr>
          <p:cNvSpPr/>
          <p:nvPr/>
        </p:nvSpPr>
        <p:spPr>
          <a:xfrm>
            <a:off x="3076952" y="2773656"/>
            <a:ext cx="1771450" cy="420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30M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" name="Text 11">
            <a:extLst>
              <a:ext uri="{FF2B5EF4-FFF2-40B4-BE49-F238E27FC236}">
                <a16:creationId xmlns:a16="http://schemas.microsoft.com/office/drawing/2014/main" id="{4F7B4C12-42E0-CB3F-B57B-E412CCC7EF12}"/>
              </a:ext>
            </a:extLst>
          </p:cNvPr>
          <p:cNvSpPr/>
          <p:nvPr/>
        </p:nvSpPr>
        <p:spPr>
          <a:xfrm>
            <a:off x="3076952" y="3257511"/>
            <a:ext cx="1771450" cy="255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Panelists to date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5ED50067-3EDD-17B7-CAE4-081CBD362BC6}"/>
              </a:ext>
            </a:extLst>
          </p:cNvPr>
          <p:cNvSpPr/>
          <p:nvPr/>
        </p:nvSpPr>
        <p:spPr>
          <a:xfrm>
            <a:off x="5294368" y="2773656"/>
            <a:ext cx="1771450" cy="420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B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10M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B1618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" name="Text 13">
            <a:extLst>
              <a:ext uri="{FF2B5EF4-FFF2-40B4-BE49-F238E27FC236}">
                <a16:creationId xmlns:a16="http://schemas.microsoft.com/office/drawing/2014/main" id="{5812D339-E6E9-A2F3-23D0-D83BD78CD2B2}"/>
              </a:ext>
            </a:extLst>
          </p:cNvPr>
          <p:cNvSpPr/>
          <p:nvPr/>
        </p:nvSpPr>
        <p:spPr>
          <a:xfrm>
            <a:off x="5294368" y="3257511"/>
            <a:ext cx="1771450" cy="255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Daily gen pop panel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3CA97FB1-BD2A-C19A-A228-21777B64AE9A}"/>
              </a:ext>
            </a:extLst>
          </p:cNvPr>
          <p:cNvSpPr/>
          <p:nvPr/>
        </p:nvSpPr>
        <p:spPr>
          <a:xfrm rot="16200000" flipH="1">
            <a:off x="2199998" y="1011134"/>
            <a:ext cx="0" cy="2717497"/>
          </a:xfrm>
          <a:prstGeom prst="line">
            <a:avLst/>
          </a:prstGeom>
          <a:noFill/>
          <a:ln w="12700">
            <a:solidFill>
              <a:srgbClr val="C9C9C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37384449-E32F-CA5A-FE28-298E5EF0C002}"/>
              </a:ext>
            </a:extLst>
          </p:cNvPr>
          <p:cNvSpPr/>
          <p:nvPr/>
        </p:nvSpPr>
        <p:spPr>
          <a:xfrm>
            <a:off x="1032358" y="4937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0" cap="none" spc="26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TEMPLATE 21 — STAT WALL / OPTION 2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7867B417-6EA2-C3C0-3DD8-5B36ADA0D863}"/>
              </a:ext>
            </a:extLst>
          </p:cNvPr>
          <p:cNvSpPr/>
          <p:nvPr/>
        </p:nvSpPr>
        <p:spPr>
          <a:xfrm>
            <a:off x="10893247" y="6409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00000000-1234-1234-1234-123412341234}" type="slidenum"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69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C1618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B338B89-861F-23DD-568F-A7E60917B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510235"/>
            <a:ext cx="1216152" cy="15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261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7"/>
          <p:cNvSpPr/>
          <p:nvPr/>
        </p:nvSpPr>
        <p:spPr>
          <a:xfrm>
            <a:off x="960120" y="4090875"/>
            <a:ext cx="10271455" cy="0"/>
          </a:xfrm>
          <a:prstGeom prst="line">
            <a:avLst/>
          </a:prstGeom>
          <a:noFill/>
          <a:ln w="15875">
            <a:solidFill>
              <a:srgbClr val="2D35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141182" y="3651963"/>
            <a:ext cx="0" cy="438912"/>
          </a:xfrm>
          <a:prstGeom prst="line">
            <a:avLst/>
          </a:prstGeom>
          <a:noFill/>
          <a:ln w="20320">
            <a:solidFill>
              <a:srgbClr val="C7F23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923555" y="3873248"/>
            <a:ext cx="435254" cy="435254"/>
          </a:xfrm>
          <a:prstGeom prst="ellipse">
            <a:avLst/>
          </a:prstGeom>
          <a:solidFill>
            <a:srgbClr val="C7F23E">
              <a:alpha val="18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063458" y="4013151"/>
            <a:ext cx="155448" cy="155448"/>
          </a:xfrm>
          <a:prstGeom prst="ellipse">
            <a:avLst/>
          </a:prstGeom>
          <a:solidFill>
            <a:srgbClr val="C7F2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245288" y="3102307"/>
            <a:ext cx="1795421" cy="549655"/>
          </a:xfrm>
          <a:prstGeom prst="roundRect">
            <a:avLst>
              <a:gd name="adj" fmla="val 50000"/>
            </a:avLst>
          </a:prstGeom>
          <a:solidFill>
            <a:srgbClr val="C7F2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327366" y="3066747"/>
            <a:ext cx="1627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175414" y="4456635"/>
            <a:ext cx="1930870" cy="51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888C89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Lock the three reads with your team.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777626" y="3651963"/>
            <a:ext cx="0" cy="438912"/>
          </a:xfrm>
          <a:prstGeom prst="line">
            <a:avLst/>
          </a:prstGeom>
          <a:noFill/>
          <a:ln w="13970">
            <a:solidFill>
              <a:srgbClr val="2D35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709046" y="4022295"/>
            <a:ext cx="137160" cy="137160"/>
          </a:xfrm>
          <a:prstGeom prst="ellipse">
            <a:avLst/>
          </a:prstGeom>
          <a:solidFill>
            <a:srgbClr val="0C1618"/>
          </a:solidFill>
          <a:ln w="17780">
            <a:solidFill>
              <a:srgbClr val="646A6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881732" y="3102307"/>
            <a:ext cx="1795421" cy="549655"/>
          </a:xfrm>
          <a:prstGeom prst="roundRect">
            <a:avLst>
              <a:gd name="adj" fmla="val 50000"/>
            </a:avLst>
          </a:prstGeom>
          <a:solidFill>
            <a:srgbClr val="111E20"/>
          </a:solidFill>
          <a:ln w="12700">
            <a:solidFill>
              <a:srgbClr val="2D35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963810" y="3066747"/>
            <a:ext cx="1627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811858" y="4456635"/>
            <a:ext cx="1930870" cy="51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888C89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We run. Your analysts get Agent access in parallel.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7414069" y="3651963"/>
            <a:ext cx="0" cy="438912"/>
          </a:xfrm>
          <a:prstGeom prst="line">
            <a:avLst/>
          </a:prstGeom>
          <a:noFill/>
          <a:ln w="13970">
            <a:solidFill>
              <a:srgbClr val="2D35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345490" y="4022295"/>
            <a:ext cx="137160" cy="137160"/>
          </a:xfrm>
          <a:prstGeom prst="ellipse">
            <a:avLst/>
          </a:prstGeom>
          <a:solidFill>
            <a:srgbClr val="0C1618"/>
          </a:solidFill>
          <a:ln w="17780">
            <a:solidFill>
              <a:srgbClr val="646A6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518176" y="3102307"/>
            <a:ext cx="1795421" cy="549655"/>
          </a:xfrm>
          <a:prstGeom prst="roundRect">
            <a:avLst>
              <a:gd name="adj" fmla="val 50000"/>
            </a:avLst>
          </a:prstGeom>
          <a:solidFill>
            <a:srgbClr val="111E20"/>
          </a:solidFill>
          <a:ln w="12700">
            <a:solidFill>
              <a:srgbClr val="2D35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600254" y="3066747"/>
            <a:ext cx="1627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448302" y="4456635"/>
            <a:ext cx="1930870" cy="51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888C89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Joint readout. Deck + dashboard + raw data.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10050513" y="3651963"/>
            <a:ext cx="0" cy="438912"/>
          </a:xfrm>
          <a:prstGeom prst="line">
            <a:avLst/>
          </a:prstGeom>
          <a:noFill/>
          <a:ln w="13970">
            <a:solidFill>
              <a:srgbClr val="2D35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9981933" y="4022295"/>
            <a:ext cx="137160" cy="137160"/>
          </a:xfrm>
          <a:prstGeom prst="ellipse">
            <a:avLst/>
          </a:prstGeom>
          <a:solidFill>
            <a:srgbClr val="0C1618"/>
          </a:solidFill>
          <a:ln w="17780">
            <a:solidFill>
              <a:srgbClr val="646A6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9154619" y="3102307"/>
            <a:ext cx="1795421" cy="549655"/>
          </a:xfrm>
          <a:prstGeom prst="roundRect">
            <a:avLst>
              <a:gd name="adj" fmla="val 50000"/>
            </a:avLst>
          </a:prstGeom>
          <a:solidFill>
            <a:srgbClr val="111E20"/>
          </a:solidFill>
          <a:ln w="12700">
            <a:solidFill>
              <a:srgbClr val="2D35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9236697" y="3066747"/>
            <a:ext cx="1627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9084745" y="4456635"/>
            <a:ext cx="1930870" cy="51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888C89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Expand, retain, or walk. No long contract.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822960" y="5318671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1" i="0" u="none" strike="noStrike" kern="0" cap="none" spc="15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$35K PILOT FEE WAIVED ON CONVERSION TO ANNUAL.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39A5AF-34AD-768E-343D-181702285688}"/>
              </a:ext>
            </a:extLst>
          </p:cNvPr>
          <p:cNvSpPr txBox="1"/>
          <p:nvPr/>
        </p:nvSpPr>
        <p:spPr>
          <a:xfrm>
            <a:off x="1412997" y="3265171"/>
            <a:ext cx="1371799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00" b="1" i="0" u="none" strike="noStrike" kern="0" cap="none" spc="10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WEEK 1 /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791C52E-2EED-F7CC-1A5B-504D619A8EC2}"/>
              </a:ext>
            </a:extLst>
          </p:cNvPr>
          <p:cNvSpPr txBox="1"/>
          <p:nvPr/>
        </p:nvSpPr>
        <p:spPr>
          <a:xfrm>
            <a:off x="2095040" y="3224019"/>
            <a:ext cx="1371799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SCOPE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6F7EF3-8D44-2CD7-7DD0-C00452CA6739}"/>
              </a:ext>
            </a:extLst>
          </p:cNvPr>
          <p:cNvSpPr txBox="1"/>
          <p:nvPr/>
        </p:nvSpPr>
        <p:spPr>
          <a:xfrm>
            <a:off x="4107086" y="3265171"/>
            <a:ext cx="1371799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00" b="1" i="0" u="none" strike="noStrike" kern="0" cap="none" spc="100" normalizeH="0" baseline="0" noProof="0" dirty="0">
                <a:ln>
                  <a:noFill/>
                </a:ln>
                <a:solidFill>
                  <a:srgbClr val="888C89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WEEK 2 /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888C89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66C5FAB-5728-E291-0C81-DABC86978296}"/>
              </a:ext>
            </a:extLst>
          </p:cNvPr>
          <p:cNvSpPr txBox="1"/>
          <p:nvPr/>
        </p:nvSpPr>
        <p:spPr>
          <a:xfrm>
            <a:off x="4789129" y="3224019"/>
            <a:ext cx="1371799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BUILD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B950E24-D92C-924B-D012-6E9F8DF11A46}"/>
              </a:ext>
            </a:extLst>
          </p:cNvPr>
          <p:cNvSpPr txBox="1"/>
          <p:nvPr/>
        </p:nvSpPr>
        <p:spPr>
          <a:xfrm>
            <a:off x="6541717" y="3265171"/>
            <a:ext cx="1371799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00" b="1" i="0" u="none" strike="noStrike" kern="0" cap="none" spc="100" normalizeH="0" baseline="0" noProof="0" dirty="0">
                <a:ln>
                  <a:noFill/>
                </a:ln>
                <a:solidFill>
                  <a:srgbClr val="888C89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WEEK 3 /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888C89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9A04C6E-F40F-DF27-699A-C8141457E7E4}"/>
              </a:ext>
            </a:extLst>
          </p:cNvPr>
          <p:cNvSpPr txBox="1"/>
          <p:nvPr/>
        </p:nvSpPr>
        <p:spPr>
          <a:xfrm>
            <a:off x="7223760" y="3224019"/>
            <a:ext cx="1371799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READOUT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1DC9C9B-0056-C6CC-1D70-85007EA38B51}"/>
              </a:ext>
            </a:extLst>
          </p:cNvPr>
          <p:cNvSpPr txBox="1"/>
          <p:nvPr/>
        </p:nvSpPr>
        <p:spPr>
          <a:xfrm>
            <a:off x="9282685" y="3259811"/>
            <a:ext cx="1371799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00" b="1" i="0" u="none" strike="noStrike" kern="0" cap="none" spc="100" normalizeH="0" baseline="0" noProof="0" dirty="0">
                <a:ln>
                  <a:noFill/>
                </a:ln>
                <a:solidFill>
                  <a:srgbClr val="888C89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WEEK 4 /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888C89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6D66D8-FA44-62D0-9310-4A49DB99DC9F}"/>
              </a:ext>
            </a:extLst>
          </p:cNvPr>
          <p:cNvSpPr txBox="1"/>
          <p:nvPr/>
        </p:nvSpPr>
        <p:spPr>
          <a:xfrm>
            <a:off x="9964728" y="3224019"/>
            <a:ext cx="1371799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DECIDE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82F04D-FA2A-3661-321C-FC7250747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510235"/>
            <a:ext cx="1216152" cy="154073"/>
          </a:xfrm>
          <a:prstGeom prst="rect">
            <a:avLst/>
          </a:prstGeom>
        </p:spPr>
      </p:pic>
      <p:sp>
        <p:nvSpPr>
          <p:cNvPr id="8" name="Text 10">
            <a:extLst>
              <a:ext uri="{FF2B5EF4-FFF2-40B4-BE49-F238E27FC236}">
                <a16:creationId xmlns:a16="http://schemas.microsoft.com/office/drawing/2014/main" id="{FC7BE9B3-FD3E-8F09-9EA9-D5AB8E95A2AE}"/>
              </a:ext>
            </a:extLst>
          </p:cNvPr>
          <p:cNvSpPr/>
          <p:nvPr/>
        </p:nvSpPr>
        <p:spPr>
          <a:xfrm>
            <a:off x="841248" y="6473952"/>
            <a:ext cx="10509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CROSSWALK / BEHAVIORAL INTELLIGENCE ENGINE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72890302-3E2C-D07A-48CD-E7B5A47371C4}"/>
              </a:ext>
            </a:extLst>
          </p:cNvPr>
          <p:cNvSpPr/>
          <p:nvPr/>
        </p:nvSpPr>
        <p:spPr>
          <a:xfrm>
            <a:off x="841248" y="566928"/>
            <a:ext cx="77724" cy="77724"/>
          </a:xfrm>
          <a:prstGeom prst="ellipse">
            <a:avLst/>
          </a:prstGeom>
          <a:solidFill>
            <a:srgbClr val="C7F2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6" name="Text 4">
            <a:extLst>
              <a:ext uri="{FF2B5EF4-FFF2-40B4-BE49-F238E27FC236}">
                <a16:creationId xmlns:a16="http://schemas.microsoft.com/office/drawing/2014/main" id="{38EDFF73-5C81-C737-1780-0757375A2EF0}"/>
              </a:ext>
            </a:extLst>
          </p:cNvPr>
          <p:cNvSpPr/>
          <p:nvPr/>
        </p:nvSpPr>
        <p:spPr>
          <a:xfrm>
            <a:off x="841247" y="960121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Four weeks. Three reads.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7" name="Text 5">
            <a:extLst>
              <a:ext uri="{FF2B5EF4-FFF2-40B4-BE49-F238E27FC236}">
                <a16:creationId xmlns:a16="http://schemas.microsoft.com/office/drawing/2014/main" id="{E748598D-E2C9-0E74-BF61-D2CAA0824513}"/>
              </a:ext>
            </a:extLst>
          </p:cNvPr>
          <p:cNvSpPr/>
          <p:nvPr/>
        </p:nvSpPr>
        <p:spPr>
          <a:xfrm>
            <a:off x="841248" y="1688383"/>
            <a:ext cx="5759006" cy="361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DA09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One Profile IQ. One Subscriber IQ. One Digital Journey IQ.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C137DDDB-38AA-87F4-26B4-69CC78F341F8}"/>
              </a:ext>
            </a:extLst>
          </p:cNvPr>
          <p:cNvSpPr/>
          <p:nvPr/>
        </p:nvSpPr>
        <p:spPr>
          <a:xfrm>
            <a:off x="1032358" y="4937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0" cap="none" spc="26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TEMPLATE </a:t>
            </a:r>
            <a:r>
              <a:rPr lang="en-US" sz="1050" kern="0" spc="260" dirty="0">
                <a:solidFill>
                  <a:srgbClr val="9AA09B"/>
                </a:solidFill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22</a:t>
            </a:r>
            <a:r>
              <a:rPr kumimoji="0" lang="en-US" sz="1050" b="0" i="0" u="none" strike="noStrike" kern="0" cap="none" spc="26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 — PROPOSED PILOT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288390CC-9FBB-EA66-0195-1BDA8EABF2C4}"/>
              </a:ext>
            </a:extLst>
          </p:cNvPr>
          <p:cNvSpPr/>
          <p:nvPr/>
        </p:nvSpPr>
        <p:spPr>
          <a:xfrm>
            <a:off x="10893247" y="6409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00000000-1234-1234-1234-123412341234}" type="slidenum"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70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66928"/>
            <a:ext cx="77724" cy="77724"/>
          </a:xfrm>
          <a:prstGeom prst="ellipse">
            <a:avLst/>
          </a:prstGeom>
          <a:solidFill>
            <a:srgbClr val="5E7E1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32358" y="4937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0" cap="none" spc="26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TEMPLATE 23 — TIMELINE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510235"/>
            <a:ext cx="1216152" cy="1540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" y="6473952"/>
            <a:ext cx="10509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5C6466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CROSSWALK / BEHAVIORAL INTELLIGENCE ENGINE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893247" y="6409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00000000-1234-1234-1234-123412341234}" type="slidenum"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C6466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71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41248" y="96012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Canceled in 2002. Still on shelves.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41248" y="1729547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A license history, read as one column of dated entries.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377440" y="2356838"/>
            <a:ext cx="12802" cy="3383280"/>
          </a:xfrm>
          <a:prstGeom prst="rect">
            <a:avLst/>
          </a:prstGeom>
          <a:solidFill>
            <a:srgbClr val="C9C6B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327148" y="2448278"/>
            <a:ext cx="118872" cy="118872"/>
          </a:xfrm>
          <a:prstGeom prst="ellipse">
            <a:avLst/>
          </a:prstGeom>
          <a:solidFill>
            <a:srgbClr val="0C161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41248" y="24271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0" i="0" u="none" strike="noStrike" kern="0" cap="none" spc="60" normalizeH="0" baseline="0" noProof="0" dirty="0">
                <a:ln>
                  <a:noFill/>
                </a:ln>
                <a:solidFill>
                  <a:srgbClr val="5E7E12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2004 to 2006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697480" y="237512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Palisades Toys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303520" y="239341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Series 1 and 2 figures, each with a specialty-exclusive variant on new head sculpts.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327148" y="2996918"/>
            <a:ext cx="118872" cy="118872"/>
          </a:xfrm>
          <a:prstGeom prst="ellipse">
            <a:avLst/>
          </a:prstGeom>
          <a:solidFill>
            <a:srgbClr val="0C161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41248" y="29758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0" i="0" u="none" strike="noStrike" kern="0" cap="none" spc="60" normalizeH="0" baseline="0" noProof="0" dirty="0">
                <a:ln>
                  <a:noFill/>
                </a:ln>
                <a:solidFill>
                  <a:srgbClr val="5E7E12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2015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2697480" y="292376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Oni Press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303520" y="294205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Monthly comic launches with the original creator, running to issue #50.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2327148" y="3545558"/>
            <a:ext cx="118872" cy="118872"/>
          </a:xfrm>
          <a:prstGeom prst="ellipse">
            <a:avLst/>
          </a:prstGeom>
          <a:solidFill>
            <a:srgbClr val="0C161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41248" y="35244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0" i="0" u="none" strike="noStrike" kern="0" cap="none" spc="60" normalizeH="0" baseline="0" noProof="0" dirty="0">
                <a:ln>
                  <a:noFill/>
                </a:ln>
                <a:solidFill>
                  <a:srgbClr val="5E7E12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2015 to 2016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697480" y="347240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Funko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303520" y="349069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First Pop debuts. Glow-in-the-dark variant given an exclusive pre-release.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2327148" y="4094198"/>
            <a:ext cx="118872" cy="118872"/>
          </a:xfrm>
          <a:prstGeom prst="ellipse">
            <a:avLst/>
          </a:prstGeom>
          <a:solidFill>
            <a:srgbClr val="0C161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841248" y="40730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0" i="0" u="none" strike="noStrike" kern="0" cap="none" spc="60" normalizeH="0" baseline="0" noProof="0" dirty="0">
                <a:ln>
                  <a:noFill/>
                </a:ln>
                <a:solidFill>
                  <a:srgbClr val="5E7E12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2018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2697480" y="402104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Diamond Select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303520" y="403933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Vinimates as specialty exclusives, alongside a Pop Rides two-up.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2327148" y="4642838"/>
            <a:ext cx="118872" cy="118872"/>
          </a:xfrm>
          <a:prstGeom prst="ellipse">
            <a:avLst/>
          </a:prstGeom>
          <a:solidFill>
            <a:srgbClr val="0C161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841248" y="46217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0" i="0" u="none" strike="noStrike" kern="0" cap="none" spc="60" normalizeH="0" baseline="0" noProof="0" dirty="0">
                <a:ln>
                  <a:noFill/>
                </a:ln>
                <a:solidFill>
                  <a:srgbClr val="5E7E12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2019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2697480" y="456968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Funko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5303520" y="458797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Second Pop released alongside the streaming feature.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2327148" y="5191478"/>
            <a:ext cx="118872" cy="118872"/>
          </a:xfrm>
          <a:prstGeom prst="ellipse">
            <a:avLst/>
          </a:prstGeom>
          <a:solidFill>
            <a:srgbClr val="5E7E1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841248" y="51703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0" i="0" u="none" strike="noStrike" kern="0" cap="none" spc="60" normalizeH="0" baseline="0" noProof="0" dirty="0">
                <a:ln>
                  <a:noFill/>
                </a:ln>
                <a:solidFill>
                  <a:srgbClr val="5E7E12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2025 to now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2697480" y="511832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CultureFly · Thrilljoy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5303520" y="513661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New Pop and Pix! collectibles, specialty and sister-banner exclusives.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841248" y="5614416"/>
            <a:ext cx="10509199" cy="658368"/>
          </a:xfrm>
          <a:prstGeom prst="roundRect">
            <a:avLst>
              <a:gd name="adj" fmla="val 16667"/>
            </a:avLst>
          </a:prstGeom>
          <a:solidFill>
            <a:srgbClr val="E1E0D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1097280" y="585271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Six licensees, one retailer, two decades of continuous distribution. That is the argument the dates make on their own.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66928"/>
            <a:ext cx="77724" cy="77724"/>
          </a:xfrm>
          <a:prstGeom prst="ellipse">
            <a:avLst/>
          </a:prstGeom>
          <a:solidFill>
            <a:srgbClr val="5E7E1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32358" y="4937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0" cap="none" spc="26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TEMPLATE 24 — AUDIENCE SEGMENTS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510235"/>
            <a:ext cx="1216152" cy="1540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" y="6473952"/>
            <a:ext cx="10509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5C6466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CROSSWALK / BEHAVIORAL INTELLIGENCE ENGINE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893247" y="6409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00000000-1234-1234-1234-123412341234}" type="slidenum"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C6466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72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41248" y="96012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Four audience profiles.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41248" y="168798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The base is not homogeneous. Four behavioral clusters, each with a different price point, channel, and reason to buy.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41248" y="2487168"/>
            <a:ext cx="2435276" cy="2926080"/>
          </a:xfrm>
          <a:prstGeom prst="roundRect">
            <a:avLst>
              <a:gd name="adj" fmla="val 5257"/>
            </a:avLst>
          </a:prstGeom>
          <a:solidFill>
            <a:srgbClr val="0C161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97280" y="270662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7F23E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97280" y="3108960"/>
            <a:ext cx="19232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1" i="0" u="none" strike="noStrike" kern="0" cap="none" spc="4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THE ALT BADDIE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97280" y="3493008"/>
            <a:ext cx="19232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Female, 25 to 34, dresses the fandom. Buys apparel, hair color and cosmetics.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097280" y="4626864"/>
            <a:ext cx="1923212" cy="10058"/>
          </a:xfrm>
          <a:prstGeom prst="rect">
            <a:avLst/>
          </a:prstGeom>
          <a:solidFill>
            <a:srgbClr val="2739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97280" y="4791456"/>
            <a:ext cx="19232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50" b="0" i="0" u="none" strike="noStrike" kern="0" cap="none" spc="6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Goth style 271 · Killstar 712 · Hot Topic 260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9AA09B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532556" y="2487168"/>
            <a:ext cx="2435276" cy="2926080"/>
          </a:xfrm>
          <a:prstGeom prst="roundRect">
            <a:avLst>
              <a:gd name="adj" fmla="val 5257"/>
            </a:avLst>
          </a:prstGeom>
          <a:solidFill>
            <a:srgbClr val="E1E0D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788588" y="270662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E7E12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788588" y="3108960"/>
            <a:ext cx="19232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1" i="0" u="none" strike="noStrike" kern="0" cap="none" spc="4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THE ARCHIVIST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788588" y="3493008"/>
            <a:ext cx="19232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The completist. Attends conventions, tracks canon, buys scarcity. Responds to numbered runs.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788588" y="4626864"/>
            <a:ext cx="1923212" cy="10058"/>
          </a:xfrm>
          <a:prstGeom prst="rect">
            <a:avLst/>
          </a:prstGeom>
          <a:solidFill>
            <a:srgbClr val="C9C6B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788588" y="4791456"/>
            <a:ext cx="19232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50" b="0" i="0" u="none" strike="noStrike" kern="0" cap="none" spc="60" normalizeH="0" baseline="0" noProof="0" dirty="0">
                <a:ln>
                  <a:noFill/>
                </a:ln>
                <a:solidFill>
                  <a:srgbClr val="888C89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Comic-Con 269 · Dragon Con 566 · NYCC 317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223864" y="2487168"/>
            <a:ext cx="2435276" cy="2926080"/>
          </a:xfrm>
          <a:prstGeom prst="roundRect">
            <a:avLst>
              <a:gd name="adj" fmla="val 5257"/>
            </a:avLst>
          </a:prstGeom>
          <a:solidFill>
            <a:srgbClr val="E1E0D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479896" y="270662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E7E12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479896" y="3108960"/>
            <a:ext cx="19232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1" i="0" u="none" strike="noStrike" kern="0" cap="none" spc="4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THE MAKER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479896" y="3493008"/>
            <a:ext cx="19232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Draws it, prints it, sells it. Already monetizing the IP informally, without a license.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6479896" y="4626864"/>
            <a:ext cx="1923212" cy="10058"/>
          </a:xfrm>
          <a:prstGeom prst="rect">
            <a:avLst/>
          </a:prstGeom>
          <a:solidFill>
            <a:srgbClr val="C9C6B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479896" y="4791456"/>
            <a:ext cx="19232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50" b="0" i="0" u="none" strike="noStrike" kern="0" cap="none" spc="60" normalizeH="0" baseline="0" noProof="0" dirty="0">
                <a:ln>
                  <a:noFill/>
                </a:ln>
                <a:solidFill>
                  <a:srgbClr val="888C89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Redbubble 507 · Cricut 264 · Kickstarter 429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8915171" y="2487168"/>
            <a:ext cx="2435276" cy="2926080"/>
          </a:xfrm>
          <a:prstGeom prst="roundRect">
            <a:avLst>
              <a:gd name="adj" fmla="val 5257"/>
            </a:avLst>
          </a:prstGeom>
          <a:solidFill>
            <a:srgbClr val="E1E0D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9171203" y="270662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E7E12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04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9171203" y="3108960"/>
            <a:ext cx="19232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1" i="0" u="none" strike="noStrike" kern="0" cap="none" spc="4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THE IRONIST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9171203" y="3493008"/>
            <a:ext cx="19232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Lives in absurdist internet comedy. Buys almost nothing, drives every share.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9171203" y="4626864"/>
            <a:ext cx="1923212" cy="10058"/>
          </a:xfrm>
          <a:prstGeom prst="rect">
            <a:avLst/>
          </a:prstGeom>
          <a:solidFill>
            <a:srgbClr val="C9C6B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9171203" y="4791456"/>
            <a:ext cx="19232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950" b="0" i="0" u="none" strike="noStrike" kern="0" cap="none" spc="60" normalizeH="0" baseline="0" noProof="0" dirty="0">
                <a:ln>
                  <a:noFill/>
                </a:ln>
                <a:solidFill>
                  <a:srgbClr val="888C89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Dropout 1,369 · Reddit 152 · Letterboxd 154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841248" y="56144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5E7E12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COMMERCIAL IMPLICATION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841248" y="587044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C6560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Three of the four segments already spend against the IP. The fourth spends against it without a license. Sizing it separately turns an enforcement problem into a revenue line.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497069-151E-ABB2-2D79-853DD89F0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70668D7-2AB0-F889-F889-A7CD3C6C92E2}"/>
              </a:ext>
            </a:extLst>
          </p:cNvPr>
          <p:cNvSpPr/>
          <p:nvPr/>
        </p:nvSpPr>
        <p:spPr>
          <a:xfrm>
            <a:off x="841248" y="566928"/>
            <a:ext cx="77724" cy="77724"/>
          </a:xfrm>
          <a:prstGeom prst="ellipse">
            <a:avLst/>
          </a:prstGeom>
          <a:solidFill>
            <a:srgbClr val="C7F2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DD261B8-B772-41BB-3063-9552C8C17D95}"/>
              </a:ext>
            </a:extLst>
          </p:cNvPr>
          <p:cNvSpPr/>
          <p:nvPr/>
        </p:nvSpPr>
        <p:spPr>
          <a:xfrm>
            <a:off x="1032358" y="4937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0" cap="none" spc="26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TEMPLATE 25 — TEAM GRID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5D3D4BF-C5A4-66A0-07CD-5B684CA649D1}"/>
              </a:ext>
            </a:extLst>
          </p:cNvPr>
          <p:cNvSpPr/>
          <p:nvPr/>
        </p:nvSpPr>
        <p:spPr>
          <a:xfrm>
            <a:off x="841248" y="6473952"/>
            <a:ext cx="10509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CROSSWALK / BEHAVIORAL INTELLIGENCE ENGINE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CD9D4F5-7D57-9BF3-E255-C1A7E0D33A6F}"/>
              </a:ext>
            </a:extLst>
          </p:cNvPr>
          <p:cNvSpPr/>
          <p:nvPr/>
        </p:nvSpPr>
        <p:spPr>
          <a:xfrm>
            <a:off x="10893247" y="6409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00000000-1234-1234-1234-123412341234}" type="slidenum"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73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D1D463E-AF7F-9A74-653B-8B34308A835E}"/>
              </a:ext>
            </a:extLst>
          </p:cNvPr>
          <p:cNvSpPr/>
          <p:nvPr/>
        </p:nvSpPr>
        <p:spPr>
          <a:xfrm>
            <a:off x="841248" y="96012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Operators at the top of the business.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0C5FF9A-5189-E9F7-CD02-325D75124AF0}"/>
              </a:ext>
            </a:extLst>
          </p:cNvPr>
          <p:cNvSpPr/>
          <p:nvPr/>
        </p:nvSpPr>
        <p:spPr>
          <a:xfrm>
            <a:off x="841248" y="192235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15252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0F02551-6D7F-867C-B9F0-AC56E4B03163}"/>
              </a:ext>
            </a:extLst>
          </p:cNvPr>
          <p:cNvSpPr/>
          <p:nvPr/>
        </p:nvSpPr>
        <p:spPr>
          <a:xfrm>
            <a:off x="841248" y="216923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0" cap="none" spc="6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LH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44DD6A79-D81A-0895-8DE0-D050A96A3515}"/>
              </a:ext>
            </a:extLst>
          </p:cNvPr>
          <p:cNvSpPr/>
          <p:nvPr/>
        </p:nvSpPr>
        <p:spPr>
          <a:xfrm>
            <a:off x="3532556" y="192235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15252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B0A8B24-96D2-A3E2-C8BA-AD875E85B875}"/>
              </a:ext>
            </a:extLst>
          </p:cNvPr>
          <p:cNvSpPr/>
          <p:nvPr/>
        </p:nvSpPr>
        <p:spPr>
          <a:xfrm>
            <a:off x="3532556" y="216923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0" cap="none" spc="6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JM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B1BB84D5-8561-3E24-89DD-6118CA2BDAB3}"/>
              </a:ext>
            </a:extLst>
          </p:cNvPr>
          <p:cNvSpPr/>
          <p:nvPr/>
        </p:nvSpPr>
        <p:spPr>
          <a:xfrm>
            <a:off x="6223864" y="192235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15252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6CD79D40-C8F1-F239-9F9B-79AB871F36BB}"/>
              </a:ext>
            </a:extLst>
          </p:cNvPr>
          <p:cNvSpPr/>
          <p:nvPr/>
        </p:nvSpPr>
        <p:spPr>
          <a:xfrm>
            <a:off x="6223864" y="216923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0" cap="none" spc="6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SC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497EDFB9-7AD9-66AB-891F-C227418BEAC5}"/>
              </a:ext>
            </a:extLst>
          </p:cNvPr>
          <p:cNvSpPr/>
          <p:nvPr/>
        </p:nvSpPr>
        <p:spPr>
          <a:xfrm>
            <a:off x="8915171" y="192235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15252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4E100775-1B30-0B87-A4EC-AAE9D88C15B9}"/>
              </a:ext>
            </a:extLst>
          </p:cNvPr>
          <p:cNvSpPr/>
          <p:nvPr/>
        </p:nvSpPr>
        <p:spPr>
          <a:xfrm>
            <a:off x="8915171" y="216923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0" cap="none" spc="6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KF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42666523-087F-6E2B-1086-37E1640A98DB}"/>
              </a:ext>
            </a:extLst>
          </p:cNvPr>
          <p:cNvSpPr/>
          <p:nvPr/>
        </p:nvSpPr>
        <p:spPr>
          <a:xfrm>
            <a:off x="841248" y="4123242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15252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6BDA8437-D186-CDCB-7949-865CC2A86734}"/>
              </a:ext>
            </a:extLst>
          </p:cNvPr>
          <p:cNvSpPr/>
          <p:nvPr/>
        </p:nvSpPr>
        <p:spPr>
          <a:xfrm>
            <a:off x="841248" y="437013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0" cap="none" spc="6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JG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FD436538-0906-88BF-C362-22B953E89DC6}"/>
              </a:ext>
            </a:extLst>
          </p:cNvPr>
          <p:cNvSpPr/>
          <p:nvPr/>
        </p:nvSpPr>
        <p:spPr>
          <a:xfrm>
            <a:off x="3532556" y="4123242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15252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5D87E258-A2A0-D06C-DEA5-BE898E0E8D04}"/>
              </a:ext>
            </a:extLst>
          </p:cNvPr>
          <p:cNvSpPr/>
          <p:nvPr/>
        </p:nvSpPr>
        <p:spPr>
          <a:xfrm>
            <a:off x="3532556" y="437013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0" cap="none" spc="6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AR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62EB46CE-E311-342C-B2B8-F5E5DBA742B1}"/>
              </a:ext>
            </a:extLst>
          </p:cNvPr>
          <p:cNvSpPr/>
          <p:nvPr/>
        </p:nvSpPr>
        <p:spPr>
          <a:xfrm>
            <a:off x="6223864" y="4123242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15252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71647656-9B22-3EC9-D6AB-CAB22FD4A662}"/>
              </a:ext>
            </a:extLst>
          </p:cNvPr>
          <p:cNvSpPr/>
          <p:nvPr/>
        </p:nvSpPr>
        <p:spPr>
          <a:xfrm>
            <a:off x="6223864" y="437013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0" cap="none" spc="6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DP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A70C79E8-35DB-0C70-F104-E3552CBD6F1E}"/>
              </a:ext>
            </a:extLst>
          </p:cNvPr>
          <p:cNvSpPr/>
          <p:nvPr/>
        </p:nvSpPr>
        <p:spPr>
          <a:xfrm>
            <a:off x="8915171" y="4123242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15252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68291E51-2184-78E7-0AF4-FFC4A31267AB}"/>
              </a:ext>
            </a:extLst>
          </p:cNvPr>
          <p:cNvSpPr/>
          <p:nvPr/>
        </p:nvSpPr>
        <p:spPr>
          <a:xfrm>
            <a:off x="8915171" y="437013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0" cap="none" spc="6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BD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8" name="Text 11">
            <a:extLst>
              <a:ext uri="{FF2B5EF4-FFF2-40B4-BE49-F238E27FC236}">
                <a16:creationId xmlns:a16="http://schemas.microsoft.com/office/drawing/2014/main" id="{714AF9D8-3F1C-E9B4-6CFA-0A24F823E906}"/>
              </a:ext>
            </a:extLst>
          </p:cNvPr>
          <p:cNvSpPr/>
          <p:nvPr/>
        </p:nvSpPr>
        <p:spPr>
          <a:xfrm>
            <a:off x="841248" y="278001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A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Liz Huszarik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9" name="Text 12">
            <a:extLst>
              <a:ext uri="{FF2B5EF4-FFF2-40B4-BE49-F238E27FC236}">
                <a16:creationId xmlns:a16="http://schemas.microsoft.com/office/drawing/2014/main" id="{EAFB8333-3558-6CA9-EF89-2E3532062978}"/>
              </a:ext>
            </a:extLst>
          </p:cNvPr>
          <p:cNvSpPr/>
          <p:nvPr/>
        </p:nvSpPr>
        <p:spPr>
          <a:xfrm>
            <a:off x="841248" y="3048652"/>
            <a:ext cx="2542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50" b="0" i="0" u="none" strike="noStrike" kern="0" cap="none" spc="120" normalizeH="0" baseline="0" noProof="0" dirty="0">
                <a:ln>
                  <a:noFill/>
                </a:ln>
                <a:solidFill>
                  <a:srgbClr val="CF73E5"/>
                </a:solidFill>
                <a:effectLst/>
                <a:uLnTx/>
                <a:uFillTx/>
                <a:latin typeface="Crosswalk Inter Medium" panose="02000503000000020004" pitchFamily="34" charset="0"/>
                <a:ea typeface="Crosswalk Inter Medium" panose="02000503000000020004" pitchFamily="34" charset="0"/>
                <a:cs typeface="Crosswalk Inter Medium" panose="02000503000000020004" pitchFamily="34" charset="0"/>
              </a:rPr>
              <a:t>CO-FOUNDER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srgbClr val="CF73E5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4497BEA0-6A20-0146-CDBD-820E3D70895A}"/>
              </a:ext>
            </a:extLst>
          </p:cNvPr>
          <p:cNvSpPr/>
          <p:nvPr/>
        </p:nvSpPr>
        <p:spPr>
          <a:xfrm>
            <a:off x="841248" y="3410712"/>
            <a:ext cx="2542032" cy="54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Chief Research &amp; Data Officer, Warner Bros. Discovery.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1" name="Text 15">
            <a:extLst>
              <a:ext uri="{FF2B5EF4-FFF2-40B4-BE49-F238E27FC236}">
                <a16:creationId xmlns:a16="http://schemas.microsoft.com/office/drawing/2014/main" id="{023E6D85-2C37-E57F-702E-590DA35CD7C2}"/>
              </a:ext>
            </a:extLst>
          </p:cNvPr>
          <p:cNvSpPr/>
          <p:nvPr/>
        </p:nvSpPr>
        <p:spPr>
          <a:xfrm>
            <a:off x="3532555" y="278001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A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Jenna Menking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2" name="Text 16">
            <a:extLst>
              <a:ext uri="{FF2B5EF4-FFF2-40B4-BE49-F238E27FC236}">
                <a16:creationId xmlns:a16="http://schemas.microsoft.com/office/drawing/2014/main" id="{E187EDF2-BA39-1E63-5A1B-763843BC901B}"/>
              </a:ext>
            </a:extLst>
          </p:cNvPr>
          <p:cNvSpPr/>
          <p:nvPr/>
        </p:nvSpPr>
        <p:spPr>
          <a:xfrm>
            <a:off x="3532555" y="3048652"/>
            <a:ext cx="2542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50" b="0" i="0" u="none" strike="noStrike" kern="0" cap="none" spc="120" normalizeH="0" baseline="0" noProof="0" dirty="0">
                <a:ln>
                  <a:noFill/>
                </a:ln>
                <a:solidFill>
                  <a:srgbClr val="CF73E5"/>
                </a:solidFill>
                <a:effectLst/>
                <a:uLnTx/>
                <a:uFillTx/>
                <a:latin typeface="Crosswalk Inter Medium" panose="02000503000000020004" pitchFamily="34" charset="0"/>
                <a:ea typeface="Crosswalk Inter Medium" panose="02000503000000020004" pitchFamily="34" charset="0"/>
                <a:cs typeface="Crosswalk Inter Medium" panose="02000503000000020004" pitchFamily="34" charset="0"/>
              </a:rPr>
              <a:t>CO-FOUNDER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srgbClr val="CF73E5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0B0DFF9C-500F-9C02-0ADC-9FFEB723F518}"/>
              </a:ext>
            </a:extLst>
          </p:cNvPr>
          <p:cNvSpPr/>
          <p:nvPr/>
        </p:nvSpPr>
        <p:spPr>
          <a:xfrm>
            <a:off x="3532555" y="3410712"/>
            <a:ext cx="2542032" cy="54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Two-time founder with two exits: Black Sheep Social to IPG and a QR valet-payments platform.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4" name="Text 19">
            <a:extLst>
              <a:ext uri="{FF2B5EF4-FFF2-40B4-BE49-F238E27FC236}">
                <a16:creationId xmlns:a16="http://schemas.microsoft.com/office/drawing/2014/main" id="{5C6BF609-DDDD-2264-0428-59D36993C082}"/>
              </a:ext>
            </a:extLst>
          </p:cNvPr>
          <p:cNvSpPr/>
          <p:nvPr/>
        </p:nvSpPr>
        <p:spPr>
          <a:xfrm>
            <a:off x="6223862" y="278001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A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Scott Carlin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5" name="Text 20">
            <a:extLst>
              <a:ext uri="{FF2B5EF4-FFF2-40B4-BE49-F238E27FC236}">
                <a16:creationId xmlns:a16="http://schemas.microsoft.com/office/drawing/2014/main" id="{7144DB26-64A9-0EC5-E70D-3B537453B80E}"/>
              </a:ext>
            </a:extLst>
          </p:cNvPr>
          <p:cNvSpPr/>
          <p:nvPr/>
        </p:nvSpPr>
        <p:spPr>
          <a:xfrm>
            <a:off x="6223862" y="3048652"/>
            <a:ext cx="2542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50" b="0" i="0" u="none" strike="noStrike" kern="0" cap="none" spc="120" normalizeH="0" baseline="0" noProof="0" dirty="0">
                <a:ln>
                  <a:noFill/>
                </a:ln>
                <a:solidFill>
                  <a:srgbClr val="CF73E5"/>
                </a:solidFill>
                <a:effectLst/>
                <a:uLnTx/>
                <a:uFillTx/>
                <a:latin typeface="Crosswalk Inter Medium" panose="02000503000000020004" pitchFamily="34" charset="0"/>
                <a:ea typeface="Crosswalk Inter Medium" panose="02000503000000020004" pitchFamily="34" charset="0"/>
                <a:cs typeface="Crosswalk Inter Medium" panose="02000503000000020004" pitchFamily="34" charset="0"/>
              </a:rPr>
              <a:t>PRESIDENT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srgbClr val="CF73E5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6" name="Text 21">
            <a:extLst>
              <a:ext uri="{FF2B5EF4-FFF2-40B4-BE49-F238E27FC236}">
                <a16:creationId xmlns:a16="http://schemas.microsoft.com/office/drawing/2014/main" id="{1221AAB5-4BA0-B089-977C-2E497D11E0B0}"/>
              </a:ext>
            </a:extLst>
          </p:cNvPr>
          <p:cNvSpPr/>
          <p:nvPr/>
        </p:nvSpPr>
        <p:spPr>
          <a:xfrm>
            <a:off x="6223862" y="3410712"/>
            <a:ext cx="2542032" cy="54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DA09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Founding President of HBO Domestic TV Distribution; architect of the Friends and Sopranos syndication deals.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7" name="Text 23">
            <a:extLst>
              <a:ext uri="{FF2B5EF4-FFF2-40B4-BE49-F238E27FC236}">
                <a16:creationId xmlns:a16="http://schemas.microsoft.com/office/drawing/2014/main" id="{9105441D-16BB-6CBA-EC15-7EE75C57E4FD}"/>
              </a:ext>
            </a:extLst>
          </p:cNvPr>
          <p:cNvSpPr/>
          <p:nvPr/>
        </p:nvSpPr>
        <p:spPr>
          <a:xfrm>
            <a:off x="8915169" y="278001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A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Keith Friedenberg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8" name="Text 24">
            <a:extLst>
              <a:ext uri="{FF2B5EF4-FFF2-40B4-BE49-F238E27FC236}">
                <a16:creationId xmlns:a16="http://schemas.microsoft.com/office/drawing/2014/main" id="{5ECE1871-C202-AB1F-18B6-4AA91C9CD849}"/>
              </a:ext>
            </a:extLst>
          </p:cNvPr>
          <p:cNvSpPr/>
          <p:nvPr/>
        </p:nvSpPr>
        <p:spPr>
          <a:xfrm>
            <a:off x="8915169" y="30486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50" b="0" i="0" u="none" strike="noStrike" kern="0" cap="none" spc="120" normalizeH="0" baseline="0" noProof="0" dirty="0">
                <a:ln>
                  <a:noFill/>
                </a:ln>
                <a:solidFill>
                  <a:srgbClr val="CF73E5"/>
                </a:solidFill>
                <a:effectLst/>
                <a:uLnTx/>
                <a:uFillTx/>
                <a:latin typeface="Crosswalk Inter Medium" panose="02000503000000020004" pitchFamily="34" charset="0"/>
                <a:ea typeface="Crosswalk Inter Medium" panose="02000503000000020004" pitchFamily="34" charset="0"/>
                <a:cs typeface="Crosswalk Inter Medium" panose="02000503000000020004" pitchFamily="34" charset="0"/>
              </a:rPr>
              <a:t>CHIEF ANALYTICS &amp; DATA SCIENCE OFFICER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srgbClr val="CF73E5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9" name="Text 25">
            <a:extLst>
              <a:ext uri="{FF2B5EF4-FFF2-40B4-BE49-F238E27FC236}">
                <a16:creationId xmlns:a16="http://schemas.microsoft.com/office/drawing/2014/main" id="{C0FEC1F1-5A5A-D71E-48A6-23CECDBFE20A}"/>
              </a:ext>
            </a:extLst>
          </p:cNvPr>
          <p:cNvSpPr/>
          <p:nvPr/>
        </p:nvSpPr>
        <p:spPr>
          <a:xfrm>
            <a:off x="8915169" y="3410712"/>
            <a:ext cx="2542032" cy="54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DA09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Founder of Endeavor Analytics. Chief Analytics &amp; Insights Officer at Endeavor.</a:t>
            </a:r>
          </a:p>
        </p:txBody>
      </p:sp>
      <p:sp>
        <p:nvSpPr>
          <p:cNvPr id="60" name="Text 27">
            <a:extLst>
              <a:ext uri="{FF2B5EF4-FFF2-40B4-BE49-F238E27FC236}">
                <a16:creationId xmlns:a16="http://schemas.microsoft.com/office/drawing/2014/main" id="{41438203-D62E-EBA2-310D-CAB00D6C306D}"/>
              </a:ext>
            </a:extLst>
          </p:cNvPr>
          <p:cNvSpPr/>
          <p:nvPr/>
        </p:nvSpPr>
        <p:spPr>
          <a:xfrm>
            <a:off x="841248" y="4966734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A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Jared Goetz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1" name="Text 28">
            <a:extLst>
              <a:ext uri="{FF2B5EF4-FFF2-40B4-BE49-F238E27FC236}">
                <a16:creationId xmlns:a16="http://schemas.microsoft.com/office/drawing/2014/main" id="{AECA8B47-5D14-7BED-741C-E3B3FD263778}"/>
              </a:ext>
            </a:extLst>
          </p:cNvPr>
          <p:cNvSpPr/>
          <p:nvPr/>
        </p:nvSpPr>
        <p:spPr>
          <a:xfrm>
            <a:off x="841248" y="5235370"/>
            <a:ext cx="2542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50" b="0" i="0" u="none" strike="noStrike" kern="0" cap="none" spc="120" normalizeH="0" baseline="0" noProof="0" dirty="0">
                <a:ln>
                  <a:noFill/>
                </a:ln>
                <a:solidFill>
                  <a:srgbClr val="CF73E5"/>
                </a:solidFill>
                <a:effectLst/>
                <a:uLnTx/>
                <a:uFillTx/>
                <a:latin typeface="Crosswalk Inter Medium" panose="02000503000000020004" pitchFamily="34" charset="0"/>
                <a:ea typeface="Crosswalk Inter Medium" panose="02000503000000020004" pitchFamily="34" charset="0"/>
                <a:cs typeface="Crosswalk Inter Medium" panose="02000503000000020004" pitchFamily="34" charset="0"/>
              </a:rPr>
              <a:t>HEAD OF ENTERTAINMENT SALES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srgbClr val="CF73E5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2" name="Text 29">
            <a:extLst>
              <a:ext uri="{FF2B5EF4-FFF2-40B4-BE49-F238E27FC236}">
                <a16:creationId xmlns:a16="http://schemas.microsoft.com/office/drawing/2014/main" id="{BA1DCC4A-222F-C9F3-3D84-FC2A7BBE96A6}"/>
              </a:ext>
            </a:extLst>
          </p:cNvPr>
          <p:cNvSpPr/>
          <p:nvPr/>
        </p:nvSpPr>
        <p:spPr>
          <a:xfrm>
            <a:off x="841248" y="5462287"/>
            <a:ext cx="2542032" cy="375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DA09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President TV Distribution, Lionsgate; 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DA09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DA09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22 years at Disney.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3" name="Text 31">
            <a:extLst>
              <a:ext uri="{FF2B5EF4-FFF2-40B4-BE49-F238E27FC236}">
                <a16:creationId xmlns:a16="http://schemas.microsoft.com/office/drawing/2014/main" id="{E6220E6C-DAC3-5FB5-4EAB-C71E7C1CD836}"/>
              </a:ext>
            </a:extLst>
          </p:cNvPr>
          <p:cNvSpPr/>
          <p:nvPr/>
        </p:nvSpPr>
        <p:spPr>
          <a:xfrm>
            <a:off x="3532555" y="4966734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A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Alexia Raven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4" name="Text 32">
            <a:extLst>
              <a:ext uri="{FF2B5EF4-FFF2-40B4-BE49-F238E27FC236}">
                <a16:creationId xmlns:a16="http://schemas.microsoft.com/office/drawing/2014/main" id="{1BE45C6A-52B1-54AC-A0AE-7F705B58ACC1}"/>
              </a:ext>
            </a:extLst>
          </p:cNvPr>
          <p:cNvSpPr/>
          <p:nvPr/>
        </p:nvSpPr>
        <p:spPr>
          <a:xfrm>
            <a:off x="3532555" y="5235370"/>
            <a:ext cx="2542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50" b="0" i="0" u="none" strike="noStrike" kern="0" cap="none" spc="120" normalizeH="0" baseline="0" noProof="0" dirty="0">
                <a:ln>
                  <a:noFill/>
                </a:ln>
                <a:solidFill>
                  <a:srgbClr val="CF73E5"/>
                </a:solidFill>
                <a:effectLst/>
                <a:uLnTx/>
                <a:uFillTx/>
                <a:latin typeface="Crosswalk Inter Medium" panose="02000503000000020004" pitchFamily="34" charset="0"/>
                <a:ea typeface="Crosswalk Inter Medium" panose="02000503000000020004" pitchFamily="34" charset="0"/>
                <a:cs typeface="Crosswalk Inter Medium" panose="02000503000000020004" pitchFamily="34" charset="0"/>
              </a:rPr>
              <a:t>HEAD OF INSIGHTS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srgbClr val="CF73E5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5" name="Text 33">
            <a:extLst>
              <a:ext uri="{FF2B5EF4-FFF2-40B4-BE49-F238E27FC236}">
                <a16:creationId xmlns:a16="http://schemas.microsoft.com/office/drawing/2014/main" id="{77625F87-27E7-1F76-56DB-884DF893F8AD}"/>
              </a:ext>
            </a:extLst>
          </p:cNvPr>
          <p:cNvSpPr/>
          <p:nvPr/>
        </p:nvSpPr>
        <p:spPr>
          <a:xfrm>
            <a:off x="3532555" y="5462287"/>
            <a:ext cx="2542032" cy="375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DA09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VP Global Research &amp; Insights, Warner Bros. Discovery.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6" name="Text 35">
            <a:extLst>
              <a:ext uri="{FF2B5EF4-FFF2-40B4-BE49-F238E27FC236}">
                <a16:creationId xmlns:a16="http://schemas.microsoft.com/office/drawing/2014/main" id="{E02A6CDB-AD26-5C1C-8CF6-DB2D30459D00}"/>
              </a:ext>
            </a:extLst>
          </p:cNvPr>
          <p:cNvSpPr/>
          <p:nvPr/>
        </p:nvSpPr>
        <p:spPr>
          <a:xfrm>
            <a:off x="6223862" y="4966734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A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Debi Pomerantz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7" name="Text 36">
            <a:extLst>
              <a:ext uri="{FF2B5EF4-FFF2-40B4-BE49-F238E27FC236}">
                <a16:creationId xmlns:a16="http://schemas.microsoft.com/office/drawing/2014/main" id="{40F5239C-AC22-BD7D-D107-17290961193F}"/>
              </a:ext>
            </a:extLst>
          </p:cNvPr>
          <p:cNvSpPr/>
          <p:nvPr/>
        </p:nvSpPr>
        <p:spPr>
          <a:xfrm>
            <a:off x="6223862" y="5235370"/>
            <a:ext cx="2542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50" b="0" i="0" u="none" strike="noStrike" kern="0" cap="none" spc="120" normalizeH="0" baseline="0" noProof="0" dirty="0">
                <a:ln>
                  <a:noFill/>
                </a:ln>
                <a:solidFill>
                  <a:srgbClr val="CF73E5"/>
                </a:solidFill>
                <a:effectLst/>
                <a:uLnTx/>
                <a:uFillTx/>
                <a:latin typeface="Crosswalk Inter Medium" panose="02000503000000020004" pitchFamily="34" charset="0"/>
                <a:ea typeface="Crosswalk Inter Medium" panose="02000503000000020004" pitchFamily="34" charset="0"/>
                <a:cs typeface="Crosswalk Inter Medium" panose="02000503000000020004" pitchFamily="34" charset="0"/>
              </a:rPr>
              <a:t>INFLUENCER COMMERCIALS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srgbClr val="CF73E5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8" name="Text 37">
            <a:extLst>
              <a:ext uri="{FF2B5EF4-FFF2-40B4-BE49-F238E27FC236}">
                <a16:creationId xmlns:a16="http://schemas.microsoft.com/office/drawing/2014/main" id="{5960B37E-C4AC-BE1E-2A12-717EEDABB7E9}"/>
              </a:ext>
            </a:extLst>
          </p:cNvPr>
          <p:cNvSpPr/>
          <p:nvPr/>
        </p:nvSpPr>
        <p:spPr>
          <a:xfrm>
            <a:off x="6223862" y="5462287"/>
            <a:ext cx="2542032" cy="375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DA09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Head of Research at Warner Bros. Discovery before Crosswalk.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9" name="Text 39">
            <a:extLst>
              <a:ext uri="{FF2B5EF4-FFF2-40B4-BE49-F238E27FC236}">
                <a16:creationId xmlns:a16="http://schemas.microsoft.com/office/drawing/2014/main" id="{B6BE097B-654D-DE75-B498-96B6DA647874}"/>
              </a:ext>
            </a:extLst>
          </p:cNvPr>
          <p:cNvSpPr/>
          <p:nvPr/>
        </p:nvSpPr>
        <p:spPr>
          <a:xfrm>
            <a:off x="8915169" y="4966734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A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Bria Dotson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0" name="Text 40">
            <a:extLst>
              <a:ext uri="{FF2B5EF4-FFF2-40B4-BE49-F238E27FC236}">
                <a16:creationId xmlns:a16="http://schemas.microsoft.com/office/drawing/2014/main" id="{BE30B7A6-F9A5-C234-8641-553B1C80B2B4}"/>
              </a:ext>
            </a:extLst>
          </p:cNvPr>
          <p:cNvSpPr/>
          <p:nvPr/>
        </p:nvSpPr>
        <p:spPr>
          <a:xfrm>
            <a:off x="8915169" y="5235370"/>
            <a:ext cx="2542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50" b="0" i="0" u="none" strike="noStrike" kern="0" cap="none" spc="120" normalizeH="0" baseline="0" noProof="0" dirty="0">
                <a:ln>
                  <a:noFill/>
                </a:ln>
                <a:solidFill>
                  <a:srgbClr val="CF73E5"/>
                </a:solidFill>
                <a:effectLst/>
                <a:uLnTx/>
                <a:uFillTx/>
                <a:latin typeface="Crosswalk Inter Medium" panose="02000503000000020004" pitchFamily="34" charset="0"/>
                <a:ea typeface="Crosswalk Inter Medium" panose="02000503000000020004" pitchFamily="34" charset="0"/>
                <a:cs typeface="Crosswalk Inter Medium" panose="02000503000000020004" pitchFamily="34" charset="0"/>
              </a:rPr>
              <a:t>HEAD OF STATISTICS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srgbClr val="CF73E5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1" name="Text 41">
            <a:extLst>
              <a:ext uri="{FF2B5EF4-FFF2-40B4-BE49-F238E27FC236}">
                <a16:creationId xmlns:a16="http://schemas.microsoft.com/office/drawing/2014/main" id="{374B1500-864D-BDF2-BD4E-B979788EAA17}"/>
              </a:ext>
            </a:extLst>
          </p:cNvPr>
          <p:cNvSpPr/>
          <p:nvPr/>
        </p:nvSpPr>
        <p:spPr>
          <a:xfrm>
            <a:off x="8915169" y="5462287"/>
            <a:ext cx="2542032" cy="375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DA09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SVP Research &amp; Statistics, WME.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60D13D-1751-0CEA-6461-CB54C1C2CE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510235"/>
            <a:ext cx="1216152" cy="15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9925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AFA3C8-8A4A-A433-F22F-AC87E1511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B62E2D-A292-09CF-C397-CFB424A0BFA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1000"/>
          </a:blip>
          <a:srcRect t="25633" b="25633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5A1BE15-DC2A-598E-6FB0-1C666922CF3C}"/>
              </a:ext>
            </a:extLst>
          </p:cNvPr>
          <p:cNvSpPr/>
          <p:nvPr/>
        </p:nvSpPr>
        <p:spPr>
          <a:xfrm flipH="1" flipV="1">
            <a:off x="5458684" y="0"/>
            <a:ext cx="6733012" cy="6858000"/>
          </a:xfrm>
          <a:prstGeom prst="rect">
            <a:avLst/>
          </a:prstGeom>
          <a:gradFill>
            <a:gsLst>
              <a:gs pos="23000">
                <a:srgbClr val="111E1F">
                  <a:alpha val="0"/>
                </a:srgbClr>
              </a:gs>
              <a:gs pos="0">
                <a:srgbClr val="0C1F1F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A06C0877-394E-02E5-707D-BB33C56DA283}"/>
              </a:ext>
            </a:extLst>
          </p:cNvPr>
          <p:cNvSpPr/>
          <p:nvPr/>
        </p:nvSpPr>
        <p:spPr>
          <a:xfrm>
            <a:off x="841248" y="2171716"/>
            <a:ext cx="2487168" cy="1920240"/>
          </a:xfrm>
          <a:prstGeom prst="roundRect">
            <a:avLst>
              <a:gd name="adj" fmla="val 3000"/>
            </a:avLst>
          </a:prstGeom>
          <a:solidFill>
            <a:srgbClr val="0A1617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E44AA8F-0F20-4243-D0AE-F3BB6CA5197A}"/>
              </a:ext>
            </a:extLst>
          </p:cNvPr>
          <p:cNvSpPr/>
          <p:nvPr/>
        </p:nvSpPr>
        <p:spPr>
          <a:xfrm>
            <a:off x="1078992" y="2372884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073E6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D073E6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54655EC-E14E-E88B-6672-F7B771C9B847}"/>
              </a:ext>
            </a:extLst>
          </p:cNvPr>
          <p:cNvSpPr/>
          <p:nvPr/>
        </p:nvSpPr>
        <p:spPr>
          <a:xfrm>
            <a:off x="1078992" y="2633349"/>
            <a:ext cx="204825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AE8E1"/>
                </a:solidFill>
                <a:effectLst/>
                <a:uLnTx/>
                <a:uFillTx/>
                <a:latin typeface="Crosswalk Inter Medium" panose="02000503000000020004" pitchFamily="34" charset="0"/>
                <a:ea typeface="Crosswalk Inter Medium" panose="02000503000000020004" pitchFamily="34" charset="0"/>
                <a:cs typeface="Crosswalk Inter Medium" panose="02000503000000020004" pitchFamily="34" charset="0"/>
              </a:rPr>
              <a:t>Retail &amp; Category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 Medium" panose="02000503000000020004" pitchFamily="34" charset="0"/>
              <a:ea typeface="Crosswalk Inter Medium" panose="02000503000000020004" pitchFamily="34" charset="0"/>
              <a:cs typeface="Crosswalk Inter Medium" panose="02000503000000020004" pitchFamily="34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13A7E78-E842-5E5A-9FB0-F52B92864FC3}"/>
              </a:ext>
            </a:extLst>
          </p:cNvPr>
          <p:cNvSpPr/>
          <p:nvPr/>
        </p:nvSpPr>
        <p:spPr>
          <a:xfrm>
            <a:off x="1078992" y="3076694"/>
            <a:ext cx="204825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EADA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The whole wallet, beyond Amazon's share of it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E8A6C11-16AA-2522-596F-5BD99B4BA14E}"/>
              </a:ext>
            </a:extLst>
          </p:cNvPr>
          <p:cNvSpPr/>
          <p:nvPr/>
        </p:nvSpPr>
        <p:spPr>
          <a:xfrm>
            <a:off x="1078992" y="3542205"/>
            <a:ext cx="2011680" cy="7315"/>
          </a:xfrm>
          <a:prstGeom prst="rect">
            <a:avLst/>
          </a:prstGeom>
          <a:solidFill>
            <a:srgbClr val="27393D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462065E-01F2-2CA8-1ED9-A4D96C89EEF1}"/>
              </a:ext>
            </a:extLst>
          </p:cNvPr>
          <p:cNvSpPr/>
          <p:nvPr/>
        </p:nvSpPr>
        <p:spPr>
          <a:xfrm>
            <a:off x="1078993" y="3680198"/>
            <a:ext cx="145586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Leakage detection, demand recapture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7C878A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6E175EBC-A4B1-3AD0-E6E8-0CB98CDBCC84}"/>
              </a:ext>
            </a:extLst>
          </p:cNvPr>
          <p:cNvSpPr/>
          <p:nvPr/>
        </p:nvSpPr>
        <p:spPr>
          <a:xfrm>
            <a:off x="3511296" y="2171716"/>
            <a:ext cx="2487168" cy="1920240"/>
          </a:xfrm>
          <a:prstGeom prst="roundRect">
            <a:avLst>
              <a:gd name="adj" fmla="val 3000"/>
            </a:avLst>
          </a:prstGeom>
          <a:solidFill>
            <a:srgbClr val="0A1617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02B286D-3230-78C7-BCC1-7FE01C38ED13}"/>
              </a:ext>
            </a:extLst>
          </p:cNvPr>
          <p:cNvSpPr/>
          <p:nvPr/>
        </p:nvSpPr>
        <p:spPr>
          <a:xfrm>
            <a:off x="3749040" y="2372884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073E6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D073E6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74A73972-B190-8938-D28D-3D132BBA7EAC}"/>
              </a:ext>
            </a:extLst>
          </p:cNvPr>
          <p:cNvSpPr/>
          <p:nvPr/>
        </p:nvSpPr>
        <p:spPr>
          <a:xfrm>
            <a:off x="3749040" y="2633349"/>
            <a:ext cx="204825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AE8E1"/>
                </a:solidFill>
                <a:effectLst/>
                <a:uLnTx/>
                <a:uFillTx/>
                <a:latin typeface="Crosswalk Inter Medium" panose="02000503000000020004" pitchFamily="34" charset="0"/>
                <a:ea typeface="Crosswalk Inter Medium" panose="02000503000000020004" pitchFamily="34" charset="0"/>
                <a:cs typeface="Crosswalk Inter Medium" panose="02000503000000020004" pitchFamily="34" charset="0"/>
              </a:rPr>
              <a:t>Demand Formation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 Medium" panose="02000503000000020004" pitchFamily="34" charset="0"/>
              <a:ea typeface="Crosswalk Inter Medium" panose="02000503000000020004" pitchFamily="34" charset="0"/>
              <a:cs typeface="Crosswalk Inter Medium" panose="02000503000000020004" pitchFamily="34" charset="0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27173D0-38DE-5891-E42D-1C2E67412440}"/>
              </a:ext>
            </a:extLst>
          </p:cNvPr>
          <p:cNvSpPr/>
          <p:nvPr/>
        </p:nvSpPr>
        <p:spPr>
          <a:xfrm>
            <a:off x="3749040" y="3076694"/>
            <a:ext cx="204825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EADA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Where product discovery now begins: social, video, forums, AI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1551F969-3573-C6F7-6723-5C2B70702790}"/>
              </a:ext>
            </a:extLst>
          </p:cNvPr>
          <p:cNvSpPr/>
          <p:nvPr/>
        </p:nvSpPr>
        <p:spPr>
          <a:xfrm>
            <a:off x="3749040" y="3542205"/>
            <a:ext cx="2011680" cy="7315"/>
          </a:xfrm>
          <a:prstGeom prst="rect">
            <a:avLst/>
          </a:prstGeom>
          <a:solidFill>
            <a:srgbClr val="27393D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8BDBBB8-7B1A-ED48-FF10-621F173F358A}"/>
              </a:ext>
            </a:extLst>
          </p:cNvPr>
          <p:cNvSpPr/>
          <p:nvPr/>
        </p:nvSpPr>
        <p:spPr>
          <a:xfrm>
            <a:off x="3749040" y="3680198"/>
            <a:ext cx="1678627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Upper-funnel presence where it forms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7C878A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2CBBDCFF-9786-D831-BD3A-461B3FD497DC}"/>
              </a:ext>
            </a:extLst>
          </p:cNvPr>
          <p:cNvSpPr/>
          <p:nvPr/>
        </p:nvSpPr>
        <p:spPr>
          <a:xfrm>
            <a:off x="6181344" y="2171716"/>
            <a:ext cx="2487168" cy="1920240"/>
          </a:xfrm>
          <a:prstGeom prst="roundRect">
            <a:avLst>
              <a:gd name="adj" fmla="val 3000"/>
            </a:avLst>
          </a:prstGeom>
          <a:solidFill>
            <a:srgbClr val="0A1617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46EEDD88-3942-0252-2B88-98897736B8EA}"/>
              </a:ext>
            </a:extLst>
          </p:cNvPr>
          <p:cNvSpPr/>
          <p:nvPr/>
        </p:nvSpPr>
        <p:spPr>
          <a:xfrm>
            <a:off x="6419088" y="2372884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073E6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D073E6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C1870C48-94E3-232A-D947-AC1FD5FF54AD}"/>
              </a:ext>
            </a:extLst>
          </p:cNvPr>
          <p:cNvSpPr/>
          <p:nvPr/>
        </p:nvSpPr>
        <p:spPr>
          <a:xfrm>
            <a:off x="6419088" y="2633349"/>
            <a:ext cx="204825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AE8E1"/>
                </a:solidFill>
                <a:effectLst/>
                <a:uLnTx/>
                <a:uFillTx/>
                <a:latin typeface="Crosswalk Inter Medium" panose="02000503000000020004" pitchFamily="34" charset="0"/>
                <a:ea typeface="Crosswalk Inter Medium" panose="02000503000000020004" pitchFamily="34" charset="0"/>
                <a:cs typeface="Crosswalk Inter Medium" panose="02000503000000020004" pitchFamily="34" charset="0"/>
              </a:rPr>
              <a:t>AI Shopping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 Medium" panose="02000503000000020004" pitchFamily="34" charset="0"/>
              <a:ea typeface="Crosswalk Inter Medium" panose="02000503000000020004" pitchFamily="34" charset="0"/>
              <a:cs typeface="Crosswalk Inter Medium" panose="02000503000000020004" pitchFamily="34" charset="0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D616414D-E39D-F13A-8987-6AEFB2811E18}"/>
              </a:ext>
            </a:extLst>
          </p:cNvPr>
          <p:cNvSpPr/>
          <p:nvPr/>
        </p:nvSpPr>
        <p:spPr>
          <a:xfrm>
            <a:off x="6419088" y="3076694"/>
            <a:ext cx="204825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EADA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Whether LLM-mediated journeys end at Amazon or elsewhere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C033610B-5815-D6EB-DBD4-754D0B40D330}"/>
              </a:ext>
            </a:extLst>
          </p:cNvPr>
          <p:cNvSpPr/>
          <p:nvPr/>
        </p:nvSpPr>
        <p:spPr>
          <a:xfrm>
            <a:off x="6419088" y="3542205"/>
            <a:ext cx="2011680" cy="7315"/>
          </a:xfrm>
          <a:prstGeom prst="rect">
            <a:avLst/>
          </a:prstGeom>
          <a:solidFill>
            <a:srgbClr val="27393D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8A2AFE91-D4FD-005F-6424-EA609515F14A}"/>
              </a:ext>
            </a:extLst>
          </p:cNvPr>
          <p:cNvSpPr/>
          <p:nvPr/>
        </p:nvSpPr>
        <p:spPr>
          <a:xfrm>
            <a:off x="6419088" y="3680198"/>
            <a:ext cx="1678627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The honest read on Rufus and agentic commerce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7C878A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5F5A87CB-1AD5-BBAF-562F-25CD67B3D05B}"/>
              </a:ext>
            </a:extLst>
          </p:cNvPr>
          <p:cNvSpPr/>
          <p:nvPr/>
        </p:nvSpPr>
        <p:spPr>
          <a:xfrm>
            <a:off x="8851392" y="2171716"/>
            <a:ext cx="2487168" cy="1920240"/>
          </a:xfrm>
          <a:prstGeom prst="roundRect">
            <a:avLst>
              <a:gd name="adj" fmla="val 3000"/>
            </a:avLst>
          </a:prstGeom>
          <a:solidFill>
            <a:srgbClr val="0A1617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23490AD0-BB81-871A-E698-1751C5490B2F}"/>
              </a:ext>
            </a:extLst>
          </p:cNvPr>
          <p:cNvSpPr/>
          <p:nvPr/>
        </p:nvSpPr>
        <p:spPr>
          <a:xfrm>
            <a:off x="9089136" y="2372884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073E6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04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D073E6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B9D5901F-A6BC-3EC4-819A-08320FE63E8A}"/>
              </a:ext>
            </a:extLst>
          </p:cNvPr>
          <p:cNvSpPr/>
          <p:nvPr/>
        </p:nvSpPr>
        <p:spPr>
          <a:xfrm>
            <a:off x="9089136" y="2633349"/>
            <a:ext cx="204825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AE8E1"/>
                </a:solidFill>
                <a:effectLst/>
                <a:uLnTx/>
                <a:uFillTx/>
                <a:latin typeface="Crosswalk Inter Medium" panose="02000503000000020004" pitchFamily="34" charset="0"/>
                <a:ea typeface="Crosswalk Inter Medium" panose="02000503000000020004" pitchFamily="34" charset="0"/>
                <a:cs typeface="Crosswalk Inter Medium" panose="02000503000000020004" pitchFamily="34" charset="0"/>
              </a:rPr>
              <a:t>Prime Lifecycle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 Medium" panose="02000503000000020004" pitchFamily="34" charset="0"/>
              <a:ea typeface="Crosswalk Inter Medium" panose="02000503000000020004" pitchFamily="34" charset="0"/>
              <a:cs typeface="Crosswalk Inter Medium" panose="02000503000000020004" pitchFamily="34" charset="0"/>
            </a:endParaRP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9D1B9F1F-4B5C-B6E7-87E9-6A3B98B51D7B}"/>
              </a:ext>
            </a:extLst>
          </p:cNvPr>
          <p:cNvSpPr/>
          <p:nvPr/>
        </p:nvSpPr>
        <p:spPr>
          <a:xfrm>
            <a:off x="9089136" y="3076694"/>
            <a:ext cx="204825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EADA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Why a member joins, drifts, lapses, and where they go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3403C91-C291-034A-1D24-7567A17553E3}"/>
              </a:ext>
            </a:extLst>
          </p:cNvPr>
          <p:cNvSpPr/>
          <p:nvPr/>
        </p:nvSpPr>
        <p:spPr>
          <a:xfrm>
            <a:off x="9089136" y="3542205"/>
            <a:ext cx="2011680" cy="7315"/>
          </a:xfrm>
          <a:prstGeom prst="rect">
            <a:avLst/>
          </a:prstGeom>
          <a:solidFill>
            <a:srgbClr val="27393D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748AC3F6-667C-126F-2E3A-753132FBEA07}"/>
              </a:ext>
            </a:extLst>
          </p:cNvPr>
          <p:cNvSpPr/>
          <p:nvPr/>
        </p:nvSpPr>
        <p:spPr>
          <a:xfrm>
            <a:off x="9089136" y="3680198"/>
            <a:ext cx="1328079" cy="2665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Lapse reduction, timed win-back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7C878A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9B998220-99F3-31D5-E99F-C011B1C5B2AB}"/>
              </a:ext>
            </a:extLst>
          </p:cNvPr>
          <p:cNvSpPr/>
          <p:nvPr/>
        </p:nvSpPr>
        <p:spPr>
          <a:xfrm>
            <a:off x="841248" y="4280381"/>
            <a:ext cx="2487168" cy="1920240"/>
          </a:xfrm>
          <a:prstGeom prst="roundRect">
            <a:avLst>
              <a:gd name="adj" fmla="val 3000"/>
            </a:avLst>
          </a:prstGeom>
          <a:solidFill>
            <a:srgbClr val="0A1617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8A3E7F65-60B2-AF20-A62E-D08DC3E4357C}"/>
              </a:ext>
            </a:extLst>
          </p:cNvPr>
          <p:cNvSpPr/>
          <p:nvPr/>
        </p:nvSpPr>
        <p:spPr>
          <a:xfrm>
            <a:off x="1078992" y="4481549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073E6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05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D073E6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AA654540-F6E2-CA7A-9A98-C6F7A9C4D17E}"/>
              </a:ext>
            </a:extLst>
          </p:cNvPr>
          <p:cNvSpPr/>
          <p:nvPr/>
        </p:nvSpPr>
        <p:spPr>
          <a:xfrm>
            <a:off x="1078992" y="4742014"/>
            <a:ext cx="204825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AE8E1"/>
                </a:solidFill>
                <a:effectLst/>
                <a:uLnTx/>
                <a:uFillTx/>
                <a:latin typeface="Crosswalk Inter Medium" panose="02000503000000020004" pitchFamily="34" charset="0"/>
                <a:ea typeface="Crosswalk Inter Medium" panose="02000503000000020004" pitchFamily="34" charset="0"/>
                <a:cs typeface="Crosswalk Inter Medium" panose="02000503000000020004" pitchFamily="34" charset="0"/>
              </a:rPr>
              <a:t>Merchandising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 Medium" panose="02000503000000020004" pitchFamily="34" charset="0"/>
              <a:ea typeface="Crosswalk Inter Medium" panose="02000503000000020004" pitchFamily="34" charset="0"/>
              <a:cs typeface="Crosswalk Inter Medium" panose="02000503000000020004" pitchFamily="34" charset="0"/>
            </a:endParaRPr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FB589FE2-3F78-9A30-22FE-7809524B42FA}"/>
              </a:ext>
            </a:extLst>
          </p:cNvPr>
          <p:cNvSpPr/>
          <p:nvPr/>
        </p:nvSpPr>
        <p:spPr>
          <a:xfrm>
            <a:off x="1078992" y="5185359"/>
            <a:ext cx="204825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EADA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What shoppers compared and bought elsewhere instead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4D7FE1C0-A096-DCE4-D638-140CE4067216}"/>
              </a:ext>
            </a:extLst>
          </p:cNvPr>
          <p:cNvSpPr/>
          <p:nvPr/>
        </p:nvSpPr>
        <p:spPr>
          <a:xfrm>
            <a:off x="1078992" y="5650870"/>
            <a:ext cx="2011680" cy="7315"/>
          </a:xfrm>
          <a:prstGeom prst="rect">
            <a:avLst/>
          </a:prstGeom>
          <a:solidFill>
            <a:srgbClr val="27393D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41FBA52A-1A46-D421-F9FF-1B764B481377}"/>
              </a:ext>
            </a:extLst>
          </p:cNvPr>
          <p:cNvSpPr/>
          <p:nvPr/>
        </p:nvSpPr>
        <p:spPr>
          <a:xfrm>
            <a:off x="1078992" y="5788863"/>
            <a:ext cx="1571611" cy="320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Assortment gaps, pricing, 1P buying inputs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7C878A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10082514-9657-6CB1-7689-7C46C084506C}"/>
              </a:ext>
            </a:extLst>
          </p:cNvPr>
          <p:cNvSpPr/>
          <p:nvPr/>
        </p:nvSpPr>
        <p:spPr>
          <a:xfrm>
            <a:off x="3511296" y="4280381"/>
            <a:ext cx="2487168" cy="1920240"/>
          </a:xfrm>
          <a:prstGeom prst="roundRect">
            <a:avLst>
              <a:gd name="adj" fmla="val 3000"/>
            </a:avLst>
          </a:prstGeom>
          <a:solidFill>
            <a:srgbClr val="0A1617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12A371ED-5672-3219-C10E-55FEF34B9765}"/>
              </a:ext>
            </a:extLst>
          </p:cNvPr>
          <p:cNvSpPr/>
          <p:nvPr/>
        </p:nvSpPr>
        <p:spPr>
          <a:xfrm>
            <a:off x="3749040" y="4481549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073E6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06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D073E6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F751BB3F-97D3-7E51-B0C5-A5AB62347E45}"/>
              </a:ext>
            </a:extLst>
          </p:cNvPr>
          <p:cNvSpPr/>
          <p:nvPr/>
        </p:nvSpPr>
        <p:spPr>
          <a:xfrm>
            <a:off x="3749040" y="4742014"/>
            <a:ext cx="204825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AE8E1"/>
                </a:solidFill>
                <a:effectLst/>
                <a:uLnTx/>
                <a:uFillTx/>
                <a:latin typeface="Crosswalk Inter Medium" panose="02000503000000020004" pitchFamily="34" charset="0"/>
                <a:ea typeface="Crosswalk Inter Medium" panose="02000503000000020004" pitchFamily="34" charset="0"/>
                <a:cs typeface="Crosswalk Inter Medium" panose="02000503000000020004" pitchFamily="34" charset="0"/>
              </a:rPr>
              <a:t>Marketplace &amp; Sellers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 Medium" panose="02000503000000020004" pitchFamily="34" charset="0"/>
              <a:ea typeface="Crosswalk Inter Medium" panose="02000503000000020004" pitchFamily="34" charset="0"/>
              <a:cs typeface="Crosswalk Inter Medium" panose="02000503000000020004" pitchFamily="34" charset="0"/>
            </a:endParaRPr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ABC51C79-456D-02B2-DBEE-2233F1810686}"/>
              </a:ext>
            </a:extLst>
          </p:cNvPr>
          <p:cNvSpPr/>
          <p:nvPr/>
        </p:nvSpPr>
        <p:spPr>
          <a:xfrm>
            <a:off x="3749040" y="5185359"/>
            <a:ext cx="204825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EADA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Off-Amazon demand for every seller's own category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4CFD34D2-F105-B91D-8D90-DACA7FFE8C6E}"/>
              </a:ext>
            </a:extLst>
          </p:cNvPr>
          <p:cNvSpPr/>
          <p:nvPr/>
        </p:nvSpPr>
        <p:spPr>
          <a:xfrm>
            <a:off x="3749040" y="5650870"/>
            <a:ext cx="2011680" cy="7315"/>
          </a:xfrm>
          <a:prstGeom prst="rect">
            <a:avLst/>
          </a:prstGeom>
          <a:solidFill>
            <a:srgbClr val="27393D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EF97DFC8-D6C7-0C54-A31D-175FEB8AF92A}"/>
              </a:ext>
            </a:extLst>
          </p:cNvPr>
          <p:cNvSpPr/>
          <p:nvPr/>
        </p:nvSpPr>
        <p:spPr>
          <a:xfrm>
            <a:off x="3749040" y="5788863"/>
            <a:ext cx="1482717" cy="320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A new high-margin seller-facing line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7C878A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671FAB9C-F9EF-24F8-BCF0-028087B0CFA9}"/>
              </a:ext>
            </a:extLst>
          </p:cNvPr>
          <p:cNvSpPr/>
          <p:nvPr/>
        </p:nvSpPr>
        <p:spPr>
          <a:xfrm>
            <a:off x="6181344" y="4280381"/>
            <a:ext cx="2487168" cy="1920240"/>
          </a:xfrm>
          <a:prstGeom prst="roundRect">
            <a:avLst>
              <a:gd name="adj" fmla="val 3000"/>
            </a:avLst>
          </a:prstGeom>
          <a:solidFill>
            <a:srgbClr val="0A1617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5D05B37D-096F-1FE0-C8F7-DF104F7085CC}"/>
              </a:ext>
            </a:extLst>
          </p:cNvPr>
          <p:cNvSpPr/>
          <p:nvPr/>
        </p:nvSpPr>
        <p:spPr>
          <a:xfrm>
            <a:off x="6419088" y="4481549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073E6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07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D073E6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615744F8-EE74-31AE-8F99-37CC212FE93A}"/>
              </a:ext>
            </a:extLst>
          </p:cNvPr>
          <p:cNvSpPr/>
          <p:nvPr/>
        </p:nvSpPr>
        <p:spPr>
          <a:xfrm>
            <a:off x="6419088" y="4742014"/>
            <a:ext cx="204825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AE8E1"/>
                </a:solidFill>
                <a:effectLst/>
                <a:uLnTx/>
                <a:uFillTx/>
                <a:latin typeface="Crosswalk Inter Medium" panose="02000503000000020004" pitchFamily="34" charset="0"/>
                <a:ea typeface="Crosswalk Inter Medium" panose="02000503000000020004" pitchFamily="34" charset="0"/>
                <a:cs typeface="Crosswalk Inter Medium" panose="02000503000000020004" pitchFamily="34" charset="0"/>
              </a:rPr>
              <a:t>Prime Video &amp; MGM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 Medium" panose="02000503000000020004" pitchFamily="34" charset="0"/>
              <a:ea typeface="Crosswalk Inter Medium" panose="02000503000000020004" pitchFamily="34" charset="0"/>
              <a:cs typeface="Crosswalk Inter Medium" panose="02000503000000020004" pitchFamily="34" charset="0"/>
            </a:endParaRPr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4B6D3E9A-CDEB-620B-2CC5-1970ED3EC5E9}"/>
              </a:ext>
            </a:extLst>
          </p:cNvPr>
          <p:cNvSpPr/>
          <p:nvPr/>
        </p:nvSpPr>
        <p:spPr>
          <a:xfrm>
            <a:off x="6419088" y="5185359"/>
            <a:ext cx="204825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EADA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Cross-platform content demand and subscription switching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6" name="Shape 43">
            <a:extLst>
              <a:ext uri="{FF2B5EF4-FFF2-40B4-BE49-F238E27FC236}">
                <a16:creationId xmlns:a16="http://schemas.microsoft.com/office/drawing/2014/main" id="{8F654CC7-58D2-2E32-F9A2-40433078C311}"/>
              </a:ext>
            </a:extLst>
          </p:cNvPr>
          <p:cNvSpPr/>
          <p:nvPr/>
        </p:nvSpPr>
        <p:spPr>
          <a:xfrm>
            <a:off x="6419088" y="5650870"/>
            <a:ext cx="2011680" cy="7315"/>
          </a:xfrm>
          <a:prstGeom prst="rect">
            <a:avLst/>
          </a:prstGeom>
          <a:solidFill>
            <a:srgbClr val="27393D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1E4FA214-9BD3-3BA5-AF36-3623CE86ACD5}"/>
              </a:ext>
            </a:extLst>
          </p:cNvPr>
          <p:cNvSpPr/>
          <p:nvPr/>
        </p:nvSpPr>
        <p:spPr>
          <a:xfrm>
            <a:off x="6419088" y="5788863"/>
            <a:ext cx="1393823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Content investment and churn intelligence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7C878A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D759836E-12FA-0D52-6CD1-88A120CB659A}"/>
              </a:ext>
            </a:extLst>
          </p:cNvPr>
          <p:cNvSpPr/>
          <p:nvPr/>
        </p:nvSpPr>
        <p:spPr>
          <a:xfrm>
            <a:off x="8851392" y="4280381"/>
            <a:ext cx="2487168" cy="1920240"/>
          </a:xfrm>
          <a:prstGeom prst="roundRect">
            <a:avLst>
              <a:gd name="adj" fmla="val 3000"/>
            </a:avLst>
          </a:prstGeom>
          <a:solidFill>
            <a:srgbClr val="0A1617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DD8D4458-EA91-07B4-EFEC-B4455BDBAEB0}"/>
              </a:ext>
            </a:extLst>
          </p:cNvPr>
          <p:cNvSpPr/>
          <p:nvPr/>
        </p:nvSpPr>
        <p:spPr>
          <a:xfrm>
            <a:off x="9089136" y="4481549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073E6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08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D073E6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DAE3176A-FBF1-4E33-9995-60524C7C5E7D}"/>
              </a:ext>
            </a:extLst>
          </p:cNvPr>
          <p:cNvSpPr/>
          <p:nvPr/>
        </p:nvSpPr>
        <p:spPr>
          <a:xfrm>
            <a:off x="9089136" y="4742014"/>
            <a:ext cx="204825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AE8E1"/>
                </a:solidFill>
                <a:effectLst/>
                <a:uLnTx/>
                <a:uFillTx/>
                <a:latin typeface="Crosswalk Inter Medium" panose="02000503000000020004" pitchFamily="34" charset="0"/>
                <a:ea typeface="Crosswalk Inter Medium" panose="02000503000000020004" pitchFamily="34" charset="0"/>
                <a:cs typeface="Crosswalk Inter Medium" panose="02000503000000020004" pitchFamily="34" charset="0"/>
              </a:rPr>
              <a:t>Amazon Ads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 Medium" panose="02000503000000020004" pitchFamily="34" charset="0"/>
              <a:ea typeface="Crosswalk Inter Medium" panose="02000503000000020004" pitchFamily="34" charset="0"/>
              <a:cs typeface="Crosswalk Inter Medium" panose="02000503000000020004" pitchFamily="34" charset="0"/>
            </a:endParaRPr>
          </a:p>
        </p:txBody>
      </p:sp>
      <p:sp>
        <p:nvSpPr>
          <p:cNvPr id="51" name="Text 48">
            <a:extLst>
              <a:ext uri="{FF2B5EF4-FFF2-40B4-BE49-F238E27FC236}">
                <a16:creationId xmlns:a16="http://schemas.microsoft.com/office/drawing/2014/main" id="{4A8D120E-830F-4831-5A65-6AAB27051520}"/>
              </a:ext>
            </a:extLst>
          </p:cNvPr>
          <p:cNvSpPr/>
          <p:nvPr/>
        </p:nvSpPr>
        <p:spPr>
          <a:xfrm>
            <a:off x="9089136" y="5185359"/>
            <a:ext cx="204825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EADA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Off-Amazon outcome proof and matched-control incrementality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2" name="Shape 49">
            <a:extLst>
              <a:ext uri="{FF2B5EF4-FFF2-40B4-BE49-F238E27FC236}">
                <a16:creationId xmlns:a16="http://schemas.microsoft.com/office/drawing/2014/main" id="{8C25B798-CDD3-416B-DF27-8D9C4D267A74}"/>
              </a:ext>
            </a:extLst>
          </p:cNvPr>
          <p:cNvSpPr/>
          <p:nvPr/>
        </p:nvSpPr>
        <p:spPr>
          <a:xfrm>
            <a:off x="9089136" y="5650870"/>
            <a:ext cx="2011680" cy="7315"/>
          </a:xfrm>
          <a:prstGeom prst="rect">
            <a:avLst/>
          </a:prstGeom>
          <a:solidFill>
            <a:srgbClr val="27393D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C1401923-25ED-7AD9-83A0-BC15A5F33067}"/>
              </a:ext>
            </a:extLst>
          </p:cNvPr>
          <p:cNvSpPr/>
          <p:nvPr/>
        </p:nvSpPr>
        <p:spPr>
          <a:xfrm>
            <a:off x="9089137" y="5788863"/>
            <a:ext cx="1582722" cy="320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CPM repricing on inventory already sold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7C878A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E06C4044-B618-8B65-368B-9CA4AF47FB25}"/>
              </a:ext>
            </a:extLst>
          </p:cNvPr>
          <p:cNvSpPr/>
          <p:nvPr/>
        </p:nvSpPr>
        <p:spPr>
          <a:xfrm>
            <a:off x="841248" y="6473952"/>
            <a:ext cx="10509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CROSSWALK / BEHAVIORAL INTELLIGENCE ENGINE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9" name="Shape 2">
            <a:extLst>
              <a:ext uri="{FF2B5EF4-FFF2-40B4-BE49-F238E27FC236}">
                <a16:creationId xmlns:a16="http://schemas.microsoft.com/office/drawing/2014/main" id="{6205D4AA-9EA8-BC19-E27D-A9E62A8CFAB2}"/>
              </a:ext>
            </a:extLst>
          </p:cNvPr>
          <p:cNvSpPr/>
          <p:nvPr/>
        </p:nvSpPr>
        <p:spPr>
          <a:xfrm>
            <a:off x="841248" y="566928"/>
            <a:ext cx="77724" cy="77724"/>
          </a:xfrm>
          <a:prstGeom prst="ellipse">
            <a:avLst/>
          </a:prstGeom>
          <a:solidFill>
            <a:srgbClr val="C7F2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1" name="Text 4">
            <a:extLst>
              <a:ext uri="{FF2B5EF4-FFF2-40B4-BE49-F238E27FC236}">
                <a16:creationId xmlns:a16="http://schemas.microsoft.com/office/drawing/2014/main" id="{BCA6FC4B-639D-0CAF-85CB-0A1F2633AAA5}"/>
              </a:ext>
            </a:extLst>
          </p:cNvPr>
          <p:cNvSpPr/>
          <p:nvPr/>
        </p:nvSpPr>
        <p:spPr>
          <a:xfrm>
            <a:off x="841247" y="960120"/>
            <a:ext cx="8282179" cy="1211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E9E8E1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One signal set. Eight decision centers.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62" name="Text 5">
            <a:extLst>
              <a:ext uri="{FF2B5EF4-FFF2-40B4-BE49-F238E27FC236}">
                <a16:creationId xmlns:a16="http://schemas.microsoft.com/office/drawing/2014/main" id="{E2379BDA-8FE3-1EB1-146D-A640630C480A}"/>
              </a:ext>
            </a:extLst>
          </p:cNvPr>
          <p:cNvSpPr/>
          <p:nvPr/>
        </p:nvSpPr>
        <p:spPr>
          <a:xfrm>
            <a:off x="841248" y="1688383"/>
            <a:ext cx="9174290" cy="46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88C89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Every unit below buys the same underlying behavioral feed and asks a different question of it.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642B54F-F6D0-FD71-14D0-1CF03CDB8014}"/>
              </a:ext>
            </a:extLst>
          </p:cNvPr>
          <p:cNvSpPr/>
          <p:nvPr/>
        </p:nvSpPr>
        <p:spPr>
          <a:xfrm>
            <a:off x="1032358" y="4937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050" b="0" i="0" u="none" strike="noStrike" kern="0" cap="none" spc="260" normalizeH="0" baseline="0" noProof="0" dirty="0">
                <a:ln>
                  <a:noFill/>
                </a:ln>
                <a:solidFill>
                  <a:srgbClr val="9AA09B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TEMPLATE 26 — EIGHT CALLOUTS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73B4F8F-C2ED-AE12-225F-50D943771059}"/>
              </a:ext>
            </a:extLst>
          </p:cNvPr>
          <p:cNvSpPr/>
          <p:nvPr/>
        </p:nvSpPr>
        <p:spPr>
          <a:xfrm>
            <a:off x="10893247" y="6409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00000000-1234-1234-1234-123412341234}" type="slidenum"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C878A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74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B1289BCF-4E6E-8CF6-AF23-523C735080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4295" y="510235"/>
            <a:ext cx="1216152" cy="15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7160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A20264-8E29-64D9-A9EF-00E637519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519A721-C56F-9955-0AA3-5FF0514BDD4B}"/>
              </a:ext>
            </a:extLst>
          </p:cNvPr>
          <p:cNvSpPr/>
          <p:nvPr/>
        </p:nvSpPr>
        <p:spPr>
          <a:xfrm>
            <a:off x="841248" y="6473952"/>
            <a:ext cx="10509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CROSSWALK / BEHAVIORAL INTELLIGENCE ENGINE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9E7C24F-A5C0-4EEF-0A73-02F9351081B4}"/>
              </a:ext>
            </a:extLst>
          </p:cNvPr>
          <p:cNvSpPr/>
          <p:nvPr/>
        </p:nvSpPr>
        <p:spPr>
          <a:xfrm>
            <a:off x="10893247" y="6409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fld id="{00000000-1234-1234-1234-123412341234}" type="slidenum"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75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8360DD92-6553-AD06-DA21-A9224DF249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2194560"/>
            <a:ext cx="3291840" cy="417041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3D7D5ED5-D84A-E990-242E-BF14B7FD67CF}"/>
              </a:ext>
            </a:extLst>
          </p:cNvPr>
          <p:cNvSpPr/>
          <p:nvPr/>
        </p:nvSpPr>
        <p:spPr>
          <a:xfrm>
            <a:off x="841248" y="32918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 Black" panose="02000503000000020004" pitchFamily="34" charset="0"/>
                <a:ea typeface="Crosswalk Inter Black" panose="02000503000000020004" pitchFamily="34" charset="0"/>
                <a:cs typeface="Crosswalk Inter Black" panose="02000503000000020004" pitchFamily="34" charset="0"/>
              </a:rPr>
              <a:t>Amazon knows what subscribers bought.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4B10CA0-E788-2762-0DA8-992A7D56F5F9}"/>
              </a:ext>
            </a:extLst>
          </p:cNvPr>
          <p:cNvSpPr/>
          <p:nvPr/>
        </p:nvSpPr>
        <p:spPr>
          <a:xfrm>
            <a:off x="841248" y="384048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Crosswalk knows what they're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about to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 Light" panose="02000503000000020004" pitchFamily="34" charset="0"/>
                <a:ea typeface="Crosswalk Inter Light" panose="02000503000000020004" pitchFamily="34" charset="0"/>
                <a:cs typeface="Crosswalk Inter Light" panose="02000503000000020004" pitchFamily="34" charset="0"/>
              </a:rPr>
              <a:t> buy.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2619B207-A84A-6CD9-60F7-1EFE1DB688F6}"/>
              </a:ext>
            </a:extLst>
          </p:cNvPr>
          <p:cNvSpPr/>
          <p:nvPr/>
        </p:nvSpPr>
        <p:spPr>
          <a:xfrm>
            <a:off x="841248" y="5029200"/>
            <a:ext cx="10509199" cy="10058"/>
          </a:xfrm>
          <a:prstGeom prst="rect">
            <a:avLst/>
          </a:prstGeom>
          <a:solidFill>
            <a:srgbClr val="8FA84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2F013D5-E872-3BBF-6CE4-A13C458B8DED}"/>
              </a:ext>
            </a:extLst>
          </p:cNvPr>
          <p:cNvSpPr/>
          <p:nvPr/>
        </p:nvSpPr>
        <p:spPr>
          <a:xfrm>
            <a:off x="841248" y="52852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i="0" u="none" strike="noStrike" kern="0" cap="none" spc="14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 ExtraBold" panose="02000503000000020004" pitchFamily="34" charset="0"/>
                <a:ea typeface="Crosswalk Inter ExtraBold" panose="02000503000000020004" pitchFamily="34" charset="0"/>
                <a:cs typeface="Crosswalk Inter ExtraBold" panose="02000503000000020004" pitchFamily="34" charset="0"/>
              </a:rPr>
              <a:t>LIZ HUSZARIK / CO-FOUNDER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B4C833BD-1A9A-0638-D87B-E9FB701A2839}"/>
              </a:ext>
            </a:extLst>
          </p:cNvPr>
          <p:cNvSpPr/>
          <p:nvPr/>
        </p:nvSpPr>
        <p:spPr>
          <a:xfrm>
            <a:off x="841248" y="55595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liz@crosswalknyc.com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7075958A-8ACC-EFA8-AF8D-46E1D036F4A9}"/>
              </a:ext>
            </a:extLst>
          </p:cNvPr>
          <p:cNvSpPr/>
          <p:nvPr/>
        </p:nvSpPr>
        <p:spPr>
          <a:xfrm>
            <a:off x="4407408" y="52852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800" i="0" u="none" strike="noStrike" kern="0" cap="none" spc="14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 ExtraBold" panose="02000503000000020004" pitchFamily="34" charset="0"/>
                <a:ea typeface="Crosswalk Inter ExtraBold" panose="02000503000000020004" pitchFamily="34" charset="0"/>
                <a:cs typeface="Crosswalk Inter ExtraBold" panose="02000503000000020004" pitchFamily="34" charset="0"/>
              </a:rPr>
              <a:t>SCOTT CARLIN / PRESIDENT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C3DCA6F2-4DC5-A8F7-B247-33C5C55540A1}"/>
              </a:ext>
            </a:extLst>
          </p:cNvPr>
          <p:cNvSpPr/>
          <p:nvPr/>
        </p:nvSpPr>
        <p:spPr>
          <a:xfrm>
            <a:off x="4407408" y="55595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1618"/>
                </a:solidFill>
                <a:effectLst/>
                <a:uLnTx/>
                <a:uFillTx/>
                <a:latin typeface="Crosswalk Inter" panose="02000503000000020004" pitchFamily="34" charset="0"/>
                <a:ea typeface="Crosswalk Inter" panose="02000503000000020004" pitchFamily="34" charset="0"/>
                <a:cs typeface="Crosswalk Inter" panose="02000503000000020004" pitchFamily="34" charset="0"/>
              </a:rPr>
              <a:t>scott@crosswalknyc.com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rosswalk Inter" panose="02000503000000020004" pitchFamily="34" charset="0"/>
              <a:ea typeface="Crosswalk Inter" panose="02000503000000020004" pitchFamily="34" charset="0"/>
              <a:cs typeface="Crosswalk Inter" panose="0200050300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264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rosswalk Inter" panose="02000503000000020004" pitchFamily="34" charset="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rosswalk Inter" panose="02000503000000020004" pitchFamily="34" charset="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rosswalk Inter" panose="02000503000000020004" pitchFamily="34" charset="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rosswalk Inter" panose="02000503000000020004" pitchFamily="34" charset="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15554</TotalTime>
  <Words>10948</Words>
  <Application>Microsoft Macintosh PowerPoint</Application>
  <PresentationFormat>Widescreen</PresentationFormat>
  <Paragraphs>1972</Paragraphs>
  <Slides>75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5" baseType="lpstr">
      <vt:lpstr>Geist Mono</vt:lpstr>
      <vt:lpstr>Arial</vt:lpstr>
      <vt:lpstr>Crosswalk Inter</vt:lpstr>
      <vt:lpstr>Crosswalk Inter SemiBold</vt:lpstr>
      <vt:lpstr>Crosswalk Inter Black</vt:lpstr>
      <vt:lpstr>Crosswalk Inter ExtraBold</vt:lpstr>
      <vt:lpstr>Crosswalk Inter Light</vt:lpstr>
      <vt:lpstr>Aptos</vt:lpstr>
      <vt:lpstr>Crosswalk Inter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Crosswalk Design System</dc:title>
  <dc:subject>PptxGenJS Presentation</dc:subject>
  <dc:creator>Crosswalk</dc:creator>
  <cp:lastModifiedBy>Keith Friedenberg</cp:lastModifiedBy>
  <cp:revision>39</cp:revision>
  <dcterms:created xsi:type="dcterms:W3CDTF">2026-08-03T20:04:45Z</dcterms:created>
  <dcterms:modified xsi:type="dcterms:W3CDTF">2026-09-24T19:38:00Z</dcterms:modified>
</cp:coreProperties>
</file>