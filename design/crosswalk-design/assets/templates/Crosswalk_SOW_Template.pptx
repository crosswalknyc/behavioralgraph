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embedTrueTypeFonts="1" saveSubsetFonts="0">
  <p:sldMasterIdLst>
    <p:sldMasterId id="2147483648" r:id="rId1"/>
  </p:sldMasterIdLst>
  <p:notesMasterIdLst>
    <p:notesMasterId r:id="rId7"/>
  </p:notesMasterIdLst>
  <p:sldIdLst>
    <p:sldId id="256" r:id="rId2"/>
    <p:sldId id="257" r:id="rId3"/>
    <p:sldId id="258" r:id="rId4"/>
    <p:sldId id="259" r:id="rId5"/>
    <p:sldId id="260" r:id="rId6"/>
  </p:sld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7A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152"/>
    <p:restoredTop sz="94610"/>
  </p:normalViewPr>
  <p:slideViewPr>
    <p:cSldViewPr snapToGrid="0" snapToObjects="1">
      <p:cViewPr>
        <p:scale>
          <a:sx n="72" d="100"/>
          <a:sy n="72" d="100"/>
        </p:scale>
        <p:origin x="1224" y="6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24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1</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rosswalk Inter" panose="02000503000000020004" pitchFamily="34" charset="0"/>
                <a:ea typeface="Crosswalk Inter" panose="02000503000000020004" pitchFamily="34" charset="0"/>
                <a:cs typeface="Crosswalk Inter" panose="02000503000000020004" pitchFamily="34" charset="0"/>
              </a:rPr>
              <a:t>PLATFORM AND TOOL SELECTION (2.1)
Empty box = not included. Filled green box = included.
To include a product: copy the filled green box parked to the right of the page (off-canvas, it never prints or exports) and paste it over the empty box on that row.
Or select an empty box and set Shape Fill to 5E7E12 with no outline.
Rows are sized so Fee and Notes can hold three or four typed lines.
To remove a product entirely, delete the row's box, text and the hairline above it, then close the gap.</a:t>
            </a: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2</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3</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4</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Crosswalk Inter" panose="02000503000000020004" pitchFamily="34" charset="0"/>
                <a:ea typeface="Crosswalk Inter" panose="02000503000000020004" pitchFamily="34" charset="0"/>
                <a:cs typeface="Crosswalk Inter" panose="02000503000000020004" pitchFamily="34" charset="0"/>
              </a:rPr>
              <a:t>5</a:t>
            </a:fld>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p:bodyStyle>
    <p:otherStyle>
      <a:defPPr>
        <a:defRPr lang="en-US">
          <a:latin typeface="Crosswalk Inter" panose="02000503000000020004" pitchFamily="34" charset="0"/>
          <a:ea typeface="Crosswalk Inter" panose="02000503000000020004" pitchFamily="34" charset="0"/>
          <a:cs typeface="Crosswalk Inter" panose="02000503000000020004" pitchFamily="34" charset="0"/>
        </a:defRPr>
      </a:defPPr>
      <a:lvl1pPr marL="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1pPr>
      <a:lvl2pPr marL="457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2pPr>
      <a:lvl3pPr marL="914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3pPr>
      <a:lvl4pPr marL="1371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4pPr>
      <a:lvl5pPr marL="18288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5pPr>
      <a:lvl6pPr marL="22860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6pPr>
      <a:lvl7pPr marL="27432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7pPr>
      <a:lvl8pPr marL="32004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8pPr>
      <a:lvl9pPr marL="3657600" algn="l" defTabSz="914400" rtl="0" eaLnBrk="1" latinLnBrk="0" hangingPunct="1">
        <a:defRPr sz="1800" kern="1200">
          <a:solidFill>
            <a:schemeClr val="tx1"/>
          </a:solidFill>
          <a:latin typeface="Crosswalk Inter" panose="02000503000000020004" pitchFamily="34" charset="0"/>
          <a:ea typeface="Crosswalk Inter" panose="02000503000000020004" pitchFamily="34" charset="0"/>
          <a:cs typeface="Crosswalk Inter" panose="02000503000000020004" pitchFamily="34" charset="0"/>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1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777240" y="794518"/>
            <a:ext cx="1737360" cy="220105"/>
          </a:xfrm>
          <a:prstGeom prst="rect">
            <a:avLst/>
          </a:prstGeom>
        </p:spPr>
      </p:pic>
      <p:sp>
        <p:nvSpPr>
          <p:cNvPr id="3" name="Shape 0"/>
          <p:cNvSpPr/>
          <p:nvPr/>
        </p:nvSpPr>
        <p:spPr>
          <a:xfrm>
            <a:off x="777240" y="1399032"/>
            <a:ext cx="6217920" cy="7315"/>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 name="Shape 1"/>
          <p:cNvSpPr/>
          <p:nvPr/>
        </p:nvSpPr>
        <p:spPr>
          <a:xfrm>
            <a:off x="777240" y="3736045"/>
            <a:ext cx="64008" cy="64008"/>
          </a:xfrm>
          <a:prstGeom prst="ellipse">
            <a:avLst/>
          </a:prstGeom>
          <a:solidFill>
            <a:srgbClr val="C7F23E"/>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 name="Text 2"/>
          <p:cNvSpPr txBox="1"/>
          <p:nvPr/>
        </p:nvSpPr>
        <p:spPr>
          <a:xfrm>
            <a:off x="960120" y="3667465"/>
            <a:ext cx="5120640" cy="201168"/>
          </a:xfrm>
          <a:prstGeom prst="rect">
            <a:avLst/>
          </a:prstGeom>
          <a:noFill/>
          <a:ln/>
        </p:spPr>
        <p:txBody>
          <a:bodyPr wrap="square" lIns="0" tIns="0" rIns="0" bIns="0" rtlCol="0" anchor="ctr"/>
          <a:lstStyle/>
          <a:p>
            <a:pPr marL="0" indent="0">
              <a:buNone/>
            </a:pPr>
            <a:r>
              <a:rPr lang="en-US" sz="850" kern="0" spc="180" dirty="0">
                <a:solidFill>
                  <a:srgbClr val="C9C6BA"/>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txBox="1"/>
          <p:nvPr/>
        </p:nvSpPr>
        <p:spPr>
          <a:xfrm>
            <a:off x="777240" y="4005793"/>
            <a:ext cx="6126480" cy="1537754"/>
          </a:xfrm>
          <a:prstGeom prst="rect">
            <a:avLst/>
          </a:prstGeom>
          <a:noFill/>
          <a:ln/>
        </p:spPr>
        <p:txBody>
          <a:bodyPr wrap="square" lIns="0" tIns="0" rIns="0" bIns="0" rtlCol="0" anchor="t"/>
          <a:lstStyle/>
          <a:p>
            <a:pPr marL="0" indent="0">
              <a:lnSpc>
                <a:spcPct val="116000"/>
              </a:lnSpc>
              <a:buNone/>
            </a:pPr>
            <a:r>
              <a:rPr lang="en-US" sz="4000" kern="0" spc="-3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[Engagement name]</a:t>
            </a:r>
            <a:endParaRPr lang="en-US" sz="4000" dirty="0">
              <a:latin typeface="Crosswalk Inter" panose="02000503000000020004" pitchFamily="34" charset="0"/>
              <a:ea typeface="Crosswalk Inter" panose="02000503000000020004" pitchFamily="34" charset="0"/>
              <a:cs typeface="Crosswalk Inter" panose="02000503000000020004" pitchFamily="34" charset="0"/>
            </a:endParaRPr>
          </a:p>
          <a:p>
            <a:pPr marL="0" indent="0">
              <a:lnSpc>
                <a:spcPct val="116000"/>
              </a:lnSpc>
              <a:buNone/>
            </a:pPr>
            <a:r>
              <a:rPr lang="en-US" sz="4000" b="1" kern="0" spc="-3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Statement of Work.</a:t>
            </a:r>
            <a:endParaRPr lang="en-US" sz="4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7" name="Text 4"/>
          <p:cNvSpPr txBox="1"/>
          <p:nvPr/>
        </p:nvSpPr>
        <p:spPr>
          <a:xfrm>
            <a:off x="777240" y="5619442"/>
            <a:ext cx="5760720" cy="365760"/>
          </a:xfrm>
          <a:prstGeom prst="rect">
            <a:avLst/>
          </a:prstGeom>
          <a:noFill/>
          <a:ln/>
        </p:spPr>
        <p:txBody>
          <a:bodyPr wrap="square" lIns="0" tIns="0" rIns="0" bIns="0" rtlCol="0" anchor="t"/>
          <a:lstStyle/>
          <a:p>
            <a:pPr marL="0" indent="0">
              <a:buNone/>
            </a:pPr>
            <a:r>
              <a:rPr lang="en-US" sz="1400" dirty="0">
                <a:solidFill>
                  <a:srgbClr val="C9C6BA"/>
                </a:solidFill>
                <a:latin typeface="Crosswalk Inter" panose="02000503000000020004" pitchFamily="34" charset="0"/>
                <a:ea typeface="Crosswalk Inter" panose="02000503000000020004" pitchFamily="34" charset="0"/>
                <a:cs typeface="Crosswalk Inter" panose="02000503000000020004" pitchFamily="34" charset="0"/>
              </a:rPr>
              <a:t>Prepared for [CLIENT NAME]  ·  [TEAM OR DEPARTMENT]</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Text 5"/>
          <p:cNvSpPr txBox="1"/>
          <p:nvPr/>
        </p:nvSpPr>
        <p:spPr>
          <a:xfrm>
            <a:off x="777240" y="6364224"/>
            <a:ext cx="5394960" cy="777240"/>
          </a:xfrm>
          <a:prstGeom prst="rect">
            <a:avLst/>
          </a:prstGeom>
          <a:noFill/>
          <a:ln/>
        </p:spPr>
        <p:txBody>
          <a:bodyPr wrap="square" lIns="0" tIns="0" rIns="0" bIns="0" rtlCol="0" anchor="t"/>
          <a:lstStyle/>
          <a:p>
            <a:pPr marL="0" indent="0">
              <a:lnSpc>
                <a:spcPct val="135000"/>
              </a:lnSpc>
              <a:buNone/>
            </a:pPr>
            <a:r>
              <a:rPr lang="en-US" sz="1050" dirty="0">
                <a:solidFill>
                  <a:srgbClr val="7C878A"/>
                </a:solidFill>
                <a:latin typeface="Crosswalk Inter" panose="02000503000000020004" pitchFamily="34" charset="0"/>
                <a:ea typeface="Crosswalk Inter" panose="02000503000000020004" pitchFamily="34" charset="0"/>
                <a:cs typeface="Crosswalk Inter" panose="02000503000000020004" pitchFamily="34" charset="0"/>
              </a:rPr>
              <a:t>This document sets the scope, schedule, platform access and commercial terms for the engagement described below. It is governed by the Master Services Agreement referenced in section 7.</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Shape 6"/>
          <p:cNvSpPr/>
          <p:nvPr/>
        </p:nvSpPr>
        <p:spPr>
          <a:xfrm>
            <a:off x="777240" y="8028432"/>
            <a:ext cx="6217920" cy="7315"/>
          </a:xfrm>
          <a:prstGeom prst="rect">
            <a:avLst/>
          </a:prstGeom>
          <a:solidFill>
            <a:srgbClr val="27393D"/>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0" name="Text 7"/>
          <p:cNvSpPr txBox="1"/>
          <p:nvPr/>
        </p:nvSpPr>
        <p:spPr>
          <a:xfrm>
            <a:off x="777240" y="8202168"/>
            <a:ext cx="1536192" cy="310896"/>
          </a:xfrm>
          <a:prstGeom prst="rect">
            <a:avLst/>
          </a:prstGeom>
          <a:noFill/>
          <a:ln/>
        </p:spPr>
        <p:txBody>
          <a:bodyPr wrap="square" lIns="0" tIns="0" rIns="0" bIns="0" rtlCol="0" anchor="ctr"/>
          <a:lstStyle/>
          <a:p>
            <a:pPr marL="0" indent="0">
              <a:buNone/>
            </a:pPr>
            <a:r>
              <a:rPr lang="en-US" sz="140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[CLIENT NAME]</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txBox="1"/>
          <p:nvPr/>
        </p:nvSpPr>
        <p:spPr>
          <a:xfrm>
            <a:off x="777240" y="8577072"/>
            <a:ext cx="1536192" cy="201168"/>
          </a:xfrm>
          <a:prstGeom prst="rect">
            <a:avLst/>
          </a:prstGeom>
          <a:noFill/>
          <a:ln/>
        </p:spPr>
        <p:txBody>
          <a:bodyPr wrap="square" lIns="0" tIns="0" rIns="0" bIns="0" rtlCol="0" anchor="ctr"/>
          <a:lstStyle/>
          <a:p>
            <a:pPr marL="0" indent="0">
              <a:buNone/>
            </a:pPr>
            <a:r>
              <a:rPr lang="en-US" sz="750" kern="0" spc="140" dirty="0">
                <a:solidFill>
                  <a:srgbClr val="7C878A"/>
                </a:solidFill>
                <a:latin typeface="Crosswalk Inter" panose="02000503000000020004" pitchFamily="34" charset="0"/>
                <a:ea typeface="Crosswalk Inter" panose="02000503000000020004" pitchFamily="34" charset="0"/>
                <a:cs typeface="Crosswalk Inter" panose="02000503000000020004" pitchFamily="34" charset="0"/>
              </a:rPr>
              <a:t>CLIENT</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txBox="1"/>
          <p:nvPr/>
        </p:nvSpPr>
        <p:spPr>
          <a:xfrm>
            <a:off x="2350008" y="8202168"/>
            <a:ext cx="1536192" cy="310896"/>
          </a:xfrm>
          <a:prstGeom prst="rect">
            <a:avLst/>
          </a:prstGeom>
          <a:noFill/>
          <a:ln/>
        </p:spPr>
        <p:txBody>
          <a:bodyPr wrap="square" lIns="0" tIns="0" rIns="0" bIns="0" rtlCol="0" anchor="ctr"/>
          <a:lstStyle/>
          <a:p>
            <a:pPr marL="0" indent="0">
              <a:buNone/>
            </a:pPr>
            <a:r>
              <a:rPr lang="en-US" sz="140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[POC / PILOT]</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txBox="1"/>
          <p:nvPr/>
        </p:nvSpPr>
        <p:spPr>
          <a:xfrm>
            <a:off x="2350008" y="8577072"/>
            <a:ext cx="1536192" cy="201168"/>
          </a:xfrm>
          <a:prstGeom prst="rect">
            <a:avLst/>
          </a:prstGeom>
          <a:noFill/>
          <a:ln/>
        </p:spPr>
        <p:txBody>
          <a:bodyPr wrap="square" lIns="0" tIns="0" rIns="0" bIns="0" rtlCol="0" anchor="ctr"/>
          <a:lstStyle/>
          <a:p>
            <a:pPr marL="0" indent="0">
              <a:buNone/>
            </a:pPr>
            <a:r>
              <a:rPr lang="en-US" sz="750" kern="0" spc="140" dirty="0">
                <a:solidFill>
                  <a:srgbClr val="7C878A"/>
                </a:solidFill>
                <a:latin typeface="Crosswalk Inter" panose="02000503000000020004" pitchFamily="34" charset="0"/>
                <a:ea typeface="Crosswalk Inter" panose="02000503000000020004" pitchFamily="34" charset="0"/>
                <a:cs typeface="Crosswalk Inter" panose="02000503000000020004" pitchFamily="34" charset="0"/>
              </a:rPr>
              <a:t>ENGAGEMENT TYPE</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Text 11"/>
          <p:cNvSpPr txBox="1"/>
          <p:nvPr/>
        </p:nvSpPr>
        <p:spPr>
          <a:xfrm>
            <a:off x="3922776" y="8202168"/>
            <a:ext cx="1536192" cy="310896"/>
          </a:xfrm>
          <a:prstGeom prst="rect">
            <a:avLst/>
          </a:prstGeom>
          <a:noFill/>
          <a:ln/>
        </p:spPr>
        <p:txBody>
          <a:bodyPr wrap="square" lIns="0" tIns="0" rIns="0" bIns="0" rtlCol="0" anchor="ctr"/>
          <a:lstStyle/>
          <a:p>
            <a:pPr marL="0" indent="0">
              <a:buNone/>
            </a:pPr>
            <a:r>
              <a:rPr lang="en-US" sz="140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[TERM]</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txBox="1"/>
          <p:nvPr/>
        </p:nvSpPr>
        <p:spPr>
          <a:xfrm>
            <a:off x="3922776" y="8577072"/>
            <a:ext cx="1536192" cy="201168"/>
          </a:xfrm>
          <a:prstGeom prst="rect">
            <a:avLst/>
          </a:prstGeom>
          <a:noFill/>
          <a:ln/>
        </p:spPr>
        <p:txBody>
          <a:bodyPr wrap="square" lIns="0" tIns="0" rIns="0" bIns="0" rtlCol="0" anchor="ctr"/>
          <a:lstStyle/>
          <a:p>
            <a:pPr marL="0" indent="0">
              <a:buNone/>
            </a:pPr>
            <a:r>
              <a:rPr lang="en-US" sz="750" kern="0" spc="140" dirty="0">
                <a:solidFill>
                  <a:srgbClr val="7C878A"/>
                </a:solidFill>
                <a:latin typeface="Crosswalk Inter" panose="02000503000000020004" pitchFamily="34" charset="0"/>
                <a:ea typeface="Crosswalk Inter" panose="02000503000000020004" pitchFamily="34" charset="0"/>
                <a:cs typeface="Crosswalk Inter" panose="02000503000000020004" pitchFamily="34" charset="0"/>
              </a:rPr>
              <a:t>TERM</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Text 13"/>
          <p:cNvSpPr txBox="1"/>
          <p:nvPr/>
        </p:nvSpPr>
        <p:spPr>
          <a:xfrm>
            <a:off x="5495544" y="8202168"/>
            <a:ext cx="1536192" cy="310896"/>
          </a:xfrm>
          <a:prstGeom prst="rect">
            <a:avLst/>
          </a:prstGeom>
          <a:noFill/>
          <a:ln/>
        </p:spPr>
        <p:txBody>
          <a:bodyPr wrap="square" lIns="0" tIns="0" rIns="0" bIns="0" rtlCol="0" anchor="ctr"/>
          <a:lstStyle/>
          <a:p>
            <a:pPr marL="0" indent="0">
              <a:buNone/>
            </a:pPr>
            <a:r>
              <a:rPr lang="en-US" sz="1400" dirty="0">
                <a:solidFill>
                  <a:srgbClr val="E9E8E1"/>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14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txBox="1"/>
          <p:nvPr/>
        </p:nvSpPr>
        <p:spPr>
          <a:xfrm>
            <a:off x="5495544" y="8577072"/>
            <a:ext cx="1536192" cy="201168"/>
          </a:xfrm>
          <a:prstGeom prst="rect">
            <a:avLst/>
          </a:prstGeom>
          <a:noFill/>
          <a:ln/>
        </p:spPr>
        <p:txBody>
          <a:bodyPr wrap="square" lIns="0" tIns="0" rIns="0" bIns="0" rtlCol="0" anchor="ctr"/>
          <a:lstStyle/>
          <a:p>
            <a:pPr marL="0" indent="0">
              <a:buNone/>
            </a:pPr>
            <a:r>
              <a:rPr lang="en-US" sz="750" kern="0" spc="140" dirty="0">
                <a:solidFill>
                  <a:srgbClr val="7C878A"/>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txBox="1"/>
          <p:nvPr/>
        </p:nvSpPr>
        <p:spPr>
          <a:xfrm>
            <a:off x="777240" y="9400032"/>
            <a:ext cx="2743200" cy="201168"/>
          </a:xfrm>
          <a:prstGeom prst="rect">
            <a:avLst/>
          </a:prstGeom>
          <a:noFill/>
          <a:ln/>
        </p:spPr>
        <p:txBody>
          <a:bodyPr wrap="square" lIns="0" tIns="0" rIns="0" bIns="0" rtlCol="0" anchor="ctr"/>
          <a:lstStyle/>
          <a:p>
            <a:pPr marL="0" indent="0">
              <a:buNone/>
            </a:pPr>
            <a:r>
              <a:rPr lang="en-US" sz="750" kern="0" spc="140" dirty="0">
                <a:solidFill>
                  <a:srgbClr val="7C878A"/>
                </a:solidFill>
                <a:latin typeface="Crosswalk Inter" panose="02000503000000020004" pitchFamily="34" charset="0"/>
                <a:ea typeface="Crosswalk Inter" panose="02000503000000020004" pitchFamily="34" charset="0"/>
                <a:cs typeface="Crosswalk Inter" panose="02000503000000020004" pitchFamily="34" charset="0"/>
              </a:rPr>
              <a:t>CONFIDENTIAL</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txBox="1"/>
          <p:nvPr/>
        </p:nvSpPr>
        <p:spPr>
          <a:xfrm>
            <a:off x="4251960" y="9400032"/>
            <a:ext cx="2743200" cy="201168"/>
          </a:xfrm>
          <a:prstGeom prst="rect">
            <a:avLst/>
          </a:prstGeom>
          <a:noFill/>
          <a:ln/>
        </p:spPr>
        <p:txBody>
          <a:bodyPr wrap="square" lIns="0" tIns="0" rIns="0" bIns="0" rtlCol="0" anchor="ctr"/>
          <a:lstStyle/>
          <a:p>
            <a:pPr marL="0" indent="0" algn="r">
              <a:buNone/>
            </a:pPr>
            <a:r>
              <a:rPr lang="en-US" sz="750" kern="0" spc="140" dirty="0">
                <a:solidFill>
                  <a:srgbClr val="7C878A"/>
                </a:solidFill>
                <a:latin typeface="Crosswalk Inter" panose="02000503000000020004" pitchFamily="34" charset="0"/>
                <a:ea typeface="Crosswalk Inter" panose="02000503000000020004" pitchFamily="34" charset="0"/>
                <a:cs typeface="Crosswalk Inter" panose="02000503000000020004" pitchFamily="34" charset="0"/>
              </a:rPr>
              <a:t>STATEMENT OF WORK  ·  [MONTH YEAR]</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E8E2"/>
        </a:solidFill>
        <a:effectLst/>
      </p:bgPr>
    </p:bg>
    <p:spTree>
      <p:nvGrpSpPr>
        <p:cNvPr id="1" name=""/>
        <p:cNvGrpSpPr/>
        <p:nvPr/>
      </p:nvGrpSpPr>
      <p:grpSpPr>
        <a:xfrm>
          <a:off x="0" y="0"/>
          <a:ext cx="0" cy="0"/>
          <a:chOff x="0" y="0"/>
          <a:chExt cx="0" cy="0"/>
        </a:xfrm>
      </p:grpSpPr>
      <p:sp>
        <p:nvSpPr>
          <p:cNvPr id="2" name="Text 0"/>
          <p:cNvSpPr txBox="1"/>
          <p:nvPr/>
        </p:nvSpPr>
        <p:spPr>
          <a:xfrm>
            <a:off x="777240" y="530352"/>
            <a:ext cx="4206240" cy="201168"/>
          </a:xfrm>
          <a:prstGeom prst="rect">
            <a:avLst/>
          </a:prstGeom>
          <a:noFill/>
          <a:ln/>
        </p:spPr>
        <p:txBody>
          <a:bodyPr wrap="square" lIns="0" tIns="0" rIns="0" bIns="0" rtlCol="0" anchor="ctr"/>
          <a:lstStyle/>
          <a:p>
            <a:pPr marL="0" indent="0">
              <a:buNone/>
            </a:pPr>
            <a:r>
              <a:rPr lang="en-US" sz="750" kern="0" spc="1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SCOPE OF WORK</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3" name="Image 0" descr="preencoded.png"/>
          <p:cNvPicPr>
            <a:picLocks noChangeAspect="1"/>
          </p:cNvPicPr>
          <p:nvPr/>
        </p:nvPicPr>
        <p:blipFill>
          <a:blip r:embed="rId4"/>
          <a:stretch>
            <a:fillRect/>
          </a:stretch>
        </p:blipFill>
        <p:spPr>
          <a:xfrm>
            <a:off x="6062472" y="539623"/>
            <a:ext cx="932688" cy="118161"/>
          </a:xfrm>
          <a:prstGeom prst="rect">
            <a:avLst/>
          </a:prstGeom>
        </p:spPr>
      </p:pic>
      <p:sp>
        <p:nvSpPr>
          <p:cNvPr id="4" name="Shape 1"/>
          <p:cNvSpPr/>
          <p:nvPr/>
        </p:nvSpPr>
        <p:spPr>
          <a:xfrm>
            <a:off x="777240" y="868680"/>
            <a:ext cx="6217920" cy="7315"/>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 name="Text 2"/>
          <p:cNvSpPr txBox="1"/>
          <p:nvPr/>
        </p:nvSpPr>
        <p:spPr>
          <a:xfrm>
            <a:off x="777240" y="9381744"/>
            <a:ext cx="4114800" cy="182880"/>
          </a:xfrm>
          <a:prstGeom prst="rect">
            <a:avLst/>
          </a:prstGeom>
          <a:noFill/>
          <a:ln/>
        </p:spPr>
        <p:txBody>
          <a:bodyPr wrap="square" lIns="0" tIns="0" rIns="0" bIns="0" rtlCol="0" anchor="ctr"/>
          <a:lstStyle/>
          <a:p>
            <a:pPr marL="0" indent="0">
              <a:buNone/>
            </a:pPr>
            <a:r>
              <a:rPr lang="en-US" sz="750" kern="0" spc="14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txBox="1"/>
          <p:nvPr/>
        </p:nvSpPr>
        <p:spPr>
          <a:xfrm>
            <a:off x="6080760" y="9381744"/>
            <a:ext cx="914400" cy="182880"/>
          </a:xfrm>
          <a:prstGeom prst="rect">
            <a:avLst/>
          </a:prstGeom>
          <a:noFill/>
          <a:ln/>
        </p:spPr>
        <p:txBody>
          <a:bodyPr wrap="square" lIns="0" tIns="0" rIns="0" bIns="0" rtlCol="0" anchor="ctr"/>
          <a:lstStyle/>
          <a:p>
            <a:pPr marL="0" indent="0" algn="r">
              <a:buNone/>
            </a:pPr>
            <a:fld id="{29956AE3-F4C8-4382-BFB5-11C366C98349}" type="slidenum">
              <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2</a:t>
            </a:fld>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7" name="Shape 4"/>
          <p:cNvSpPr/>
          <p:nvPr/>
        </p:nvSpPr>
        <p:spPr>
          <a:xfrm>
            <a:off x="777240" y="116586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Text 5"/>
          <p:cNvSpPr txBox="1"/>
          <p:nvPr/>
        </p:nvSpPr>
        <p:spPr>
          <a:xfrm>
            <a:off x="960120" y="1097280"/>
            <a:ext cx="5120640" cy="201168"/>
          </a:xfrm>
          <a:prstGeom prst="rect">
            <a:avLst/>
          </a:prstGeom>
          <a:noFill/>
          <a:ln/>
        </p:spPr>
        <p:txBody>
          <a:bodyPr wrap="square" lIns="0" tIns="0" rIns="0" bIns="0" rtlCol="0" anchor="ctr"/>
          <a:lstStyle/>
          <a:p>
            <a:pPr marL="0" indent="0">
              <a:buNone/>
            </a:pPr>
            <a:r>
              <a:rPr lang="en-US" sz="850" kern="0" spc="18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SECTIONS 1 AND 2</a:t>
            </a:r>
            <a:endParaRPr lang="en-US" sz="8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txBox="1"/>
          <p:nvPr/>
        </p:nvSpPr>
        <p:spPr>
          <a:xfrm>
            <a:off x="777240" y="1481328"/>
            <a:ext cx="4795457" cy="868680"/>
          </a:xfrm>
          <a:prstGeom prst="rect">
            <a:avLst/>
          </a:prstGeom>
          <a:noFill/>
          <a:ln/>
        </p:spPr>
        <p:txBody>
          <a:bodyPr wrap="square" lIns="0" tIns="0" rIns="0" bIns="0" rtlCol="0" anchor="t"/>
          <a:lstStyle/>
          <a:p>
            <a:pPr marL="0" indent="0">
              <a:lnSpc>
                <a:spcPct val="114000"/>
              </a:lnSpc>
              <a:buNone/>
            </a:pP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What Crosswalk delivers,</a:t>
            </a:r>
            <a:r>
              <a:rPr lang="en-US" sz="2300"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 </a:t>
            </a:r>
            <a:r>
              <a:rPr lang="en-US" sz="2300" kern="0" spc="-30" dirty="0">
                <a:solidFill>
                  <a:srgbClr val="0C1618"/>
                </a:solidFill>
                <a:latin typeface="Crosswalk Inter Light" panose="02000503000000020004" pitchFamily="34" charset="0"/>
                <a:ea typeface="Crosswalk Inter Light" panose="02000503000000020004" pitchFamily="34" charset="0"/>
                <a:cs typeface="Crosswalk Inter Light" panose="02000503000000020004" pitchFamily="34" charset="0"/>
              </a:rPr>
              <a:t>and included platform tools.</a:t>
            </a:r>
            <a:endParaRPr lang="en-US" sz="2300" dirty="0">
              <a:latin typeface="Crosswalk Inter Light" panose="02000503000000020004" pitchFamily="34" charset="0"/>
              <a:ea typeface="Crosswalk Inter Light" panose="02000503000000020004" pitchFamily="34" charset="0"/>
              <a:cs typeface="Crosswalk Inter Light" panose="02000503000000020004" pitchFamily="34" charset="0"/>
            </a:endParaRPr>
          </a:p>
        </p:txBody>
      </p:sp>
      <p:sp>
        <p:nvSpPr>
          <p:cNvPr id="10" name="Text 7"/>
          <p:cNvSpPr txBox="1"/>
          <p:nvPr/>
        </p:nvSpPr>
        <p:spPr>
          <a:xfrm>
            <a:off x="777240" y="2450592"/>
            <a:ext cx="6217920" cy="182880"/>
          </a:xfrm>
          <a:prstGeom prst="rect">
            <a:avLst/>
          </a:prstGeom>
          <a:noFill/>
          <a:ln/>
        </p:spPr>
        <p:txBody>
          <a:bodyPr wrap="square" lIns="0" tIns="0" rIns="0" bIns="0" rtlCol="0" anchor="ctr"/>
          <a:lstStyle/>
          <a:p>
            <a:pPr marL="0" indent="0">
              <a:buNone/>
            </a:pPr>
            <a:r>
              <a:rPr lang="en-US" sz="850"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1.0   </a:t>
            </a:r>
            <a:r>
              <a:rPr lang="en-US" sz="850"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OBJECTIVE</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txBox="1"/>
          <p:nvPr/>
        </p:nvSpPr>
        <p:spPr>
          <a:xfrm>
            <a:off x="777240" y="2670048"/>
            <a:ext cx="6217920" cy="777240"/>
          </a:xfrm>
          <a:prstGeom prst="rect">
            <a:avLst/>
          </a:prstGeom>
          <a:noFill/>
          <a:ln/>
        </p:spPr>
        <p:txBody>
          <a:bodyPr wrap="square" lIns="0" tIns="0" rIns="0" bIns="0" rtlCol="0" anchor="t"/>
          <a:lstStyle/>
          <a:p>
            <a:pPr marL="0" indent="0">
              <a:lnSpc>
                <a:spcPct val="132000"/>
              </a:lnSpc>
              <a:buNone/>
            </a:pPr>
            <a:r>
              <a:rPr lang="en-US" sz="11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Crosswalk will provide [CLIENT NAME] with the products selected in 2.1, together with the custom analysis, reporting and advisory support defined in 2.2. Scope, schedule and fees for this engagement are set out in this document.</a:t>
            </a:r>
            <a:endParaRPr lang="en-US" sz="11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txBox="1"/>
          <p:nvPr/>
        </p:nvSpPr>
        <p:spPr>
          <a:xfrm>
            <a:off x="777240" y="3621024"/>
            <a:ext cx="6217920" cy="182880"/>
          </a:xfrm>
          <a:prstGeom prst="rect">
            <a:avLst/>
          </a:prstGeom>
          <a:noFill/>
          <a:ln/>
        </p:spPr>
        <p:txBody>
          <a:bodyPr wrap="square" lIns="0" tIns="0" rIns="0" bIns="0" rtlCol="0" anchor="ctr"/>
          <a:lstStyle/>
          <a:p>
            <a:pPr marL="0" indent="0">
              <a:buNone/>
            </a:pPr>
            <a:r>
              <a:rPr lang="en-US" sz="850"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2.1   </a:t>
            </a:r>
            <a:r>
              <a:rPr lang="en-US" sz="850"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PLATFORM AND TOOL ACCESS</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txBox="1"/>
          <p:nvPr/>
        </p:nvSpPr>
        <p:spPr>
          <a:xfrm>
            <a:off x="777240" y="3840480"/>
            <a:ext cx="6217920" cy="310896"/>
          </a:xfrm>
          <a:prstGeom prst="rect">
            <a:avLst/>
          </a:prstGeom>
          <a:noFill/>
          <a:ln/>
        </p:spPr>
        <p:txBody>
          <a:bodyPr wrap="square" lIns="0" tIns="0" rIns="0" bIns="0" rtlCol="0" anchor="t"/>
          <a:lstStyle/>
          <a:p>
            <a:pPr marL="0" indent="0">
              <a:lnSpc>
                <a:spcPct val="120000"/>
              </a:lnSpc>
              <a:buNone/>
            </a:pPr>
            <a:r>
              <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Products included in this engagement are marked. Fees and access terms are at right.</a:t>
            </a:r>
            <a:endPar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Shape 11"/>
          <p:cNvSpPr/>
          <p:nvPr/>
        </p:nvSpPr>
        <p:spPr>
          <a:xfrm>
            <a:off x="777240" y="4187952"/>
            <a:ext cx="6217920" cy="4919472"/>
          </a:xfrm>
          <a:prstGeom prst="roundRect">
            <a:avLst>
              <a:gd name="adj" fmla="val 1859"/>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txBox="1"/>
          <p:nvPr/>
        </p:nvSpPr>
        <p:spPr>
          <a:xfrm>
            <a:off x="1170432" y="4297680"/>
            <a:ext cx="1298448"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PRODUCT</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Text 13"/>
          <p:cNvSpPr txBox="1"/>
          <p:nvPr/>
        </p:nvSpPr>
        <p:spPr>
          <a:xfrm>
            <a:off x="2432539" y="4297680"/>
            <a:ext cx="2212848"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WHAT IT COVERS</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txBox="1"/>
          <p:nvPr/>
        </p:nvSpPr>
        <p:spPr>
          <a:xfrm>
            <a:off x="4691107" y="4297680"/>
            <a:ext cx="777240"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txBox="1"/>
          <p:nvPr/>
        </p:nvSpPr>
        <p:spPr>
          <a:xfrm>
            <a:off x="5542671" y="4297680"/>
            <a:ext cx="1234440"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NOTES</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Shape 16"/>
          <p:cNvSpPr/>
          <p:nvPr/>
        </p:nvSpPr>
        <p:spPr>
          <a:xfrm>
            <a:off x="960120" y="4498848"/>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Shape 17"/>
          <p:cNvSpPr/>
          <p:nvPr/>
        </p:nvSpPr>
        <p:spPr>
          <a:xfrm>
            <a:off x="960120" y="4689266"/>
            <a:ext cx="137160" cy="137160"/>
          </a:xfrm>
          <a:prstGeom prst="roundRect">
            <a:avLst>
              <a:gd name="adj" fmla="val 23333"/>
            </a:avLst>
          </a:prstGeom>
          <a:solidFill>
            <a:srgbClr val="E1E0D7"/>
          </a:solidFill>
          <a:ln w="12700">
            <a:solidFill>
              <a:srgbClr val="888C89"/>
            </a:solidFill>
            <a:prstDash val="solid"/>
          </a:ln>
        </p:spPr>
        <p:txBody>
          <a:bodyPr anchor="t"/>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txBox="1"/>
          <p:nvPr/>
        </p:nvSpPr>
        <p:spPr>
          <a:xfrm>
            <a:off x="1170432" y="4680081"/>
            <a:ext cx="1298448" cy="570405"/>
          </a:xfrm>
          <a:prstGeom prst="rect">
            <a:avLst/>
          </a:prstGeom>
          <a:noFill/>
          <a:ln/>
        </p:spPr>
        <p:txBody>
          <a:bodyPr wrap="square" lIns="0" tIns="0" rIns="0" bIns="0" rtlCol="0" anchor="t"/>
          <a:lstStyle/>
          <a:p>
            <a:pPr marL="0" indent="0">
              <a:buNone/>
            </a:pPr>
            <a:r>
              <a:rPr lang="en-US" sz="105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Profile IQ</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Text 19"/>
          <p:cNvSpPr txBox="1"/>
          <p:nvPr/>
        </p:nvSpPr>
        <p:spPr>
          <a:xfrm>
            <a:off x="2432539" y="4680081"/>
            <a:ext cx="1965960" cy="570405"/>
          </a:xfrm>
          <a:prstGeom prst="rect">
            <a:avLst/>
          </a:prstGeom>
          <a:noFill/>
          <a:ln/>
        </p:spPr>
        <p:txBody>
          <a:bodyPr wrap="square" lIns="0" tIns="0" rIns="0" bIns="0" rtlCol="0" anchor="t"/>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Behavioral and demographic audience profiles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txBox="1"/>
          <p:nvPr/>
        </p:nvSpPr>
        <p:spPr>
          <a:xfrm>
            <a:off x="4691107" y="4680081"/>
            <a:ext cx="777240" cy="570405"/>
          </a:xfrm>
          <a:prstGeom prst="rect">
            <a:avLst/>
          </a:prstGeom>
          <a:noFill/>
          <a:ln/>
        </p:spPr>
        <p:txBody>
          <a:bodyPr wrap="square" lIns="0" tIns="0" rIns="0" bIns="0" rtlCol="0" anchor="t"/>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txBox="1"/>
          <p:nvPr/>
        </p:nvSpPr>
        <p:spPr>
          <a:xfrm>
            <a:off x="5542671" y="4680081"/>
            <a:ext cx="1234440" cy="570405"/>
          </a:xfrm>
          <a:prstGeom prst="rect">
            <a:avLst/>
          </a:prstGeom>
          <a:noFill/>
          <a:ln/>
        </p:spPr>
        <p:txBody>
          <a:bodyPr wrap="square" lIns="0" tIns="0" rIns="0" bIns="0" rtlCol="0" anchor="t"/>
          <a:lstStyle/>
          <a:p>
            <a:pPr marL="0" indent="0">
              <a:lnSpc>
                <a:spcPct val="115000"/>
              </a:lnSpc>
              <a:buNone/>
            </a:pPr>
            <a:r>
              <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[ACCESS TERM]</a:t>
            </a:r>
            <a:endPar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Shape 22"/>
          <p:cNvSpPr/>
          <p:nvPr/>
        </p:nvSpPr>
        <p:spPr>
          <a:xfrm>
            <a:off x="960120" y="5266944"/>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Shape 23"/>
          <p:cNvSpPr/>
          <p:nvPr/>
        </p:nvSpPr>
        <p:spPr>
          <a:xfrm>
            <a:off x="960120" y="5457362"/>
            <a:ext cx="137160" cy="137160"/>
          </a:xfrm>
          <a:prstGeom prst="roundRect">
            <a:avLst>
              <a:gd name="adj" fmla="val 23333"/>
            </a:avLst>
          </a:prstGeom>
          <a:solidFill>
            <a:srgbClr val="E1E0D7"/>
          </a:solidFill>
          <a:ln w="12700">
            <a:solidFill>
              <a:srgbClr val="888C89"/>
            </a:solidFill>
            <a:prstDash val="solid"/>
          </a:ln>
        </p:spPr>
        <p:txBody>
          <a:bodyPr anchor="t"/>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txBox="1"/>
          <p:nvPr/>
        </p:nvSpPr>
        <p:spPr>
          <a:xfrm>
            <a:off x="1170432" y="5448177"/>
            <a:ext cx="1298448" cy="570405"/>
          </a:xfrm>
          <a:prstGeom prst="rect">
            <a:avLst/>
          </a:prstGeom>
          <a:noFill/>
          <a:ln/>
        </p:spPr>
        <p:txBody>
          <a:bodyPr wrap="square" lIns="0" tIns="0" rIns="0" bIns="0" rtlCol="0" anchor="t"/>
          <a:lstStyle/>
          <a:p>
            <a:pPr marL="0" indent="0">
              <a:buNone/>
            </a:pPr>
            <a:r>
              <a:rPr lang="en-US" sz="105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Subscriber IQ</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Text 25"/>
          <p:cNvSpPr txBox="1"/>
          <p:nvPr/>
        </p:nvSpPr>
        <p:spPr>
          <a:xfrm>
            <a:off x="2432539" y="5448177"/>
            <a:ext cx="1965960" cy="570405"/>
          </a:xfrm>
          <a:prstGeom prst="rect">
            <a:avLst/>
          </a:prstGeom>
          <a:noFill/>
          <a:ln/>
        </p:spPr>
        <p:txBody>
          <a:bodyPr wrap="square" lIns="0" tIns="0" rIns="0" bIns="0" rtlCol="0" anchor="t"/>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Subscriber acquisition and movement across platforms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txBox="1"/>
          <p:nvPr/>
        </p:nvSpPr>
        <p:spPr>
          <a:xfrm>
            <a:off x="4691107" y="5448177"/>
            <a:ext cx="777240" cy="570405"/>
          </a:xfrm>
          <a:prstGeom prst="rect">
            <a:avLst/>
          </a:prstGeom>
          <a:noFill/>
          <a:ln/>
        </p:spPr>
        <p:txBody>
          <a:bodyPr wrap="square" lIns="0" tIns="0" rIns="0" bIns="0" rtlCol="0" anchor="t"/>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Text 27"/>
          <p:cNvSpPr txBox="1"/>
          <p:nvPr/>
        </p:nvSpPr>
        <p:spPr>
          <a:xfrm>
            <a:off x="5542671" y="5448177"/>
            <a:ext cx="1234440" cy="570405"/>
          </a:xfrm>
          <a:prstGeom prst="rect">
            <a:avLst/>
          </a:prstGeom>
          <a:noFill/>
          <a:ln/>
        </p:spPr>
        <p:txBody>
          <a:bodyPr wrap="square" lIns="0" tIns="0" rIns="0" bIns="0" rtlCol="0" anchor="t"/>
          <a:lstStyle/>
          <a:p>
            <a:pPr marL="0" indent="0">
              <a:lnSpc>
                <a:spcPct val="115000"/>
              </a:lnSpc>
              <a:buNone/>
            </a:pPr>
            <a:r>
              <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[ACCESS TERM]</a:t>
            </a:r>
            <a:endPar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Shape 28"/>
          <p:cNvSpPr/>
          <p:nvPr/>
        </p:nvSpPr>
        <p:spPr>
          <a:xfrm>
            <a:off x="960120" y="6035040"/>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Shape 29"/>
          <p:cNvSpPr/>
          <p:nvPr/>
        </p:nvSpPr>
        <p:spPr>
          <a:xfrm>
            <a:off x="960120" y="6225458"/>
            <a:ext cx="137160" cy="137160"/>
          </a:xfrm>
          <a:prstGeom prst="roundRect">
            <a:avLst>
              <a:gd name="adj" fmla="val 23333"/>
            </a:avLst>
          </a:prstGeom>
          <a:solidFill>
            <a:srgbClr val="E1E0D7"/>
          </a:solidFill>
          <a:ln w="12700">
            <a:solidFill>
              <a:srgbClr val="888C89"/>
            </a:solidFill>
            <a:prstDash val="solid"/>
          </a:ln>
        </p:spPr>
        <p:txBody>
          <a:bodyPr anchor="t"/>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3" name="Text 30"/>
          <p:cNvSpPr txBox="1"/>
          <p:nvPr/>
        </p:nvSpPr>
        <p:spPr>
          <a:xfrm>
            <a:off x="1170432" y="6216273"/>
            <a:ext cx="1298448" cy="570405"/>
          </a:xfrm>
          <a:prstGeom prst="rect">
            <a:avLst/>
          </a:prstGeom>
          <a:noFill/>
          <a:ln/>
        </p:spPr>
        <p:txBody>
          <a:bodyPr wrap="square" lIns="0" tIns="0" rIns="0" bIns="0" rtlCol="0" anchor="t"/>
          <a:lstStyle/>
          <a:p>
            <a:pPr marL="0" indent="0">
              <a:buNone/>
            </a:pPr>
            <a:r>
              <a:rPr lang="en-US" sz="105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Trends</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4" name="Text 31"/>
          <p:cNvSpPr txBox="1"/>
          <p:nvPr/>
        </p:nvSpPr>
        <p:spPr>
          <a:xfrm>
            <a:off x="2432539" y="6216273"/>
            <a:ext cx="1965960" cy="570405"/>
          </a:xfrm>
          <a:prstGeom prst="rect">
            <a:avLst/>
          </a:prstGeom>
          <a:noFill/>
          <a:ln/>
        </p:spPr>
        <p:txBody>
          <a:bodyPr wrap="square" lIns="0" tIns="0" rIns="0" bIns="0" rtlCol="0" anchor="t"/>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Search, headline and title trends, updated daily</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Text 32"/>
          <p:cNvSpPr txBox="1"/>
          <p:nvPr/>
        </p:nvSpPr>
        <p:spPr>
          <a:xfrm>
            <a:off x="4691107" y="6216273"/>
            <a:ext cx="777240" cy="570405"/>
          </a:xfrm>
          <a:prstGeom prst="rect">
            <a:avLst/>
          </a:prstGeom>
          <a:noFill/>
          <a:ln/>
        </p:spPr>
        <p:txBody>
          <a:bodyPr wrap="square" lIns="0" tIns="0" rIns="0" bIns="0" rtlCol="0" anchor="t"/>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Text 33"/>
          <p:cNvSpPr txBox="1"/>
          <p:nvPr/>
        </p:nvSpPr>
        <p:spPr>
          <a:xfrm>
            <a:off x="5542671" y="6216273"/>
            <a:ext cx="1234440" cy="570405"/>
          </a:xfrm>
          <a:prstGeom prst="rect">
            <a:avLst/>
          </a:prstGeom>
          <a:noFill/>
          <a:ln/>
        </p:spPr>
        <p:txBody>
          <a:bodyPr wrap="square" lIns="0" tIns="0" rIns="0" bIns="0" rtlCol="0" anchor="t"/>
          <a:lstStyle/>
          <a:p>
            <a:pPr marL="0" indent="0">
              <a:lnSpc>
                <a:spcPct val="115000"/>
              </a:lnSpc>
              <a:buNone/>
            </a:pPr>
            <a:r>
              <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[ACCESS TERM]</a:t>
            </a:r>
            <a:endPar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7" name="Shape 34"/>
          <p:cNvSpPr/>
          <p:nvPr/>
        </p:nvSpPr>
        <p:spPr>
          <a:xfrm>
            <a:off x="960120" y="6803136"/>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8" name="Shape 35"/>
          <p:cNvSpPr/>
          <p:nvPr/>
        </p:nvSpPr>
        <p:spPr>
          <a:xfrm>
            <a:off x="960120" y="6993554"/>
            <a:ext cx="137160" cy="137160"/>
          </a:xfrm>
          <a:prstGeom prst="roundRect">
            <a:avLst>
              <a:gd name="adj" fmla="val 23333"/>
            </a:avLst>
          </a:prstGeom>
          <a:solidFill>
            <a:srgbClr val="E1E0D7"/>
          </a:solidFill>
          <a:ln w="12700">
            <a:solidFill>
              <a:srgbClr val="888C89"/>
            </a:solidFill>
            <a:prstDash val="solid"/>
          </a:ln>
        </p:spPr>
        <p:txBody>
          <a:bodyPr anchor="t"/>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9" name="Text 36"/>
          <p:cNvSpPr txBox="1"/>
          <p:nvPr/>
        </p:nvSpPr>
        <p:spPr>
          <a:xfrm>
            <a:off x="1170432" y="6984369"/>
            <a:ext cx="1298448" cy="570405"/>
          </a:xfrm>
          <a:prstGeom prst="rect">
            <a:avLst/>
          </a:prstGeom>
          <a:noFill/>
          <a:ln/>
        </p:spPr>
        <p:txBody>
          <a:bodyPr wrap="square" lIns="0" tIns="0" rIns="0" bIns="0" rtlCol="0" anchor="t"/>
          <a:lstStyle/>
          <a:p>
            <a:pPr marL="0" indent="0">
              <a:buNone/>
            </a:pPr>
            <a:r>
              <a:rPr lang="en-US" sz="105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Rankers</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0" name="Text 37"/>
          <p:cNvSpPr txBox="1"/>
          <p:nvPr/>
        </p:nvSpPr>
        <p:spPr>
          <a:xfrm>
            <a:off x="2432539" y="6984369"/>
            <a:ext cx="1965960" cy="570405"/>
          </a:xfrm>
          <a:prstGeom prst="rect">
            <a:avLst/>
          </a:prstGeom>
          <a:noFill/>
          <a:ln/>
        </p:spPr>
        <p:txBody>
          <a:bodyPr wrap="square" lIns="0" tIns="0" rIns="0" bIns="0" rtlCol="0" anchor="t"/>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Daily ranked lists of what people watch and play</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1" name="Text 38"/>
          <p:cNvSpPr txBox="1"/>
          <p:nvPr/>
        </p:nvSpPr>
        <p:spPr>
          <a:xfrm>
            <a:off x="4691107" y="6984369"/>
            <a:ext cx="777240" cy="570405"/>
          </a:xfrm>
          <a:prstGeom prst="rect">
            <a:avLst/>
          </a:prstGeom>
          <a:noFill/>
          <a:ln/>
        </p:spPr>
        <p:txBody>
          <a:bodyPr wrap="square" lIns="0" tIns="0" rIns="0" bIns="0" rtlCol="0" anchor="t"/>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2" name="Text 39"/>
          <p:cNvSpPr txBox="1"/>
          <p:nvPr/>
        </p:nvSpPr>
        <p:spPr>
          <a:xfrm>
            <a:off x="5542671" y="6984369"/>
            <a:ext cx="1234440" cy="570405"/>
          </a:xfrm>
          <a:prstGeom prst="rect">
            <a:avLst/>
          </a:prstGeom>
          <a:noFill/>
          <a:ln/>
        </p:spPr>
        <p:txBody>
          <a:bodyPr wrap="square" lIns="0" tIns="0" rIns="0" bIns="0" rtlCol="0" anchor="t"/>
          <a:lstStyle/>
          <a:p>
            <a:pPr marL="0" indent="0">
              <a:lnSpc>
                <a:spcPct val="115000"/>
              </a:lnSpc>
              <a:buNone/>
            </a:pPr>
            <a:r>
              <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[ACCESS TERM]</a:t>
            </a:r>
            <a:endPar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3" name="Shape 40"/>
          <p:cNvSpPr/>
          <p:nvPr/>
        </p:nvSpPr>
        <p:spPr>
          <a:xfrm>
            <a:off x="960120" y="7571232"/>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4" name="Shape 41"/>
          <p:cNvSpPr/>
          <p:nvPr/>
        </p:nvSpPr>
        <p:spPr>
          <a:xfrm>
            <a:off x="960120" y="7761650"/>
            <a:ext cx="137160" cy="137160"/>
          </a:xfrm>
          <a:prstGeom prst="roundRect">
            <a:avLst>
              <a:gd name="adj" fmla="val 23333"/>
            </a:avLst>
          </a:prstGeom>
          <a:solidFill>
            <a:srgbClr val="E1E0D7"/>
          </a:solidFill>
          <a:ln w="12700">
            <a:solidFill>
              <a:srgbClr val="888C89"/>
            </a:solidFill>
            <a:prstDash val="solid"/>
          </a:ln>
        </p:spPr>
        <p:txBody>
          <a:bodyPr anchor="t"/>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5" name="Text 42"/>
          <p:cNvSpPr txBox="1"/>
          <p:nvPr/>
        </p:nvSpPr>
        <p:spPr>
          <a:xfrm>
            <a:off x="1170432" y="7752465"/>
            <a:ext cx="1298448" cy="570405"/>
          </a:xfrm>
          <a:prstGeom prst="rect">
            <a:avLst/>
          </a:prstGeom>
          <a:noFill/>
          <a:ln/>
        </p:spPr>
        <p:txBody>
          <a:bodyPr wrap="square" lIns="0" tIns="0" rIns="0" bIns="0" rtlCol="0" anchor="t"/>
          <a:lstStyle/>
          <a:p>
            <a:pPr marL="0" indent="0">
              <a:buNone/>
            </a:pPr>
            <a:r>
              <a:rPr lang="en-US" sz="105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Digital Journey IQ</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6" name="Text 43"/>
          <p:cNvSpPr txBox="1"/>
          <p:nvPr/>
        </p:nvSpPr>
        <p:spPr>
          <a:xfrm>
            <a:off x="2432539" y="7752465"/>
            <a:ext cx="1965960" cy="570405"/>
          </a:xfrm>
          <a:prstGeom prst="rect">
            <a:avLst/>
          </a:prstGeom>
          <a:noFill/>
          <a:ln/>
        </p:spPr>
        <p:txBody>
          <a:bodyPr wrap="square" lIns="0" tIns="0" rIns="0" bIns="0" rtlCol="0" anchor="t"/>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From first exposure to conversion, step by step</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7" name="Text 44"/>
          <p:cNvSpPr txBox="1"/>
          <p:nvPr/>
        </p:nvSpPr>
        <p:spPr>
          <a:xfrm>
            <a:off x="4691107" y="7752465"/>
            <a:ext cx="777240" cy="570405"/>
          </a:xfrm>
          <a:prstGeom prst="rect">
            <a:avLst/>
          </a:prstGeom>
          <a:noFill/>
          <a:ln/>
        </p:spPr>
        <p:txBody>
          <a:bodyPr wrap="square" lIns="0" tIns="0" rIns="0" bIns="0" rtlCol="0" anchor="t"/>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8" name="Text 45"/>
          <p:cNvSpPr txBox="1"/>
          <p:nvPr/>
        </p:nvSpPr>
        <p:spPr>
          <a:xfrm>
            <a:off x="5542671" y="7752465"/>
            <a:ext cx="1234440" cy="570405"/>
          </a:xfrm>
          <a:prstGeom prst="rect">
            <a:avLst/>
          </a:prstGeom>
          <a:noFill/>
          <a:ln/>
        </p:spPr>
        <p:txBody>
          <a:bodyPr wrap="square" lIns="0" tIns="0" rIns="0" bIns="0" rtlCol="0" anchor="t"/>
          <a:lstStyle/>
          <a:p>
            <a:pPr marL="0" indent="0">
              <a:lnSpc>
                <a:spcPct val="115000"/>
              </a:lnSpc>
              <a:buNone/>
            </a:pPr>
            <a:r>
              <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[ACCESS TERM]</a:t>
            </a:r>
            <a:endPar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9" name="Shape 46"/>
          <p:cNvSpPr/>
          <p:nvPr/>
        </p:nvSpPr>
        <p:spPr>
          <a:xfrm>
            <a:off x="960120" y="8339328"/>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0" name="Shape 47"/>
          <p:cNvSpPr/>
          <p:nvPr/>
        </p:nvSpPr>
        <p:spPr>
          <a:xfrm>
            <a:off x="960120" y="8529746"/>
            <a:ext cx="137160" cy="137160"/>
          </a:xfrm>
          <a:prstGeom prst="roundRect">
            <a:avLst>
              <a:gd name="adj" fmla="val 23333"/>
            </a:avLst>
          </a:prstGeom>
          <a:solidFill>
            <a:srgbClr val="E1E0D7"/>
          </a:solidFill>
          <a:ln w="12700">
            <a:solidFill>
              <a:srgbClr val="888C89"/>
            </a:solidFill>
            <a:prstDash val="solid"/>
          </a:ln>
        </p:spPr>
        <p:txBody>
          <a:bodyPr anchor="t"/>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1" name="Text 48"/>
          <p:cNvSpPr txBox="1"/>
          <p:nvPr/>
        </p:nvSpPr>
        <p:spPr>
          <a:xfrm>
            <a:off x="1170432" y="8520561"/>
            <a:ext cx="1298448" cy="570405"/>
          </a:xfrm>
          <a:prstGeom prst="rect">
            <a:avLst/>
          </a:prstGeom>
          <a:noFill/>
          <a:ln/>
        </p:spPr>
        <p:txBody>
          <a:bodyPr wrap="square" lIns="0" tIns="0" rIns="0" bIns="0" rtlCol="0" anchor="t"/>
          <a:lstStyle/>
          <a:p>
            <a:pPr marL="0" indent="0">
              <a:buNone/>
            </a:pPr>
            <a:r>
              <a:rPr lang="en-US" sz="105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Prometheus</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2" name="Text 49"/>
          <p:cNvSpPr txBox="1"/>
          <p:nvPr/>
        </p:nvSpPr>
        <p:spPr>
          <a:xfrm>
            <a:off x="2432539" y="8520561"/>
            <a:ext cx="1965960" cy="570405"/>
          </a:xfrm>
          <a:prstGeom prst="rect">
            <a:avLst/>
          </a:prstGeom>
          <a:noFill/>
          <a:ln/>
        </p:spPr>
        <p:txBody>
          <a:bodyPr wrap="square" lIns="0" tIns="0" rIns="0" bIns="0" rtlCol="0" anchor="t"/>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AI analyst: questions in chat, reports on demand</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3" name="Text 50"/>
          <p:cNvSpPr txBox="1"/>
          <p:nvPr/>
        </p:nvSpPr>
        <p:spPr>
          <a:xfrm>
            <a:off x="4691107" y="8520561"/>
            <a:ext cx="777240" cy="570405"/>
          </a:xfrm>
          <a:prstGeom prst="rect">
            <a:avLst/>
          </a:prstGeom>
          <a:noFill/>
          <a:ln/>
        </p:spPr>
        <p:txBody>
          <a:bodyPr wrap="square" lIns="0" tIns="0" rIns="0" bIns="0" rtlCol="0" anchor="t"/>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4" name="Text 51"/>
          <p:cNvSpPr txBox="1"/>
          <p:nvPr/>
        </p:nvSpPr>
        <p:spPr>
          <a:xfrm>
            <a:off x="5542671" y="8520561"/>
            <a:ext cx="1234440" cy="570405"/>
          </a:xfrm>
          <a:prstGeom prst="rect">
            <a:avLst/>
          </a:prstGeom>
          <a:noFill/>
          <a:ln/>
        </p:spPr>
        <p:txBody>
          <a:bodyPr wrap="square" lIns="0" tIns="0" rIns="0" bIns="0" rtlCol="0" anchor="t"/>
          <a:lstStyle/>
          <a:p>
            <a:pPr marL="0" indent="0">
              <a:lnSpc>
                <a:spcPct val="115000"/>
              </a:lnSpc>
              <a:buNone/>
            </a:pPr>
            <a:r>
              <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[CREDITS]</a:t>
            </a:r>
            <a:endPar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5" name="Text 52"/>
          <p:cNvSpPr txBox="1"/>
          <p:nvPr/>
        </p:nvSpPr>
        <p:spPr>
          <a:xfrm>
            <a:off x="8092440" y="4154407"/>
            <a:ext cx="2194560" cy="886968"/>
          </a:xfrm>
          <a:prstGeom prst="rect">
            <a:avLst/>
          </a:prstGeom>
          <a:noFill/>
          <a:ln/>
        </p:spPr>
        <p:txBody>
          <a:bodyPr wrap="square" lIns="0" tIns="0" rIns="0" bIns="0" rtlCol="0" anchor="ctr"/>
          <a:lstStyle/>
          <a:p>
            <a:pPr marL="0" indent="0">
              <a:buNone/>
            </a:pPr>
            <a:r>
              <a:rPr lang="en-US" sz="800" kern="0" spc="12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COPY THIS BOX AND PASTE IT</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a:p>
            <a:pPr marL="0" indent="0">
              <a:buNone/>
            </a:pPr>
            <a:r>
              <a:rPr lang="en-US" sz="800" kern="0" spc="12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OVER ANY PRODUCT YOU INCLUDE</a:t>
            </a:r>
            <a:br>
              <a:rPr lang="en-US" sz="800" kern="0" spc="12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br>
            <a:br>
              <a:rPr lang="en-US" sz="800" kern="0" spc="12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br>
            <a:r>
              <a:rPr lang="en-US" sz="800" kern="0" spc="12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OR REFERENCE THIS GREEN TO CHANGE THE FILL COLOR OF THE CHECK BOX ALREADY PLACED</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6" name="Shape 53"/>
          <p:cNvSpPr/>
          <p:nvPr/>
        </p:nvSpPr>
        <p:spPr>
          <a:xfrm>
            <a:off x="8092440" y="5177334"/>
            <a:ext cx="137160" cy="137160"/>
          </a:xfrm>
          <a:prstGeom prst="roundRect">
            <a:avLst>
              <a:gd name="adj" fmla="val 23333"/>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7" name="Text 54"/>
          <p:cNvSpPr txBox="1"/>
          <p:nvPr/>
        </p:nvSpPr>
        <p:spPr>
          <a:xfrm>
            <a:off x="8302752" y="5159046"/>
            <a:ext cx="1097280" cy="182880"/>
          </a:xfrm>
          <a:prstGeom prst="rect">
            <a:avLst/>
          </a:prstGeom>
          <a:noFill/>
          <a:ln/>
        </p:spPr>
        <p:txBody>
          <a:bodyPr wrap="square" lIns="0" tIns="0" rIns="0" bIns="0" rtlCol="0" anchor="ctr"/>
          <a:lstStyle/>
          <a:p>
            <a:pPr marL="0" indent="0">
              <a:buNone/>
            </a:pPr>
            <a:r>
              <a:rPr lang="en-US" sz="800" kern="0" spc="12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INCLUDED</a:t>
            </a:r>
            <a:endParaRPr lang="en-US" sz="800" dirty="0">
              <a:latin typeface="Crosswalk Inter" panose="02000503000000020004" pitchFamily="34" charset="0"/>
              <a:ea typeface="Crosswalk Inter" panose="02000503000000020004" pitchFamily="34" charset="0"/>
              <a:cs typeface="Crosswalk Inter" panose="020005030000000200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8E2"/>
        </a:solidFill>
        <a:effectLst/>
      </p:bgPr>
    </p:bg>
    <p:spTree>
      <p:nvGrpSpPr>
        <p:cNvPr id="1" name=""/>
        <p:cNvGrpSpPr/>
        <p:nvPr/>
      </p:nvGrpSpPr>
      <p:grpSpPr>
        <a:xfrm>
          <a:off x="0" y="0"/>
          <a:ext cx="0" cy="0"/>
          <a:chOff x="0" y="0"/>
          <a:chExt cx="0" cy="0"/>
        </a:xfrm>
      </p:grpSpPr>
      <p:sp>
        <p:nvSpPr>
          <p:cNvPr id="2" name="Text 0"/>
          <p:cNvSpPr txBox="1"/>
          <p:nvPr/>
        </p:nvSpPr>
        <p:spPr>
          <a:xfrm>
            <a:off x="777240" y="530352"/>
            <a:ext cx="4206240" cy="201168"/>
          </a:xfrm>
          <a:prstGeom prst="rect">
            <a:avLst/>
          </a:prstGeom>
          <a:noFill/>
          <a:ln/>
        </p:spPr>
        <p:txBody>
          <a:bodyPr wrap="square" lIns="0" tIns="0" rIns="0" bIns="0" rtlCol="0" anchor="ctr"/>
          <a:lstStyle/>
          <a:p>
            <a:pPr marL="0" indent="0">
              <a:buNone/>
            </a:pPr>
            <a:r>
              <a:rPr lang="en-US" sz="750" kern="0" spc="1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DELIVERABLES AND TIMELINE</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3" name="Image 0" descr="preencoded.png"/>
          <p:cNvPicPr>
            <a:picLocks noChangeAspect="1"/>
          </p:cNvPicPr>
          <p:nvPr/>
        </p:nvPicPr>
        <p:blipFill>
          <a:blip r:embed="rId4"/>
          <a:stretch>
            <a:fillRect/>
          </a:stretch>
        </p:blipFill>
        <p:spPr>
          <a:xfrm>
            <a:off x="6062472" y="539623"/>
            <a:ext cx="932688" cy="118161"/>
          </a:xfrm>
          <a:prstGeom prst="rect">
            <a:avLst/>
          </a:prstGeom>
        </p:spPr>
      </p:pic>
      <p:sp>
        <p:nvSpPr>
          <p:cNvPr id="4" name="Shape 1"/>
          <p:cNvSpPr/>
          <p:nvPr/>
        </p:nvSpPr>
        <p:spPr>
          <a:xfrm>
            <a:off x="777240" y="868680"/>
            <a:ext cx="6217920" cy="7315"/>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 name="Text 2"/>
          <p:cNvSpPr txBox="1"/>
          <p:nvPr/>
        </p:nvSpPr>
        <p:spPr>
          <a:xfrm>
            <a:off x="777240" y="9381744"/>
            <a:ext cx="4114800" cy="182880"/>
          </a:xfrm>
          <a:prstGeom prst="rect">
            <a:avLst/>
          </a:prstGeom>
          <a:noFill/>
          <a:ln/>
        </p:spPr>
        <p:txBody>
          <a:bodyPr wrap="square" lIns="0" tIns="0" rIns="0" bIns="0" rtlCol="0" anchor="ctr"/>
          <a:lstStyle/>
          <a:p>
            <a:pPr marL="0" indent="0">
              <a:buNone/>
            </a:pPr>
            <a:r>
              <a:rPr lang="en-US" sz="750" kern="0" spc="14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txBox="1"/>
          <p:nvPr/>
        </p:nvSpPr>
        <p:spPr>
          <a:xfrm>
            <a:off x="6080760" y="9381744"/>
            <a:ext cx="914400" cy="182880"/>
          </a:xfrm>
          <a:prstGeom prst="rect">
            <a:avLst/>
          </a:prstGeom>
          <a:noFill/>
          <a:ln/>
        </p:spPr>
        <p:txBody>
          <a:bodyPr wrap="square" lIns="0" tIns="0" rIns="0" bIns="0" rtlCol="0" anchor="ctr"/>
          <a:lstStyle/>
          <a:p>
            <a:pPr marL="0" indent="0" algn="r">
              <a:buNone/>
            </a:pPr>
            <a:fld id="{EE4E7B4E-6FEB-4A8B-9ECF-D912EF34AFD7}" type="slidenum">
              <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3</a:t>
            </a:fld>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7" name="Shape 4"/>
          <p:cNvSpPr/>
          <p:nvPr/>
        </p:nvSpPr>
        <p:spPr>
          <a:xfrm>
            <a:off x="777240" y="116586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Text 5"/>
          <p:cNvSpPr txBox="1"/>
          <p:nvPr/>
        </p:nvSpPr>
        <p:spPr>
          <a:xfrm>
            <a:off x="960120" y="1097280"/>
            <a:ext cx="5120640" cy="201168"/>
          </a:xfrm>
          <a:prstGeom prst="rect">
            <a:avLst/>
          </a:prstGeom>
          <a:noFill/>
          <a:ln/>
        </p:spPr>
        <p:txBody>
          <a:bodyPr wrap="square" lIns="0" tIns="0" rIns="0" bIns="0" rtlCol="0" anchor="ctr"/>
          <a:lstStyle/>
          <a:p>
            <a:pPr marL="0" indent="0">
              <a:buNone/>
            </a:pPr>
            <a:r>
              <a:rPr lang="en-US" sz="850" kern="0" spc="18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SECTIONS 2 AND 3</a:t>
            </a:r>
            <a:endParaRPr lang="en-US" sz="8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txBox="1"/>
          <p:nvPr/>
        </p:nvSpPr>
        <p:spPr>
          <a:xfrm>
            <a:off x="777240" y="1481328"/>
            <a:ext cx="4409123" cy="868680"/>
          </a:xfrm>
          <a:prstGeom prst="rect">
            <a:avLst/>
          </a:prstGeom>
          <a:noFill/>
          <a:ln/>
        </p:spPr>
        <p:txBody>
          <a:bodyPr wrap="square" lIns="0" tIns="0" rIns="0" bIns="0" rtlCol="0" anchor="t"/>
          <a:lstStyle/>
          <a:p>
            <a:pPr marL="0" indent="0">
              <a:lnSpc>
                <a:spcPct val="114000"/>
              </a:lnSpc>
              <a:buNone/>
            </a:pP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The custom work,</a:t>
            </a:r>
            <a:r>
              <a:rPr lang="en-US" sz="2300"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 </a:t>
            </a:r>
            <a:r>
              <a:rPr lang="en-US" sz="2300" kern="0" spc="-30" dirty="0">
                <a:solidFill>
                  <a:srgbClr val="0C1618"/>
                </a:solidFill>
                <a:latin typeface="Crosswalk Inter Light" panose="02000503000000020004" pitchFamily="34" charset="0"/>
                <a:ea typeface="Crosswalk Inter Light" panose="02000503000000020004" pitchFamily="34" charset="0"/>
                <a:cs typeface="Crosswalk Inter Light" panose="02000503000000020004" pitchFamily="34" charset="0"/>
              </a:rPr>
              <a:t>and when each piece lands.</a:t>
            </a:r>
            <a:endParaRPr lang="en-US" sz="2300" dirty="0">
              <a:latin typeface="Crosswalk Inter Light" panose="02000503000000020004" pitchFamily="34" charset="0"/>
              <a:ea typeface="Crosswalk Inter Light" panose="02000503000000020004" pitchFamily="34" charset="0"/>
              <a:cs typeface="Crosswalk Inter Light" panose="02000503000000020004" pitchFamily="34" charset="0"/>
            </a:endParaRPr>
          </a:p>
        </p:txBody>
      </p:sp>
      <p:sp>
        <p:nvSpPr>
          <p:cNvPr id="10" name="Text 7"/>
          <p:cNvSpPr txBox="1"/>
          <p:nvPr/>
        </p:nvSpPr>
        <p:spPr>
          <a:xfrm>
            <a:off x="777240" y="2450592"/>
            <a:ext cx="6217920" cy="182880"/>
          </a:xfrm>
          <a:prstGeom prst="rect">
            <a:avLst/>
          </a:prstGeom>
          <a:noFill/>
          <a:ln/>
        </p:spPr>
        <p:txBody>
          <a:bodyPr wrap="square" lIns="0" tIns="0" rIns="0" bIns="0" rtlCol="0" anchor="ctr"/>
          <a:lstStyle/>
          <a:p>
            <a:pPr marL="0" indent="0">
              <a:buNone/>
            </a:pPr>
            <a:r>
              <a:rPr lang="en-US" sz="850"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2.2   </a:t>
            </a:r>
            <a:r>
              <a:rPr lang="en-US" sz="850"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CUSTOM WORK AND DELIVERABLES</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txBox="1"/>
          <p:nvPr/>
        </p:nvSpPr>
        <p:spPr>
          <a:xfrm>
            <a:off x="777240" y="2670048"/>
            <a:ext cx="6217920" cy="310896"/>
          </a:xfrm>
          <a:prstGeom prst="rect">
            <a:avLst/>
          </a:prstGeom>
          <a:noFill/>
          <a:ln/>
        </p:spPr>
        <p:txBody>
          <a:bodyPr wrap="square" lIns="0" tIns="0" rIns="0" bIns="0" rtlCol="0" anchor="t"/>
          <a:lstStyle/>
          <a:p>
            <a:pPr marL="0" indent="0">
              <a:lnSpc>
                <a:spcPct val="120000"/>
              </a:lnSpc>
              <a:buNone/>
            </a:pPr>
            <a:r>
              <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Analyses, reports, dashboards and audience builds scoped for this engagement.</a:t>
            </a:r>
            <a:endPar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Shape 9"/>
          <p:cNvSpPr/>
          <p:nvPr/>
        </p:nvSpPr>
        <p:spPr>
          <a:xfrm>
            <a:off x="777240" y="3017520"/>
            <a:ext cx="6217920" cy="2121408"/>
          </a:xfrm>
          <a:prstGeom prst="roundRect">
            <a:avLst>
              <a:gd name="adj" fmla="val 4310"/>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txBox="1"/>
          <p:nvPr/>
        </p:nvSpPr>
        <p:spPr>
          <a:xfrm>
            <a:off x="960120" y="3163824"/>
            <a:ext cx="1600200"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DELIVERABLE</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Text 11"/>
          <p:cNvSpPr txBox="1"/>
          <p:nvPr/>
        </p:nvSpPr>
        <p:spPr>
          <a:xfrm>
            <a:off x="2697480" y="3163824"/>
            <a:ext cx="2788920"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DESCRIPTION</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txBox="1"/>
          <p:nvPr/>
        </p:nvSpPr>
        <p:spPr>
          <a:xfrm>
            <a:off x="5623560" y="3163824"/>
            <a:ext cx="1234440"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TIMING</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Shape 13"/>
          <p:cNvSpPr/>
          <p:nvPr/>
        </p:nvSpPr>
        <p:spPr>
          <a:xfrm>
            <a:off x="960120" y="3401568"/>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txBox="1"/>
          <p:nvPr/>
        </p:nvSpPr>
        <p:spPr>
          <a:xfrm>
            <a:off x="960120" y="3465576"/>
            <a:ext cx="1600200" cy="420624"/>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[DELIVERABLE 1]</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txBox="1"/>
          <p:nvPr/>
        </p:nvSpPr>
        <p:spPr>
          <a:xfrm>
            <a:off x="2697480" y="3465576"/>
            <a:ext cx="2788920" cy="420624"/>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[DESCRIPTION]</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txBox="1"/>
          <p:nvPr/>
        </p:nvSpPr>
        <p:spPr>
          <a:xfrm>
            <a:off x="5623560" y="3465576"/>
            <a:ext cx="1234440" cy="420624"/>
          </a:xfrm>
          <a:prstGeom prst="rect">
            <a:avLst/>
          </a:prstGeom>
          <a:noFill/>
          <a:ln/>
        </p:spPr>
        <p:txBody>
          <a:bodyPr wrap="square" lIns="0" tIns="0" rIns="0" bIns="0" rtlCol="0" anchor="ctr"/>
          <a:lstStyle/>
          <a:p>
            <a:pPr marL="0" indent="0">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[TIMING]</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Shape 17"/>
          <p:cNvSpPr/>
          <p:nvPr/>
        </p:nvSpPr>
        <p:spPr>
          <a:xfrm>
            <a:off x="960120" y="3950208"/>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txBox="1"/>
          <p:nvPr/>
        </p:nvSpPr>
        <p:spPr>
          <a:xfrm>
            <a:off x="960120" y="4014216"/>
            <a:ext cx="1600200" cy="420624"/>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[DELIVERABLE 2]</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Text 19"/>
          <p:cNvSpPr txBox="1"/>
          <p:nvPr/>
        </p:nvSpPr>
        <p:spPr>
          <a:xfrm>
            <a:off x="2697480" y="4014216"/>
            <a:ext cx="2788920" cy="420624"/>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[DESCRIPTION]</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txBox="1"/>
          <p:nvPr/>
        </p:nvSpPr>
        <p:spPr>
          <a:xfrm>
            <a:off x="5623560" y="4014216"/>
            <a:ext cx="1234440" cy="420624"/>
          </a:xfrm>
          <a:prstGeom prst="rect">
            <a:avLst/>
          </a:prstGeom>
          <a:noFill/>
          <a:ln/>
        </p:spPr>
        <p:txBody>
          <a:bodyPr wrap="square" lIns="0" tIns="0" rIns="0" bIns="0" rtlCol="0" anchor="ctr"/>
          <a:lstStyle/>
          <a:p>
            <a:pPr marL="0" indent="0">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[TIMING]</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Shape 21"/>
          <p:cNvSpPr/>
          <p:nvPr/>
        </p:nvSpPr>
        <p:spPr>
          <a:xfrm>
            <a:off x="960120" y="4498848"/>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Text 22"/>
          <p:cNvSpPr txBox="1"/>
          <p:nvPr/>
        </p:nvSpPr>
        <p:spPr>
          <a:xfrm>
            <a:off x="960120" y="4562856"/>
            <a:ext cx="1600200" cy="420624"/>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[DELIVERABLE 3]</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Text 23"/>
          <p:cNvSpPr txBox="1"/>
          <p:nvPr/>
        </p:nvSpPr>
        <p:spPr>
          <a:xfrm>
            <a:off x="2697480" y="4562856"/>
            <a:ext cx="2788920" cy="420624"/>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[DESCRIPTION]</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txBox="1"/>
          <p:nvPr/>
        </p:nvSpPr>
        <p:spPr>
          <a:xfrm>
            <a:off x="5623560" y="4562856"/>
            <a:ext cx="1234440" cy="420624"/>
          </a:xfrm>
          <a:prstGeom prst="rect">
            <a:avLst/>
          </a:prstGeom>
          <a:noFill/>
          <a:ln/>
        </p:spPr>
        <p:txBody>
          <a:bodyPr wrap="square" lIns="0" tIns="0" rIns="0" bIns="0" rtlCol="0" anchor="ctr"/>
          <a:lstStyle/>
          <a:p>
            <a:pPr marL="0" indent="0">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[TIMING]</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Text 25"/>
          <p:cNvSpPr txBox="1"/>
          <p:nvPr/>
        </p:nvSpPr>
        <p:spPr>
          <a:xfrm>
            <a:off x="777240" y="5449824"/>
            <a:ext cx="6217920" cy="182880"/>
          </a:xfrm>
          <a:prstGeom prst="rect">
            <a:avLst/>
          </a:prstGeom>
          <a:noFill/>
          <a:ln/>
        </p:spPr>
        <p:txBody>
          <a:bodyPr wrap="square" lIns="0" tIns="0" rIns="0" bIns="0" rtlCol="0" anchor="ctr"/>
          <a:lstStyle/>
          <a:p>
            <a:pPr marL="0" indent="0">
              <a:buNone/>
            </a:pPr>
            <a:r>
              <a:rPr lang="en-US" sz="850"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3.0   </a:t>
            </a:r>
            <a:r>
              <a:rPr lang="en-US" sz="850"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TIMELINE AND ENGAGEMENT MILESTONES</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txBox="1"/>
          <p:nvPr/>
        </p:nvSpPr>
        <p:spPr>
          <a:xfrm>
            <a:off x="777240" y="5669280"/>
            <a:ext cx="6217920" cy="310896"/>
          </a:xfrm>
          <a:prstGeom prst="rect">
            <a:avLst/>
          </a:prstGeom>
          <a:noFill/>
          <a:ln/>
        </p:spPr>
        <p:txBody>
          <a:bodyPr wrap="square" lIns="0" tIns="0" rIns="0" bIns="0" rtlCol="0" anchor="t"/>
          <a:lstStyle/>
          <a:p>
            <a:pPr marL="0" indent="0">
              <a:lnSpc>
                <a:spcPct val="120000"/>
              </a:lnSpc>
              <a:buNone/>
            </a:pPr>
            <a:r>
              <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Key dates for the engagement.</a:t>
            </a:r>
            <a:endParaRPr lang="en-US" sz="10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Shape 27"/>
          <p:cNvSpPr/>
          <p:nvPr/>
        </p:nvSpPr>
        <p:spPr>
          <a:xfrm>
            <a:off x="777240" y="6016752"/>
            <a:ext cx="6217920" cy="2011680"/>
          </a:xfrm>
          <a:prstGeom prst="roundRect">
            <a:avLst>
              <a:gd name="adj" fmla="val 4545"/>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Text 28"/>
          <p:cNvSpPr txBox="1"/>
          <p:nvPr/>
        </p:nvSpPr>
        <p:spPr>
          <a:xfrm>
            <a:off x="960120" y="6163056"/>
            <a:ext cx="1143000"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TIMING</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Text 29"/>
          <p:cNvSpPr txBox="1"/>
          <p:nvPr/>
        </p:nvSpPr>
        <p:spPr>
          <a:xfrm>
            <a:off x="2240280" y="6163056"/>
            <a:ext cx="1600200"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MILESTONE</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3" name="Text 30"/>
          <p:cNvSpPr txBox="1"/>
          <p:nvPr/>
        </p:nvSpPr>
        <p:spPr>
          <a:xfrm>
            <a:off x="3977640" y="6163056"/>
            <a:ext cx="2926080" cy="164592"/>
          </a:xfrm>
          <a:prstGeom prst="rect">
            <a:avLst/>
          </a:prstGeom>
          <a:noFill/>
          <a:ln/>
        </p:spPr>
        <p:txBody>
          <a:bodyPr wrap="square" lIns="0" tIns="0" rIns="0" bIns="0" rtlCol="0" anchor="ctr"/>
          <a:lstStyle/>
          <a:p>
            <a:pPr marL="0" indent="0">
              <a:buNone/>
            </a:pPr>
            <a:r>
              <a:rPr lang="en-US" sz="750" kern="0" spc="130" dirty="0">
                <a:solidFill>
                  <a:srgbClr val="888C89"/>
                </a:solidFill>
                <a:latin typeface="Crosswalk Inter" panose="02000503000000020004" pitchFamily="34" charset="0"/>
                <a:ea typeface="Crosswalk Inter" panose="02000503000000020004" pitchFamily="34" charset="0"/>
                <a:cs typeface="Crosswalk Inter" panose="02000503000000020004" pitchFamily="34" charset="0"/>
              </a:rPr>
              <a:t>ACTIVITY AND OUTPUT</a:t>
            </a:r>
            <a:endParaRPr lang="en-US" sz="7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4" name="Shape 31"/>
          <p:cNvSpPr/>
          <p:nvPr/>
        </p:nvSpPr>
        <p:spPr>
          <a:xfrm>
            <a:off x="960120" y="6400800"/>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Text 32"/>
          <p:cNvSpPr txBox="1"/>
          <p:nvPr/>
        </p:nvSpPr>
        <p:spPr>
          <a:xfrm>
            <a:off x="960120" y="6464808"/>
            <a:ext cx="1143000" cy="38404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[DATE / WEEK]</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Text 33"/>
          <p:cNvSpPr txBox="1"/>
          <p:nvPr/>
        </p:nvSpPr>
        <p:spPr>
          <a:xfrm>
            <a:off x="2240280" y="6464808"/>
            <a:ext cx="1600200" cy="38404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Kickoff</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7" name="Text 34"/>
          <p:cNvSpPr txBox="1"/>
          <p:nvPr/>
        </p:nvSpPr>
        <p:spPr>
          <a:xfrm>
            <a:off x="3977640" y="6464808"/>
            <a:ext cx="2926080" cy="384048"/>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Confirm scope, users, access and priorities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8" name="Shape 35"/>
          <p:cNvSpPr/>
          <p:nvPr/>
        </p:nvSpPr>
        <p:spPr>
          <a:xfrm>
            <a:off x="960120" y="6912864"/>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9" name="Text 36"/>
          <p:cNvSpPr txBox="1"/>
          <p:nvPr/>
        </p:nvSpPr>
        <p:spPr>
          <a:xfrm>
            <a:off x="960120" y="6976872"/>
            <a:ext cx="1143000" cy="38404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[DATE / WEEK]</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0" name="Text 37"/>
          <p:cNvSpPr txBox="1"/>
          <p:nvPr/>
        </p:nvSpPr>
        <p:spPr>
          <a:xfrm>
            <a:off x="2240280" y="6976872"/>
            <a:ext cx="1600200" cy="38404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Working session</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1" name="Text 38"/>
          <p:cNvSpPr txBox="1"/>
          <p:nvPr/>
        </p:nvSpPr>
        <p:spPr>
          <a:xfrm>
            <a:off x="3977640" y="6976872"/>
            <a:ext cx="2926080" cy="384048"/>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Review progress, findings and refinements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2" name="Shape 39"/>
          <p:cNvSpPr/>
          <p:nvPr/>
        </p:nvSpPr>
        <p:spPr>
          <a:xfrm>
            <a:off x="960120" y="7424928"/>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3" name="Text 40"/>
          <p:cNvSpPr txBox="1"/>
          <p:nvPr/>
        </p:nvSpPr>
        <p:spPr>
          <a:xfrm>
            <a:off x="960120" y="7488936"/>
            <a:ext cx="1143000" cy="38404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[DATE / WEEK]</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4" name="Text 41"/>
          <p:cNvSpPr txBox="1"/>
          <p:nvPr/>
        </p:nvSpPr>
        <p:spPr>
          <a:xfrm>
            <a:off x="2240280" y="7488936"/>
            <a:ext cx="1600200" cy="38404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Delivery and readout</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45" name="Text 42"/>
          <p:cNvSpPr txBox="1"/>
          <p:nvPr/>
        </p:nvSpPr>
        <p:spPr>
          <a:xfrm>
            <a:off x="3977640" y="7488936"/>
            <a:ext cx="2926080" cy="384048"/>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Deliver agreed outputs, review next steps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E8E2"/>
        </a:solidFill>
        <a:effectLst/>
      </p:bgPr>
    </p:bg>
    <p:spTree>
      <p:nvGrpSpPr>
        <p:cNvPr id="1" name=""/>
        <p:cNvGrpSpPr/>
        <p:nvPr/>
      </p:nvGrpSpPr>
      <p:grpSpPr>
        <a:xfrm>
          <a:off x="0" y="0"/>
          <a:ext cx="0" cy="0"/>
          <a:chOff x="0" y="0"/>
          <a:chExt cx="0" cy="0"/>
        </a:xfrm>
      </p:grpSpPr>
      <p:sp>
        <p:nvSpPr>
          <p:cNvPr id="2" name="Text 0"/>
          <p:cNvSpPr txBox="1"/>
          <p:nvPr/>
        </p:nvSpPr>
        <p:spPr>
          <a:xfrm>
            <a:off x="777240" y="530352"/>
            <a:ext cx="4206240" cy="201168"/>
          </a:xfrm>
          <a:prstGeom prst="rect">
            <a:avLst/>
          </a:prstGeom>
          <a:noFill/>
          <a:ln/>
        </p:spPr>
        <p:txBody>
          <a:bodyPr wrap="square" lIns="0" tIns="0" rIns="0" bIns="0" rtlCol="0" anchor="ctr"/>
          <a:lstStyle/>
          <a:p>
            <a:pPr marL="0" indent="0">
              <a:buNone/>
            </a:pPr>
            <a:r>
              <a:rPr lang="en-US" sz="750" kern="0" spc="1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RESPONSIBILITIES AND TERMS</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3" name="Image 0" descr="preencoded.png"/>
          <p:cNvPicPr>
            <a:picLocks noChangeAspect="1"/>
          </p:cNvPicPr>
          <p:nvPr/>
        </p:nvPicPr>
        <p:blipFill>
          <a:blip r:embed="rId4"/>
          <a:stretch>
            <a:fillRect/>
          </a:stretch>
        </p:blipFill>
        <p:spPr>
          <a:xfrm>
            <a:off x="6062472" y="539623"/>
            <a:ext cx="932688" cy="118161"/>
          </a:xfrm>
          <a:prstGeom prst="rect">
            <a:avLst/>
          </a:prstGeom>
        </p:spPr>
      </p:pic>
      <p:sp>
        <p:nvSpPr>
          <p:cNvPr id="4" name="Shape 1"/>
          <p:cNvSpPr/>
          <p:nvPr/>
        </p:nvSpPr>
        <p:spPr>
          <a:xfrm>
            <a:off x="777240" y="868680"/>
            <a:ext cx="6217920" cy="7315"/>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 name="Text 2"/>
          <p:cNvSpPr txBox="1"/>
          <p:nvPr/>
        </p:nvSpPr>
        <p:spPr>
          <a:xfrm>
            <a:off x="777240" y="9381744"/>
            <a:ext cx="4114800" cy="182880"/>
          </a:xfrm>
          <a:prstGeom prst="rect">
            <a:avLst/>
          </a:prstGeom>
          <a:noFill/>
          <a:ln/>
        </p:spPr>
        <p:txBody>
          <a:bodyPr wrap="square" lIns="0" tIns="0" rIns="0" bIns="0" rtlCol="0" anchor="ctr"/>
          <a:lstStyle/>
          <a:p>
            <a:pPr marL="0" indent="0">
              <a:buNone/>
            </a:pPr>
            <a:r>
              <a:rPr lang="en-US" sz="750" kern="0" spc="14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txBox="1"/>
          <p:nvPr/>
        </p:nvSpPr>
        <p:spPr>
          <a:xfrm>
            <a:off x="6080760" y="9381744"/>
            <a:ext cx="914400" cy="182880"/>
          </a:xfrm>
          <a:prstGeom prst="rect">
            <a:avLst/>
          </a:prstGeom>
          <a:noFill/>
          <a:ln/>
        </p:spPr>
        <p:txBody>
          <a:bodyPr wrap="square" lIns="0" tIns="0" rIns="0" bIns="0" rtlCol="0" anchor="ctr"/>
          <a:lstStyle/>
          <a:p>
            <a:pPr marL="0" indent="0" algn="r">
              <a:buNone/>
            </a:pPr>
            <a:fld id="{F3259052-50A0-45CD-ACB2-73B443290655}" type="slidenum">
              <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4</a:t>
            </a:fld>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7" name="Shape 4"/>
          <p:cNvSpPr/>
          <p:nvPr/>
        </p:nvSpPr>
        <p:spPr>
          <a:xfrm>
            <a:off x="777240" y="116586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Text 5"/>
          <p:cNvSpPr txBox="1"/>
          <p:nvPr/>
        </p:nvSpPr>
        <p:spPr>
          <a:xfrm>
            <a:off x="960120" y="1097280"/>
            <a:ext cx="5120640" cy="201168"/>
          </a:xfrm>
          <a:prstGeom prst="rect">
            <a:avLst/>
          </a:prstGeom>
          <a:noFill/>
          <a:ln/>
        </p:spPr>
        <p:txBody>
          <a:bodyPr wrap="square" lIns="0" tIns="0" rIns="0" bIns="0" rtlCol="0" anchor="ctr"/>
          <a:lstStyle/>
          <a:p>
            <a:pPr marL="0" indent="0">
              <a:buNone/>
            </a:pPr>
            <a:r>
              <a:rPr lang="en-US" sz="850" kern="0" spc="18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SECTIONS 4 TO 6</a:t>
            </a:r>
            <a:endParaRPr lang="en-US" sz="8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txBox="1"/>
          <p:nvPr/>
        </p:nvSpPr>
        <p:spPr>
          <a:xfrm>
            <a:off x="777240" y="1481328"/>
            <a:ext cx="5494973" cy="868680"/>
          </a:xfrm>
          <a:prstGeom prst="rect">
            <a:avLst/>
          </a:prstGeom>
          <a:noFill/>
          <a:ln/>
        </p:spPr>
        <p:txBody>
          <a:bodyPr wrap="square" lIns="0" tIns="0" rIns="0" bIns="0" rtlCol="0" anchor="t"/>
          <a:lstStyle/>
          <a:p>
            <a:pPr marL="0" indent="0">
              <a:lnSpc>
                <a:spcPct val="114000"/>
              </a:lnSpc>
              <a:buNone/>
            </a:pP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What we need from you,</a:t>
            </a:r>
            <a:r>
              <a:rPr lang="en-US" sz="2300"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 </a:t>
            </a:r>
            <a:r>
              <a:rPr lang="en-US" sz="2300" kern="0" spc="-30" dirty="0">
                <a:solidFill>
                  <a:srgbClr val="0C1618"/>
                </a:solidFill>
                <a:latin typeface="Crosswalk Inter Light" panose="02000503000000020004" pitchFamily="34" charset="0"/>
                <a:ea typeface="Crosswalk Inter Light" panose="02000503000000020004" pitchFamily="34" charset="0"/>
                <a:cs typeface="Crosswalk Inter Light" panose="02000503000000020004" pitchFamily="34" charset="0"/>
              </a:rPr>
              <a:t>what sits outside scope, and what it costs.</a:t>
            </a:r>
            <a:endParaRPr lang="en-US" sz="2300" dirty="0">
              <a:latin typeface="Crosswalk Inter Light" panose="02000503000000020004" pitchFamily="34" charset="0"/>
              <a:ea typeface="Crosswalk Inter Light" panose="02000503000000020004" pitchFamily="34" charset="0"/>
              <a:cs typeface="Crosswalk Inter Light" panose="02000503000000020004" pitchFamily="34" charset="0"/>
            </a:endParaRPr>
          </a:p>
        </p:txBody>
      </p:sp>
      <p:sp>
        <p:nvSpPr>
          <p:cNvPr id="10" name="Text 7"/>
          <p:cNvSpPr txBox="1"/>
          <p:nvPr/>
        </p:nvSpPr>
        <p:spPr>
          <a:xfrm>
            <a:off x="777240" y="2450592"/>
            <a:ext cx="6217920" cy="182880"/>
          </a:xfrm>
          <a:prstGeom prst="rect">
            <a:avLst/>
          </a:prstGeom>
          <a:noFill/>
          <a:ln/>
        </p:spPr>
        <p:txBody>
          <a:bodyPr wrap="square" lIns="0" tIns="0" rIns="0" bIns="0" rtlCol="0" anchor="ctr"/>
          <a:lstStyle/>
          <a:p>
            <a:pPr marL="0" indent="0">
              <a:buNone/>
            </a:pPr>
            <a:r>
              <a:rPr lang="en-US" sz="850"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4.0   </a:t>
            </a:r>
            <a:r>
              <a:rPr lang="en-US" sz="850"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CLIENT RESPONSIBILITIES</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txBox="1"/>
          <p:nvPr/>
        </p:nvSpPr>
        <p:spPr>
          <a:xfrm>
            <a:off x="777240" y="2761488"/>
            <a:ext cx="182880" cy="237744"/>
          </a:xfrm>
          <a:prstGeom prst="rect">
            <a:avLst/>
          </a:prstGeom>
          <a:noFill/>
          <a:ln/>
        </p:spPr>
        <p:txBody>
          <a:bodyPr wrap="square" lIns="0" tIns="0" rIns="0" bIns="0" rtlCol="0" anchor="ctr"/>
          <a:lstStyle/>
          <a:p>
            <a:pPr marL="0" indent="0">
              <a:buNone/>
            </a:pPr>
            <a:r>
              <a:rPr lang="en-US" sz="105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txBox="1"/>
          <p:nvPr/>
        </p:nvSpPr>
        <p:spPr>
          <a:xfrm>
            <a:off x="1024128" y="2761488"/>
            <a:ext cx="5852160" cy="237744"/>
          </a:xfrm>
          <a:prstGeom prst="rect">
            <a:avLst/>
          </a:prstGeom>
          <a:noFill/>
          <a:ln/>
        </p:spPr>
        <p:txBody>
          <a:bodyPr wrap="square" lIns="0" tIns="0" rIns="0" bIns="0" rtlCol="0" anchor="ctr"/>
          <a:lstStyle/>
          <a:p>
            <a:pPr marL="0" indent="0">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Designate a primary engagement lead and the relevant working team</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txBox="1"/>
          <p:nvPr/>
        </p:nvSpPr>
        <p:spPr>
          <a:xfrm>
            <a:off x="777240" y="3108960"/>
            <a:ext cx="182880" cy="237744"/>
          </a:xfrm>
          <a:prstGeom prst="rect">
            <a:avLst/>
          </a:prstGeom>
          <a:noFill/>
          <a:ln/>
        </p:spPr>
        <p:txBody>
          <a:bodyPr wrap="square" lIns="0" tIns="0" rIns="0" bIns="0" rtlCol="0" anchor="ctr"/>
          <a:lstStyle/>
          <a:p>
            <a:pPr marL="0" indent="0">
              <a:buNone/>
            </a:pPr>
            <a:r>
              <a:rPr lang="en-US" sz="105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Text 11"/>
          <p:cNvSpPr txBox="1"/>
          <p:nvPr/>
        </p:nvSpPr>
        <p:spPr>
          <a:xfrm>
            <a:off x="1024128" y="3108960"/>
            <a:ext cx="5852160" cy="237744"/>
          </a:xfrm>
          <a:prstGeom prst="rect">
            <a:avLst/>
          </a:prstGeom>
          <a:noFill/>
          <a:ln/>
        </p:spPr>
        <p:txBody>
          <a:bodyPr wrap="square" lIns="0" tIns="0" rIns="0" bIns="0" rtlCol="0" anchor="ctr"/>
          <a:lstStyle/>
          <a:p>
            <a:pPr marL="0" indent="0">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Provide the user and seat list for any platform access included above</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txBox="1"/>
          <p:nvPr/>
        </p:nvSpPr>
        <p:spPr>
          <a:xfrm>
            <a:off x="777240" y="3456432"/>
            <a:ext cx="182880" cy="237744"/>
          </a:xfrm>
          <a:prstGeom prst="rect">
            <a:avLst/>
          </a:prstGeom>
          <a:noFill/>
          <a:ln/>
        </p:spPr>
        <p:txBody>
          <a:bodyPr wrap="square" lIns="0" tIns="0" rIns="0" bIns="0" rtlCol="0" anchor="ctr"/>
          <a:lstStyle/>
          <a:p>
            <a:pPr marL="0" indent="0">
              <a:buNone/>
            </a:pPr>
            <a:r>
              <a:rPr lang="en-US" sz="105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Text 13"/>
          <p:cNvSpPr txBox="1"/>
          <p:nvPr/>
        </p:nvSpPr>
        <p:spPr>
          <a:xfrm>
            <a:off x="1024128" y="3456432"/>
            <a:ext cx="5852160" cy="237744"/>
          </a:xfrm>
          <a:prstGeom prst="rect">
            <a:avLst/>
          </a:prstGeom>
          <a:noFill/>
          <a:ln/>
        </p:spPr>
        <p:txBody>
          <a:bodyPr wrap="square" lIns="0" tIns="0" rIns="0" bIns="0" rtlCol="0" anchor="ctr"/>
          <a:lstStyle/>
          <a:p>
            <a:pPr marL="0" indent="0">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Provide the inputs, priorities and decisions the agreed deliverables depend on</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txBox="1"/>
          <p:nvPr/>
        </p:nvSpPr>
        <p:spPr>
          <a:xfrm>
            <a:off x="777240" y="3803904"/>
            <a:ext cx="182880" cy="237744"/>
          </a:xfrm>
          <a:prstGeom prst="rect">
            <a:avLst/>
          </a:prstGeom>
          <a:noFill/>
          <a:ln/>
        </p:spPr>
        <p:txBody>
          <a:bodyPr wrap="square" lIns="0" tIns="0" rIns="0" bIns="0" rtlCol="0" anchor="ctr"/>
          <a:lstStyle/>
          <a:p>
            <a:pPr marL="0" indent="0">
              <a:buNone/>
            </a:pPr>
            <a:r>
              <a:rPr lang="en-US" sz="105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Text 15"/>
          <p:cNvSpPr txBox="1"/>
          <p:nvPr/>
        </p:nvSpPr>
        <p:spPr>
          <a:xfrm>
            <a:off x="1024128" y="3803904"/>
            <a:ext cx="5852160" cy="237744"/>
          </a:xfrm>
          <a:prstGeom prst="rect">
            <a:avLst/>
          </a:prstGeom>
          <a:noFill/>
          <a:ln/>
        </p:spPr>
        <p:txBody>
          <a:bodyPr wrap="square" lIns="0" tIns="0" rIns="0" bIns="0" rtlCol="0" anchor="ctr"/>
          <a:lstStyle/>
          <a:p>
            <a:pPr marL="0" indent="0">
              <a:buNone/>
            </a:pPr>
            <a:r>
              <a:rPr lang="en-US" sz="105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Give timely feedback and flag any research or validation standards that apply</a:t>
            </a:r>
            <a:endParaRPr lang="en-US" sz="10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txBox="1"/>
          <p:nvPr/>
        </p:nvSpPr>
        <p:spPr>
          <a:xfrm>
            <a:off x="777240" y="4425696"/>
            <a:ext cx="6217920" cy="182880"/>
          </a:xfrm>
          <a:prstGeom prst="rect">
            <a:avLst/>
          </a:prstGeom>
          <a:noFill/>
          <a:ln/>
        </p:spPr>
        <p:txBody>
          <a:bodyPr wrap="square" lIns="0" tIns="0" rIns="0" bIns="0" rtlCol="0" anchor="ctr"/>
          <a:lstStyle/>
          <a:p>
            <a:pPr marL="0" indent="0">
              <a:buNone/>
            </a:pPr>
            <a:r>
              <a:rPr lang="en-US" sz="850"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5.0   </a:t>
            </a:r>
            <a:r>
              <a:rPr lang="en-US" sz="850"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SCOPE CHANGES AND OUT OF SCOPE</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Text 17"/>
          <p:cNvSpPr txBox="1"/>
          <p:nvPr/>
        </p:nvSpPr>
        <p:spPr>
          <a:xfrm>
            <a:off x="777240" y="4700016"/>
            <a:ext cx="6217920" cy="1005840"/>
          </a:xfrm>
          <a:prstGeom prst="rect">
            <a:avLst/>
          </a:prstGeom>
          <a:noFill/>
          <a:ln/>
        </p:spPr>
        <p:txBody>
          <a:bodyPr wrap="square" lIns="0" tIns="0" rIns="0" bIns="0" rtlCol="0" anchor="t"/>
          <a:lstStyle/>
          <a:p>
            <a:pPr marL="0" indent="0">
              <a:lnSpc>
                <a:spcPct val="1320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Unless this SOW expressly includes them, additional analyses, deliverables, integrations, audience builds, data pulls and other services are out of scope. Any material change to scope, timing or fees must be agreed by both parties in writing before the additional work begins.</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txBox="1"/>
          <p:nvPr/>
        </p:nvSpPr>
        <p:spPr>
          <a:xfrm>
            <a:off x="777240" y="5797296"/>
            <a:ext cx="6217920" cy="182880"/>
          </a:xfrm>
          <a:prstGeom prst="rect">
            <a:avLst/>
          </a:prstGeom>
          <a:noFill/>
          <a:ln/>
        </p:spPr>
        <p:txBody>
          <a:bodyPr wrap="square" lIns="0" tIns="0" rIns="0" bIns="0" rtlCol="0" anchor="ctr"/>
          <a:lstStyle/>
          <a:p>
            <a:pPr marL="0" indent="0">
              <a:buNone/>
            </a:pPr>
            <a:r>
              <a:rPr lang="en-US" sz="850"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6.0   </a:t>
            </a:r>
            <a:r>
              <a:rPr lang="en-US" sz="850"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COMMERCIAL TERMS</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Shape 19"/>
          <p:cNvSpPr/>
          <p:nvPr/>
        </p:nvSpPr>
        <p:spPr>
          <a:xfrm>
            <a:off x="777240" y="6071616"/>
            <a:ext cx="6217920" cy="2304288"/>
          </a:xfrm>
          <a:prstGeom prst="roundRect">
            <a:avLst>
              <a:gd name="adj" fmla="val 3968"/>
            </a:avLst>
          </a:prstGeom>
          <a:solidFill>
            <a:srgbClr val="E1E0D7"/>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txBox="1"/>
          <p:nvPr/>
        </p:nvSpPr>
        <p:spPr>
          <a:xfrm>
            <a:off x="960120" y="6236208"/>
            <a:ext cx="1600200" cy="29260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Engagement fee</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Text 21"/>
          <p:cNvSpPr txBox="1"/>
          <p:nvPr/>
        </p:nvSpPr>
        <p:spPr>
          <a:xfrm>
            <a:off x="2697480" y="6236208"/>
            <a:ext cx="4023360" cy="292608"/>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[FEE]</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Shape 22"/>
          <p:cNvSpPr/>
          <p:nvPr/>
        </p:nvSpPr>
        <p:spPr>
          <a:xfrm>
            <a:off x="960120" y="6592824"/>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Text 23"/>
          <p:cNvSpPr txBox="1"/>
          <p:nvPr/>
        </p:nvSpPr>
        <p:spPr>
          <a:xfrm>
            <a:off x="960120" y="6656832"/>
            <a:ext cx="1600200" cy="29260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Term</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txBox="1"/>
          <p:nvPr/>
        </p:nvSpPr>
        <p:spPr>
          <a:xfrm>
            <a:off x="2697480" y="6656832"/>
            <a:ext cx="4023360" cy="292608"/>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[START AND END DATES]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Shape 25"/>
          <p:cNvSpPr/>
          <p:nvPr/>
        </p:nvSpPr>
        <p:spPr>
          <a:xfrm>
            <a:off x="960120" y="7013448"/>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txBox="1"/>
          <p:nvPr/>
        </p:nvSpPr>
        <p:spPr>
          <a:xfrm>
            <a:off x="960120" y="7077456"/>
            <a:ext cx="1600200" cy="29260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Payment terms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0" name="Text 27"/>
          <p:cNvSpPr txBox="1"/>
          <p:nvPr/>
        </p:nvSpPr>
        <p:spPr>
          <a:xfrm>
            <a:off x="2697480" y="7077456"/>
            <a:ext cx="4023360" cy="292608"/>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[PAYMENT TERMS]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1" name="Shape 28"/>
          <p:cNvSpPr/>
          <p:nvPr/>
        </p:nvSpPr>
        <p:spPr>
          <a:xfrm>
            <a:off x="960120" y="7434072"/>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2" name="Text 29"/>
          <p:cNvSpPr txBox="1"/>
          <p:nvPr/>
        </p:nvSpPr>
        <p:spPr>
          <a:xfrm>
            <a:off x="960120" y="7498080"/>
            <a:ext cx="1600200" cy="29260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Renewal or credit</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3" name="Text 30"/>
          <p:cNvSpPr txBox="1"/>
          <p:nvPr/>
        </p:nvSpPr>
        <p:spPr>
          <a:xfrm>
            <a:off x="2697480" y="7498080"/>
            <a:ext cx="4023360" cy="292608"/>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[IF APPLICABLE]</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4" name="Shape 31"/>
          <p:cNvSpPr/>
          <p:nvPr/>
        </p:nvSpPr>
        <p:spPr>
          <a:xfrm>
            <a:off x="960120" y="7854696"/>
            <a:ext cx="5852160" cy="5486"/>
          </a:xfrm>
          <a:prstGeom prst="rect">
            <a:avLst/>
          </a:prstGeom>
          <a:solidFill>
            <a:srgbClr val="D2D0C5"/>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5" name="Text 32"/>
          <p:cNvSpPr txBox="1"/>
          <p:nvPr/>
        </p:nvSpPr>
        <p:spPr>
          <a:xfrm>
            <a:off x="960120" y="7918704"/>
            <a:ext cx="1600200" cy="292608"/>
          </a:xfrm>
          <a:prstGeom prst="rect">
            <a:avLst/>
          </a:prstGeom>
          <a:noFill/>
          <a:ln/>
        </p:spPr>
        <p:txBody>
          <a:bodyPr wrap="square" lIns="0" tIns="0" rIns="0" bIns="0" rtlCol="0" anchor="ctr"/>
          <a:lstStyle/>
          <a:p>
            <a:pPr marL="0" indent="0">
              <a:buNone/>
            </a:pPr>
            <a:r>
              <a:rPr lang="en-US" sz="10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Additional terms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36" name="Text 33"/>
          <p:cNvSpPr txBox="1"/>
          <p:nvPr/>
        </p:nvSpPr>
        <p:spPr>
          <a:xfrm>
            <a:off x="2697480" y="7918704"/>
            <a:ext cx="4023360" cy="292608"/>
          </a:xfrm>
          <a:prstGeom prst="rect">
            <a:avLst/>
          </a:prstGeom>
          <a:noFill/>
          <a:ln/>
        </p:spPr>
        <p:txBody>
          <a:bodyPr wrap="square" lIns="0" tIns="0" rIns="0" bIns="0" rtlCol="0" anchor="ctr"/>
          <a:lstStyle/>
          <a:p>
            <a:pPr marL="0" indent="0">
              <a:lnSpc>
                <a:spcPct val="115000"/>
              </a:lnSpc>
              <a:buNone/>
            </a:pPr>
            <a:r>
              <a:rPr lang="en-US" sz="10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[ANY ENGAGEMENT-SPECIFIC COMMERCIAL TERMS]</a:t>
            </a:r>
            <a:endParaRPr lang="en-US" sz="1000" dirty="0">
              <a:latin typeface="Crosswalk Inter" panose="02000503000000020004" pitchFamily="34" charset="0"/>
              <a:ea typeface="Crosswalk Inter" panose="02000503000000020004" pitchFamily="34" charset="0"/>
              <a:cs typeface="Crosswalk Inter" panose="020005030000000200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8E2"/>
        </a:solidFill>
        <a:effectLst/>
      </p:bgPr>
    </p:bg>
    <p:spTree>
      <p:nvGrpSpPr>
        <p:cNvPr id="1" name=""/>
        <p:cNvGrpSpPr/>
        <p:nvPr/>
      </p:nvGrpSpPr>
      <p:grpSpPr>
        <a:xfrm>
          <a:off x="0" y="0"/>
          <a:ext cx="0" cy="0"/>
          <a:chOff x="0" y="0"/>
          <a:chExt cx="0" cy="0"/>
        </a:xfrm>
      </p:grpSpPr>
      <p:sp>
        <p:nvSpPr>
          <p:cNvPr id="2" name="Text 0"/>
          <p:cNvSpPr txBox="1"/>
          <p:nvPr/>
        </p:nvSpPr>
        <p:spPr>
          <a:xfrm>
            <a:off x="777240" y="530352"/>
            <a:ext cx="4206240" cy="201168"/>
          </a:xfrm>
          <a:prstGeom prst="rect">
            <a:avLst/>
          </a:prstGeom>
          <a:noFill/>
          <a:ln/>
        </p:spPr>
        <p:txBody>
          <a:bodyPr wrap="square" lIns="0" tIns="0" rIns="0" bIns="0" rtlCol="0" anchor="ctr"/>
          <a:lstStyle/>
          <a:p>
            <a:pPr marL="0" indent="0">
              <a:buNone/>
            </a:pPr>
            <a:r>
              <a:rPr lang="en-US" sz="750" kern="0" spc="1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GOVERNANCE AND ACCEPTANCE</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pic>
        <p:nvPicPr>
          <p:cNvPr id="3" name="Image 0" descr="preencoded.png"/>
          <p:cNvPicPr>
            <a:picLocks noChangeAspect="1"/>
          </p:cNvPicPr>
          <p:nvPr/>
        </p:nvPicPr>
        <p:blipFill>
          <a:blip r:embed="rId4"/>
          <a:stretch>
            <a:fillRect/>
          </a:stretch>
        </p:blipFill>
        <p:spPr>
          <a:xfrm>
            <a:off x="6062472" y="539623"/>
            <a:ext cx="932688" cy="118161"/>
          </a:xfrm>
          <a:prstGeom prst="rect">
            <a:avLst/>
          </a:prstGeom>
        </p:spPr>
      </p:pic>
      <p:sp>
        <p:nvSpPr>
          <p:cNvPr id="4" name="Shape 1"/>
          <p:cNvSpPr/>
          <p:nvPr/>
        </p:nvSpPr>
        <p:spPr>
          <a:xfrm>
            <a:off x="777240" y="868680"/>
            <a:ext cx="6217920" cy="7315"/>
          </a:xfrm>
          <a:prstGeom prst="rect">
            <a:avLst/>
          </a:prstGeom>
          <a:solidFill>
            <a:srgbClr val="C9C6BA"/>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5" name="Text 2"/>
          <p:cNvSpPr txBox="1"/>
          <p:nvPr/>
        </p:nvSpPr>
        <p:spPr>
          <a:xfrm>
            <a:off x="777240" y="9381744"/>
            <a:ext cx="4114800" cy="182880"/>
          </a:xfrm>
          <a:prstGeom prst="rect">
            <a:avLst/>
          </a:prstGeom>
          <a:noFill/>
          <a:ln/>
        </p:spPr>
        <p:txBody>
          <a:bodyPr wrap="square" lIns="0" tIns="0" rIns="0" bIns="0" rtlCol="0" anchor="ctr"/>
          <a:lstStyle/>
          <a:p>
            <a:pPr marL="0" indent="0">
              <a:buNone/>
            </a:pPr>
            <a:r>
              <a:rPr lang="en-US" sz="750" kern="0" spc="14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CROSSWALK / BEHAVIORAL INTELLIGENCE ENGINE</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6" name="Text 3"/>
          <p:cNvSpPr txBox="1"/>
          <p:nvPr/>
        </p:nvSpPr>
        <p:spPr>
          <a:xfrm>
            <a:off x="6080760" y="9381744"/>
            <a:ext cx="914400" cy="182880"/>
          </a:xfrm>
          <a:prstGeom prst="rect">
            <a:avLst/>
          </a:prstGeom>
          <a:noFill/>
          <a:ln/>
        </p:spPr>
        <p:txBody>
          <a:bodyPr wrap="square" lIns="0" tIns="0" rIns="0" bIns="0" rtlCol="0" anchor="ctr"/>
          <a:lstStyle/>
          <a:p>
            <a:pPr marL="0" indent="0" algn="r">
              <a:buNone/>
            </a:pPr>
            <a:fld id="{279EDB75-2C60-4667-BE09-CE907F1FDFE1}" type="slidenum">
              <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5</a:t>
            </a:fld>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7" name="Shape 4"/>
          <p:cNvSpPr/>
          <p:nvPr/>
        </p:nvSpPr>
        <p:spPr>
          <a:xfrm>
            <a:off x="777240" y="1165860"/>
            <a:ext cx="64008" cy="64008"/>
          </a:xfrm>
          <a:prstGeom prst="ellipse">
            <a:avLst/>
          </a:prstGeom>
          <a:solidFill>
            <a:srgbClr val="5E7E12"/>
          </a:solidFill>
          <a:ln/>
        </p:spPr>
        <p:txBody>
          <a:bodyPr/>
          <a:lstStyle/>
          <a:p>
            <a:endParaRPr lang="en-US">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8" name="Text 5"/>
          <p:cNvSpPr txBox="1"/>
          <p:nvPr/>
        </p:nvSpPr>
        <p:spPr>
          <a:xfrm>
            <a:off x="960120" y="1097280"/>
            <a:ext cx="5120640" cy="201168"/>
          </a:xfrm>
          <a:prstGeom prst="rect">
            <a:avLst/>
          </a:prstGeom>
          <a:noFill/>
          <a:ln/>
        </p:spPr>
        <p:txBody>
          <a:bodyPr wrap="square" lIns="0" tIns="0" rIns="0" bIns="0" rtlCol="0" anchor="ctr"/>
          <a:lstStyle/>
          <a:p>
            <a:pPr marL="0" indent="0">
              <a:buNone/>
            </a:pPr>
            <a:r>
              <a:rPr lang="en-US" sz="850" kern="0" spc="18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SECTIONS 7 AND 8</a:t>
            </a:r>
            <a:endParaRPr lang="en-US" sz="8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9" name="Text 6"/>
          <p:cNvSpPr txBox="1"/>
          <p:nvPr/>
        </p:nvSpPr>
        <p:spPr>
          <a:xfrm>
            <a:off x="777240" y="1481328"/>
            <a:ext cx="4114800" cy="868680"/>
          </a:xfrm>
          <a:prstGeom prst="rect">
            <a:avLst/>
          </a:prstGeom>
          <a:noFill/>
          <a:ln/>
        </p:spPr>
        <p:txBody>
          <a:bodyPr wrap="square" lIns="0" tIns="0" rIns="0" bIns="0" rtlCol="0" anchor="t"/>
          <a:lstStyle/>
          <a:p>
            <a:pPr marL="0" indent="0">
              <a:lnSpc>
                <a:spcPct val="114000"/>
              </a:lnSpc>
              <a:buNone/>
            </a:pPr>
            <a:r>
              <a:rPr lang="en-US" sz="2300" b="1"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The governing agreement,</a:t>
            </a:r>
            <a:r>
              <a:rPr lang="en-US" sz="2300" kern="0" spc="-3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 </a:t>
            </a:r>
            <a:r>
              <a:rPr lang="en-US" sz="2300" kern="0" spc="-30" dirty="0">
                <a:solidFill>
                  <a:srgbClr val="0C1618"/>
                </a:solidFill>
                <a:latin typeface="Crosswalk Inter Light" panose="02000503000000020004" pitchFamily="34" charset="0"/>
                <a:ea typeface="Crosswalk Inter Light" panose="02000503000000020004" pitchFamily="34" charset="0"/>
                <a:cs typeface="Crosswalk Inter Light" panose="02000503000000020004" pitchFamily="34" charset="0"/>
              </a:rPr>
              <a:t>and signatures.</a:t>
            </a:r>
            <a:endParaRPr lang="en-US" sz="2300" dirty="0">
              <a:latin typeface="Crosswalk Inter Light" panose="02000503000000020004" pitchFamily="34" charset="0"/>
              <a:ea typeface="Crosswalk Inter Light" panose="02000503000000020004" pitchFamily="34" charset="0"/>
              <a:cs typeface="Crosswalk Inter Light" panose="02000503000000020004" pitchFamily="34" charset="0"/>
            </a:endParaRPr>
          </a:p>
        </p:txBody>
      </p:sp>
      <p:sp>
        <p:nvSpPr>
          <p:cNvPr id="10" name="Text 7"/>
          <p:cNvSpPr txBox="1"/>
          <p:nvPr/>
        </p:nvSpPr>
        <p:spPr>
          <a:xfrm>
            <a:off x="777240" y="2450592"/>
            <a:ext cx="6217920" cy="182880"/>
          </a:xfrm>
          <a:prstGeom prst="rect">
            <a:avLst/>
          </a:prstGeom>
          <a:noFill/>
          <a:ln/>
        </p:spPr>
        <p:txBody>
          <a:bodyPr wrap="square" lIns="0" tIns="0" rIns="0" bIns="0" rtlCol="0" anchor="ctr"/>
          <a:lstStyle/>
          <a:p>
            <a:pPr marL="0" indent="0">
              <a:buNone/>
            </a:pPr>
            <a:r>
              <a:rPr lang="en-US" sz="850"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7.0   </a:t>
            </a:r>
            <a:r>
              <a:rPr lang="en-US" sz="850"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GOVERNING AGREEMENT, CONFIDENTIALITY AND DATA USE</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1" name="Text 8"/>
          <p:cNvSpPr txBox="1"/>
          <p:nvPr/>
        </p:nvSpPr>
        <p:spPr>
          <a:xfrm>
            <a:off x="777240" y="2724912"/>
            <a:ext cx="6217920" cy="1371600"/>
          </a:xfrm>
          <a:prstGeom prst="rect">
            <a:avLst/>
          </a:prstGeom>
          <a:noFill/>
          <a:ln/>
        </p:spPr>
        <p:txBody>
          <a:bodyPr wrap="square" lIns="0" tIns="0" rIns="0" bIns="0" rtlCol="0" anchor="t"/>
          <a:lstStyle/>
          <a:p>
            <a:pPr marL="0" indent="0">
              <a:lnSpc>
                <a:spcPct val="1320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This SOW is subject to the Master Services Agreement between Crosswalk Technologies and [CLIENT NAME] dated [DATE], including its confidentiality, intellectual property, privacy and data use, termination, liability and governing law terms. If no MSA is in place, the parties will separately agree applicable legal terms in writing. Where the two conflict, the MSA governs unless this SOW expressly states otherwise.</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2" name="Text 9"/>
          <p:cNvSpPr txBox="1"/>
          <p:nvPr/>
        </p:nvSpPr>
        <p:spPr>
          <a:xfrm>
            <a:off x="777240" y="4370832"/>
            <a:ext cx="6217920" cy="182880"/>
          </a:xfrm>
          <a:prstGeom prst="rect">
            <a:avLst/>
          </a:prstGeom>
          <a:noFill/>
          <a:ln/>
        </p:spPr>
        <p:txBody>
          <a:bodyPr wrap="square" lIns="0" tIns="0" rIns="0" bIns="0" rtlCol="0" anchor="ctr"/>
          <a:lstStyle/>
          <a:p>
            <a:pPr marL="0" indent="0">
              <a:buNone/>
            </a:pPr>
            <a:r>
              <a:rPr lang="en-US" sz="850" kern="0" spc="100" dirty="0">
                <a:solidFill>
                  <a:srgbClr val="5E7E12"/>
                </a:solidFill>
                <a:latin typeface="Crosswalk Inter" panose="02000503000000020004" pitchFamily="34" charset="0"/>
                <a:ea typeface="Crosswalk Inter" panose="02000503000000020004" pitchFamily="34" charset="0"/>
                <a:cs typeface="Crosswalk Inter" panose="02000503000000020004" pitchFamily="34" charset="0"/>
              </a:rPr>
              <a:t>8.0   </a:t>
            </a:r>
            <a:r>
              <a:rPr lang="en-US" sz="850" kern="0" spc="100" dirty="0">
                <a:solidFill>
                  <a:srgbClr val="0C1618"/>
                </a:solidFill>
                <a:latin typeface="Crosswalk Inter" panose="02000503000000020004" pitchFamily="34" charset="0"/>
                <a:ea typeface="Crosswalk Inter" panose="02000503000000020004" pitchFamily="34" charset="0"/>
                <a:cs typeface="Crosswalk Inter" panose="02000503000000020004" pitchFamily="34" charset="0"/>
              </a:rPr>
              <a:t>ACCEPTANCE</a:t>
            </a:r>
            <a:endParaRPr lang="en-US" sz="85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3" name="Text 10"/>
          <p:cNvSpPr txBox="1"/>
          <p:nvPr/>
        </p:nvSpPr>
        <p:spPr>
          <a:xfrm>
            <a:off x="777240" y="4645152"/>
            <a:ext cx="6217920" cy="457200"/>
          </a:xfrm>
          <a:prstGeom prst="rect">
            <a:avLst/>
          </a:prstGeom>
          <a:noFill/>
          <a:ln/>
        </p:spPr>
        <p:txBody>
          <a:bodyPr wrap="square" lIns="0" tIns="0" rIns="0" bIns="0" rtlCol="0" anchor="t"/>
          <a:lstStyle/>
          <a:p>
            <a:pPr marL="0" indent="0">
              <a:lnSpc>
                <a:spcPct val="132000"/>
              </a:lnSpc>
              <a:buNone/>
            </a:pPr>
            <a:r>
              <a:rPr lang="en-US" sz="1100" dirty="0">
                <a:solidFill>
                  <a:srgbClr val="5C6560"/>
                </a:solidFill>
                <a:latin typeface="Crosswalk Inter" panose="02000503000000020004" pitchFamily="34" charset="0"/>
                <a:ea typeface="Crosswalk Inter" panose="02000503000000020004" pitchFamily="34" charset="0"/>
                <a:cs typeface="Crosswalk Inter" panose="02000503000000020004" pitchFamily="34" charset="0"/>
              </a:rPr>
              <a:t>By signing below, both parties accept the scope, deliverables, platform access, timing and commercial terms set out in this Statement of Work.</a:t>
            </a:r>
            <a:endParaRPr lang="en-US" sz="1100" dirty="0">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4" name="Shape 11"/>
          <p:cNvSpPr/>
          <p:nvPr/>
        </p:nvSpPr>
        <p:spPr>
          <a:xfrm>
            <a:off x="777240" y="5349240"/>
            <a:ext cx="3017520" cy="1737360"/>
          </a:xfrm>
          <a:prstGeom prst="roundRect">
            <a:avLst>
              <a:gd name="adj" fmla="val 4737"/>
            </a:avLst>
          </a:prstGeom>
          <a:solidFill>
            <a:srgbClr val="E1E0D7"/>
          </a:solidFill>
          <a:ln/>
        </p:spPr>
        <p:txBody>
          <a:bodyPr/>
          <a:lstStyle/>
          <a:p>
            <a:endParaRPr lang="en-US">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5" name="Text 12"/>
          <p:cNvSpPr txBox="1"/>
          <p:nvPr/>
        </p:nvSpPr>
        <p:spPr>
          <a:xfrm>
            <a:off x="996696" y="5532120"/>
            <a:ext cx="2606040" cy="182880"/>
          </a:xfrm>
          <a:prstGeom prst="rect">
            <a:avLst/>
          </a:prstGeom>
          <a:noFill/>
          <a:ln/>
        </p:spPr>
        <p:txBody>
          <a:bodyPr wrap="square" lIns="0" tIns="0" rIns="0" bIns="0" rtlCol="0" anchor="ctr"/>
          <a:lstStyle/>
          <a:p>
            <a:pPr marL="0" indent="0">
              <a:buNone/>
            </a:pPr>
            <a:r>
              <a:rPr lang="en-US" sz="750" kern="0" spc="13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CROSSWALK TECHNOLOGIES</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6" name="Shape 13"/>
          <p:cNvSpPr/>
          <p:nvPr/>
        </p:nvSpPr>
        <p:spPr>
          <a:xfrm>
            <a:off x="996696" y="6190488"/>
            <a:ext cx="2578608" cy="5486"/>
          </a:xfrm>
          <a:prstGeom prst="rect">
            <a:avLst/>
          </a:prstGeom>
          <a:solidFill>
            <a:srgbClr val="B9B7AC"/>
          </a:solidFill>
          <a:ln/>
        </p:spPr>
        <p:txBody>
          <a:bodyPr/>
          <a:lstStyle/>
          <a:p>
            <a:endParaRPr lang="en-US">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7" name="Text 14"/>
          <p:cNvSpPr txBox="1"/>
          <p:nvPr/>
        </p:nvSpPr>
        <p:spPr>
          <a:xfrm>
            <a:off x="996696" y="6236208"/>
            <a:ext cx="1828800" cy="164592"/>
          </a:xfrm>
          <a:prstGeom prst="rect">
            <a:avLst/>
          </a:prstGeom>
          <a:noFill/>
          <a:ln/>
        </p:spPr>
        <p:txBody>
          <a:bodyPr wrap="square" lIns="0" tIns="0" rIns="0" bIns="0" rtlCol="0" anchor="ctr"/>
          <a:lstStyle/>
          <a:p>
            <a:pPr marL="0" indent="0">
              <a:buNone/>
            </a:pPr>
            <a:r>
              <a:rPr lang="en-US" sz="700" kern="0" spc="12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NAME AND TITLE</a:t>
            </a:r>
            <a:endParaRPr lang="en-US" sz="7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8" name="Shape 15"/>
          <p:cNvSpPr/>
          <p:nvPr/>
        </p:nvSpPr>
        <p:spPr>
          <a:xfrm>
            <a:off x="996696" y="6739128"/>
            <a:ext cx="1691640" cy="5486"/>
          </a:xfrm>
          <a:prstGeom prst="rect">
            <a:avLst/>
          </a:prstGeom>
          <a:solidFill>
            <a:srgbClr val="B9B7AC"/>
          </a:solidFill>
          <a:ln/>
        </p:spPr>
        <p:txBody>
          <a:bodyPr/>
          <a:lstStyle/>
          <a:p>
            <a:endParaRPr lang="en-US">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19" name="Text 16"/>
          <p:cNvSpPr txBox="1"/>
          <p:nvPr/>
        </p:nvSpPr>
        <p:spPr>
          <a:xfrm>
            <a:off x="996696" y="6784848"/>
            <a:ext cx="1463040" cy="164592"/>
          </a:xfrm>
          <a:prstGeom prst="rect">
            <a:avLst/>
          </a:prstGeom>
          <a:noFill/>
          <a:ln/>
        </p:spPr>
        <p:txBody>
          <a:bodyPr wrap="square" lIns="0" tIns="0" rIns="0" bIns="0" rtlCol="0" anchor="ctr"/>
          <a:lstStyle/>
          <a:p>
            <a:pPr marL="0" indent="0">
              <a:buNone/>
            </a:pPr>
            <a:r>
              <a:rPr lang="en-US" sz="700" kern="0" spc="12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SIGNATURE</a:t>
            </a:r>
            <a:endParaRPr lang="en-US" sz="7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0" name="Shape 17"/>
          <p:cNvSpPr/>
          <p:nvPr/>
        </p:nvSpPr>
        <p:spPr>
          <a:xfrm>
            <a:off x="2779776" y="6739128"/>
            <a:ext cx="795528" cy="5486"/>
          </a:xfrm>
          <a:prstGeom prst="rect">
            <a:avLst/>
          </a:prstGeom>
          <a:solidFill>
            <a:srgbClr val="B9B7AC"/>
          </a:solidFill>
          <a:ln/>
        </p:spPr>
        <p:txBody>
          <a:bodyPr/>
          <a:lstStyle/>
          <a:p>
            <a:endParaRPr lang="en-US">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1" name="Text 18"/>
          <p:cNvSpPr txBox="1"/>
          <p:nvPr/>
        </p:nvSpPr>
        <p:spPr>
          <a:xfrm>
            <a:off x="2779776" y="6784848"/>
            <a:ext cx="795528" cy="164592"/>
          </a:xfrm>
          <a:prstGeom prst="rect">
            <a:avLst/>
          </a:prstGeom>
          <a:noFill/>
          <a:ln/>
        </p:spPr>
        <p:txBody>
          <a:bodyPr wrap="square" lIns="0" tIns="0" rIns="0" bIns="0" rtlCol="0" anchor="ctr"/>
          <a:lstStyle/>
          <a:p>
            <a:pPr marL="0" indent="0">
              <a:buNone/>
            </a:pPr>
            <a:r>
              <a:rPr lang="en-US" sz="700" kern="0" spc="12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DATE</a:t>
            </a:r>
            <a:endParaRPr lang="en-US" sz="7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2" name="Shape 19"/>
          <p:cNvSpPr/>
          <p:nvPr/>
        </p:nvSpPr>
        <p:spPr>
          <a:xfrm>
            <a:off x="3977640" y="5349240"/>
            <a:ext cx="3017520" cy="1737360"/>
          </a:xfrm>
          <a:prstGeom prst="roundRect">
            <a:avLst>
              <a:gd name="adj" fmla="val 4737"/>
            </a:avLst>
          </a:prstGeom>
          <a:solidFill>
            <a:srgbClr val="E1E0D7"/>
          </a:solidFill>
          <a:ln/>
        </p:spPr>
        <p:txBody>
          <a:bodyPr/>
          <a:lstStyle/>
          <a:p>
            <a:endParaRPr lang="en-US">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3" name="Text 20"/>
          <p:cNvSpPr txBox="1"/>
          <p:nvPr/>
        </p:nvSpPr>
        <p:spPr>
          <a:xfrm>
            <a:off x="4197096" y="5532120"/>
            <a:ext cx="2606040" cy="182880"/>
          </a:xfrm>
          <a:prstGeom prst="rect">
            <a:avLst/>
          </a:prstGeom>
          <a:noFill/>
          <a:ln/>
        </p:spPr>
        <p:txBody>
          <a:bodyPr wrap="square" lIns="0" tIns="0" rIns="0" bIns="0" rtlCol="0" anchor="ctr"/>
          <a:lstStyle/>
          <a:p>
            <a:pPr marL="0" indent="0">
              <a:buNone/>
            </a:pPr>
            <a:r>
              <a:rPr lang="en-US" sz="750" kern="0" spc="13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[CLIENT NAME]</a:t>
            </a:r>
            <a:endParaRPr lang="en-US" sz="75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4" name="Shape 21"/>
          <p:cNvSpPr/>
          <p:nvPr/>
        </p:nvSpPr>
        <p:spPr>
          <a:xfrm>
            <a:off x="4197096" y="6190488"/>
            <a:ext cx="2578608" cy="5486"/>
          </a:xfrm>
          <a:prstGeom prst="rect">
            <a:avLst/>
          </a:prstGeom>
          <a:solidFill>
            <a:srgbClr val="B9B7AC"/>
          </a:solidFill>
          <a:ln/>
        </p:spPr>
        <p:txBody>
          <a:bodyPr/>
          <a:lstStyle/>
          <a:p>
            <a:endParaRPr lang="en-US">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5" name="Text 22"/>
          <p:cNvSpPr txBox="1"/>
          <p:nvPr/>
        </p:nvSpPr>
        <p:spPr>
          <a:xfrm>
            <a:off x="4197096" y="6236208"/>
            <a:ext cx="1828800" cy="164592"/>
          </a:xfrm>
          <a:prstGeom prst="rect">
            <a:avLst/>
          </a:prstGeom>
          <a:noFill/>
          <a:ln/>
        </p:spPr>
        <p:txBody>
          <a:bodyPr wrap="square" lIns="0" tIns="0" rIns="0" bIns="0" rtlCol="0" anchor="ctr"/>
          <a:lstStyle/>
          <a:p>
            <a:pPr marL="0" indent="0">
              <a:buNone/>
            </a:pPr>
            <a:r>
              <a:rPr lang="en-US" sz="700" kern="0" spc="12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NAME AND TITLE</a:t>
            </a:r>
            <a:endParaRPr lang="en-US" sz="7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6" name="Shape 23"/>
          <p:cNvSpPr/>
          <p:nvPr/>
        </p:nvSpPr>
        <p:spPr>
          <a:xfrm>
            <a:off x="4197096" y="6739128"/>
            <a:ext cx="1691640" cy="5486"/>
          </a:xfrm>
          <a:prstGeom prst="rect">
            <a:avLst/>
          </a:prstGeom>
          <a:solidFill>
            <a:srgbClr val="B9B7AC"/>
          </a:solidFill>
          <a:ln/>
        </p:spPr>
        <p:txBody>
          <a:bodyPr/>
          <a:lstStyle/>
          <a:p>
            <a:endParaRPr lang="en-US">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7" name="Text 24"/>
          <p:cNvSpPr txBox="1"/>
          <p:nvPr/>
        </p:nvSpPr>
        <p:spPr>
          <a:xfrm>
            <a:off x="4197096" y="6784848"/>
            <a:ext cx="1463040" cy="164592"/>
          </a:xfrm>
          <a:prstGeom prst="rect">
            <a:avLst/>
          </a:prstGeom>
          <a:noFill/>
          <a:ln/>
        </p:spPr>
        <p:txBody>
          <a:bodyPr wrap="square" lIns="0" tIns="0" rIns="0" bIns="0" rtlCol="0" anchor="ctr"/>
          <a:lstStyle/>
          <a:p>
            <a:pPr marL="0" indent="0">
              <a:buNone/>
            </a:pPr>
            <a:r>
              <a:rPr lang="en-US" sz="700" kern="0" spc="12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SIGNATURE</a:t>
            </a:r>
            <a:endParaRPr lang="en-US" sz="7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8" name="Shape 25"/>
          <p:cNvSpPr/>
          <p:nvPr/>
        </p:nvSpPr>
        <p:spPr>
          <a:xfrm>
            <a:off x="5980176" y="6739128"/>
            <a:ext cx="795528" cy="5486"/>
          </a:xfrm>
          <a:prstGeom prst="rect">
            <a:avLst/>
          </a:prstGeom>
          <a:solidFill>
            <a:srgbClr val="B9B7AC"/>
          </a:solidFill>
          <a:ln/>
        </p:spPr>
        <p:txBody>
          <a:bodyPr/>
          <a:lstStyle/>
          <a:p>
            <a:endParaRPr lang="en-US">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
        <p:nvSpPr>
          <p:cNvPr id="29" name="Text 26"/>
          <p:cNvSpPr txBox="1"/>
          <p:nvPr/>
        </p:nvSpPr>
        <p:spPr>
          <a:xfrm>
            <a:off x="5980176" y="6784848"/>
            <a:ext cx="795528" cy="164592"/>
          </a:xfrm>
          <a:prstGeom prst="rect">
            <a:avLst/>
          </a:prstGeom>
          <a:noFill/>
          <a:ln/>
        </p:spPr>
        <p:txBody>
          <a:bodyPr wrap="square" lIns="0" tIns="0" rIns="0" bIns="0" rtlCol="0" anchor="ctr"/>
          <a:lstStyle/>
          <a:p>
            <a:pPr marL="0" indent="0">
              <a:buNone/>
            </a:pPr>
            <a:r>
              <a:rPr lang="en-US" sz="700" kern="0" spc="12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rPr>
              <a:t>DATE</a:t>
            </a:r>
            <a:endParaRPr lang="en-US" sz="700" dirty="0">
              <a:solidFill>
                <a:srgbClr val="777A77"/>
              </a:solidFill>
              <a:latin typeface="Crosswalk Inter" panose="02000503000000020004" pitchFamily="34" charset="0"/>
              <a:ea typeface="Crosswalk Inter" panose="02000503000000020004" pitchFamily="34" charset="0"/>
              <a:cs typeface="Crosswalk Inter" panose="020005030000000200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rosswalk Inter" panose="02000503000000020004"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rosswalk Inter" panose="02000503000000020004"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rosswalk Inter" panose="02000503000000020004"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rosswalk Inter" panose="02000503000000020004"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875</Words>
  <Application>Microsoft Macintosh PowerPoint</Application>
  <PresentationFormat>Custom</PresentationFormat>
  <Paragraphs>138</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Crosswalk Inter</vt:lpstr>
      <vt:lpstr>Crosswalk Inter Light</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Keith Friedenberg</cp:lastModifiedBy>
  <cp:revision>6</cp:revision>
  <dcterms:created xsi:type="dcterms:W3CDTF">2026-09-14T20:09:58Z</dcterms:created>
  <dcterms:modified xsi:type="dcterms:W3CDTF">2026-09-22T21:31:54Z</dcterms:modified>
</cp:coreProperties>
</file>