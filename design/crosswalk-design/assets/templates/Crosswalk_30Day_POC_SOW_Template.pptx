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embedTrueTypeFonts="1" saveSubsetFonts="0">
  <p:sldMasterIdLst>
    <p:sldMasterId id="2147483648" r:id="rId1"/>
  </p:sldMasterIdLst>
  <p:notesMasterIdLst>
    <p:notesMasterId r:id="rId17"/>
  </p:notesMasterIdLst>
  <p:sldIdLst>
    <p:sldId id="271"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7772400" cy="10058400"/>
  <p:notesSz cx="10058400"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6466"/>
    <a:srgbClr val="888C89"/>
    <a:srgbClr val="EAE8E2"/>
    <a:srgbClr val="0B16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87"/>
    <p:restoredTop sz="94610"/>
  </p:normalViewPr>
  <p:slideViewPr>
    <p:cSldViewPr snapToGrid="0" snapToObjects="1">
      <p:cViewPr>
        <p:scale>
          <a:sx n="57" d="100"/>
          <a:sy n="57" d="100"/>
        </p:scale>
        <p:origin x="4096" y="1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4988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00E04-DD89-9910-0651-3B95662208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502EDA-2B96-0629-A414-3814DDBCB1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AFE4B7-AABE-99E5-3B4A-14AAA3EB8281}"/>
              </a:ext>
            </a:extLst>
          </p:cNvPr>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a:extLst>
              <a:ext uri="{FF2B5EF4-FFF2-40B4-BE49-F238E27FC236}">
                <a16:creationId xmlns:a16="http://schemas.microsoft.com/office/drawing/2014/main" id="{80B626D3-3BFF-06C3-485D-CF35AD5DF013}"/>
              </a:ext>
            </a:extLst>
          </p:cNvPr>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1</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2551494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2</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3</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4</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5</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6</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7</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8</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9</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10</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11</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12</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13</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14</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15</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9pPr>
    </p:bodyStyle>
    <p:otherStyle>
      <a:defPPr>
        <a:defRPr lang="en-US">
          <a:latin typeface="Crosswalk Inter" panose="02000503000000020004" pitchFamily="34" charset="0"/>
          <a:ea typeface="Crosswalk Inter" panose="02000503000000020004" pitchFamily="34" charset="0"/>
          <a:cs typeface="Crosswalk Inter" panose="02000503000000020004" pitchFamily="34" charset="0"/>
        </a:defRPr>
      </a:defPPr>
      <a:lvl1pPr marL="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a:lvl2pPr marL="457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2pPr>
      <a:lvl3pPr marL="914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3pPr>
      <a:lvl4pPr marL="1371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4pPr>
      <a:lvl5pPr marL="18288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5pPr>
      <a:lvl6pPr marL="22860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6pPr>
      <a:lvl7pPr marL="2743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7pPr>
      <a:lvl8pPr marL="3200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8pPr>
      <a:lvl9pPr marL="3657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617"/>
        </a:solidFill>
        <a:effectLst/>
      </p:bgPr>
    </p:bg>
    <p:spTree>
      <p:nvGrpSpPr>
        <p:cNvPr id="1" name="">
          <a:extLst>
            <a:ext uri="{FF2B5EF4-FFF2-40B4-BE49-F238E27FC236}">
              <a16:creationId xmlns:a16="http://schemas.microsoft.com/office/drawing/2014/main" id="{A570A41A-C8B9-9DF8-3BE3-FFF561B4A826}"/>
            </a:ext>
          </a:extLst>
        </p:cNvPr>
        <p:cNvGrpSpPr/>
        <p:nvPr/>
      </p:nvGrpSpPr>
      <p:grpSpPr>
        <a:xfrm>
          <a:off x="0" y="0"/>
          <a:ext cx="0" cy="0"/>
          <a:chOff x="0" y="0"/>
          <a:chExt cx="0" cy="0"/>
        </a:xfrm>
      </p:grpSpPr>
      <p:pic>
        <p:nvPicPr>
          <p:cNvPr id="3" name="Image 0" descr="logo_light.png">
            <a:extLst>
              <a:ext uri="{FF2B5EF4-FFF2-40B4-BE49-F238E27FC236}">
                <a16:creationId xmlns:a16="http://schemas.microsoft.com/office/drawing/2014/main" id="{5861FF31-2CA5-A405-C041-F69F3F39DA6B}"/>
              </a:ext>
            </a:extLst>
          </p:cNvPr>
          <p:cNvPicPr>
            <a:picLocks noChangeAspect="1"/>
          </p:cNvPicPr>
          <p:nvPr/>
        </p:nvPicPr>
        <p:blipFill>
          <a:blip r:embed="rId4"/>
          <a:stretch>
            <a:fillRect/>
          </a:stretch>
        </p:blipFill>
        <p:spPr>
          <a:xfrm>
            <a:off x="777240" y="794289"/>
            <a:ext cx="1737360" cy="220105"/>
          </a:xfrm>
          <a:prstGeom prst="rect">
            <a:avLst/>
          </a:prstGeom>
        </p:spPr>
      </p:pic>
      <p:sp>
        <p:nvSpPr>
          <p:cNvPr id="4" name="Shape 1">
            <a:extLst>
              <a:ext uri="{FF2B5EF4-FFF2-40B4-BE49-F238E27FC236}">
                <a16:creationId xmlns:a16="http://schemas.microsoft.com/office/drawing/2014/main" id="{520F0D47-FE1C-B61E-59D5-A9DA01350C85}"/>
              </a:ext>
            </a:extLst>
          </p:cNvPr>
          <p:cNvSpPr/>
          <p:nvPr/>
        </p:nvSpPr>
        <p:spPr>
          <a:xfrm>
            <a:off x="777240" y="1399032"/>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8" name="Text 15">
            <a:extLst>
              <a:ext uri="{FF2B5EF4-FFF2-40B4-BE49-F238E27FC236}">
                <a16:creationId xmlns:a16="http://schemas.microsoft.com/office/drawing/2014/main" id="{59BB3E5E-6E31-6A78-58D5-CBC4EC62E582}"/>
              </a:ext>
            </a:extLst>
          </p:cNvPr>
          <p:cNvSpPr/>
          <p:nvPr/>
        </p:nvSpPr>
        <p:spPr>
          <a:xfrm>
            <a:off x="777240" y="9400032"/>
            <a:ext cx="2743200" cy="201168"/>
          </a:xfrm>
          <a:prstGeom prst="rect">
            <a:avLst/>
          </a:prstGeom>
          <a:noFill/>
          <a:ln/>
        </p:spPr>
        <p:txBody>
          <a:bodyPr wrap="square" lIns="0" tIns="0" rIns="0" bIns="0" rtlCol="0" anchor="t"/>
          <a:lstStyle/>
          <a:p>
            <a:pPr marL="0" indent="0">
              <a:buNone/>
            </a:pPr>
            <a:r>
              <a:rPr lang="en-US" sz="800" kern="0" spc="13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CONFIDENTIAL</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9" name="Text 16">
            <a:extLst>
              <a:ext uri="{FF2B5EF4-FFF2-40B4-BE49-F238E27FC236}">
                <a16:creationId xmlns:a16="http://schemas.microsoft.com/office/drawing/2014/main" id="{E5827555-3FB4-9C28-9D33-9514A75B9455}"/>
              </a:ext>
            </a:extLst>
          </p:cNvPr>
          <p:cNvSpPr/>
          <p:nvPr/>
        </p:nvSpPr>
        <p:spPr>
          <a:xfrm>
            <a:off x="4251960" y="9400032"/>
            <a:ext cx="2743200" cy="201168"/>
          </a:xfrm>
          <a:prstGeom prst="rect">
            <a:avLst/>
          </a:prstGeom>
          <a:noFill/>
          <a:ln/>
        </p:spPr>
        <p:txBody>
          <a:bodyPr wrap="square" lIns="0" tIns="0" rIns="0" bIns="0" rtlCol="0" anchor="t"/>
          <a:lstStyle/>
          <a:p>
            <a:pPr marL="0" indent="0" algn="r">
              <a:buNone/>
            </a:pPr>
            <a:r>
              <a:rPr lang="en-US" sz="800" kern="0" spc="130" dirty="0">
                <a:solidFill>
                  <a:srgbClr val="C7F23E"/>
                </a:solidFill>
                <a:latin typeface="Crosswalk Inter" panose="02000503000000020004" pitchFamily="34" charset="0"/>
                <a:ea typeface="Crosswalk Inter" panose="02000503000000020004" pitchFamily="34" charset="0"/>
                <a:cs typeface="Crosswalk Inter" panose="02000503000000020004" pitchFamily="34" charset="0"/>
              </a:rPr>
              <a:t>PROPOSAL  ·  [MONTH YEAR]</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5" name="Shape 2">
            <a:extLst>
              <a:ext uri="{FF2B5EF4-FFF2-40B4-BE49-F238E27FC236}">
                <a16:creationId xmlns:a16="http://schemas.microsoft.com/office/drawing/2014/main" id="{968E64EB-FD5A-9041-735C-4F36970D6092}"/>
              </a:ext>
            </a:extLst>
          </p:cNvPr>
          <p:cNvSpPr/>
          <p:nvPr/>
        </p:nvSpPr>
        <p:spPr>
          <a:xfrm>
            <a:off x="777240" y="3771900"/>
            <a:ext cx="64008" cy="64008"/>
          </a:xfrm>
          <a:prstGeom prst="ellipse">
            <a:avLst/>
          </a:prstGeom>
          <a:solidFill>
            <a:srgbClr val="C7F23E"/>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6" name="Text 3">
            <a:extLst>
              <a:ext uri="{FF2B5EF4-FFF2-40B4-BE49-F238E27FC236}">
                <a16:creationId xmlns:a16="http://schemas.microsoft.com/office/drawing/2014/main" id="{8D62D188-EF2D-E503-2800-9D6BF5A569E1}"/>
              </a:ext>
            </a:extLst>
          </p:cNvPr>
          <p:cNvSpPr/>
          <p:nvPr/>
        </p:nvSpPr>
        <p:spPr>
          <a:xfrm>
            <a:off x="960120" y="3706040"/>
            <a:ext cx="5120640" cy="201168"/>
          </a:xfrm>
          <a:prstGeom prst="rect">
            <a:avLst/>
          </a:prstGeom>
          <a:noFill/>
          <a:ln/>
        </p:spPr>
        <p:txBody>
          <a:bodyPr wrap="square" lIns="0" tIns="0" rIns="0" bIns="0" rtlCol="0" anchor="ctr"/>
          <a:lstStyle/>
          <a:p>
            <a:pPr marL="0" indent="0">
              <a:buNone/>
            </a:pPr>
            <a:r>
              <a:rPr lang="en-US" sz="850" kern="0" spc="180" dirty="0">
                <a:solidFill>
                  <a:srgbClr val="5C6466"/>
                </a:solidFill>
                <a:latin typeface="Crosswalk Inter Medium" panose="02000503000000020004" pitchFamily="34" charset="0"/>
                <a:ea typeface="Crosswalk Inter Medium" panose="02000503000000020004" pitchFamily="34" charset="0"/>
                <a:cs typeface="Crosswalk Inter Medium" panose="02000503000000020004" pitchFamily="34" charset="0"/>
              </a:rPr>
              <a:t>STATEMENT OF WORK</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7" name="Text 4">
            <a:extLst>
              <a:ext uri="{FF2B5EF4-FFF2-40B4-BE49-F238E27FC236}">
                <a16:creationId xmlns:a16="http://schemas.microsoft.com/office/drawing/2014/main" id="{17579838-DE97-BB29-481A-5E422E5D8557}"/>
              </a:ext>
            </a:extLst>
          </p:cNvPr>
          <p:cNvSpPr/>
          <p:nvPr/>
        </p:nvSpPr>
        <p:spPr>
          <a:xfrm>
            <a:off x="777240" y="4224528"/>
            <a:ext cx="5943600" cy="1600200"/>
          </a:xfrm>
          <a:prstGeom prst="rect">
            <a:avLst/>
          </a:prstGeom>
          <a:noFill/>
          <a:ln/>
        </p:spPr>
        <p:txBody>
          <a:bodyPr wrap="square" lIns="0" tIns="0" rIns="0" bIns="0" rtlCol="0" anchor="t"/>
          <a:lstStyle/>
          <a:p>
            <a:pPr marL="0" indent="0">
              <a:lnSpc>
                <a:spcPts val="5500"/>
              </a:lnSpc>
              <a:buNone/>
            </a:pPr>
            <a:r>
              <a:rPr lang="en-US" sz="5400" b="1" kern="0" spc="-11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30-Day Proof</a:t>
            </a:r>
            <a:br>
              <a:rPr lang="en-US" sz="5400" b="1" kern="0" spc="-11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br>
            <a:r>
              <a:rPr lang="en-US" sz="5400" b="1" kern="0" spc="-11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of Concept.</a:t>
            </a:r>
            <a:endParaRPr lang="en-US" sz="54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8" name="Text 5">
            <a:extLst>
              <a:ext uri="{FF2B5EF4-FFF2-40B4-BE49-F238E27FC236}">
                <a16:creationId xmlns:a16="http://schemas.microsoft.com/office/drawing/2014/main" id="{1649CDD4-3E5A-0E19-D3BC-6A7B3842F56A}"/>
              </a:ext>
            </a:extLst>
          </p:cNvPr>
          <p:cNvSpPr/>
          <p:nvPr/>
        </p:nvSpPr>
        <p:spPr>
          <a:xfrm>
            <a:off x="777240" y="5788152"/>
            <a:ext cx="5760720" cy="365760"/>
          </a:xfrm>
          <a:prstGeom prst="rect">
            <a:avLst/>
          </a:prstGeom>
          <a:noFill/>
          <a:ln/>
        </p:spPr>
        <p:txBody>
          <a:bodyPr wrap="square" lIns="0" tIns="0" rIns="0" bIns="0" rtlCol="0" anchor="t"/>
          <a:lstStyle/>
          <a:p>
            <a:pPr marL="0" indent="0">
              <a:buNone/>
            </a:pPr>
            <a:r>
              <a:rPr lang="en-US" sz="140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Prepared for [CLIENT NAME]  ·  [TEAM OR DEPARTMENT]</a:t>
            </a:r>
            <a:endParaRPr lang="en-US" sz="14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9" name="SigBox102">
            <a:extLst>
              <a:ext uri="{FF2B5EF4-FFF2-40B4-BE49-F238E27FC236}">
                <a16:creationId xmlns:a16="http://schemas.microsoft.com/office/drawing/2014/main" id="{42D7F1C1-C7CB-1A14-6117-178BDA1E83E8}"/>
              </a:ext>
            </a:extLst>
          </p:cNvPr>
          <p:cNvSpPr/>
          <p:nvPr/>
        </p:nvSpPr>
        <p:spPr>
          <a:xfrm>
            <a:off x="777240" y="7068364"/>
            <a:ext cx="3815660" cy="650000"/>
          </a:xfrm>
          <a:prstGeom prst="roundRect">
            <a:avLst>
              <a:gd name="adj" fmla="val 12000"/>
            </a:avLst>
          </a:prstGeom>
          <a:solidFill>
            <a:srgbClr val="E9E8E1"/>
          </a:solidFill>
          <a:ln>
            <a:no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0" name="SigBox103">
            <a:extLst>
              <a:ext uri="{FF2B5EF4-FFF2-40B4-BE49-F238E27FC236}">
                <a16:creationId xmlns:a16="http://schemas.microsoft.com/office/drawing/2014/main" id="{4161F26F-014F-DBB7-746C-DEBF01FCEF26}"/>
              </a:ext>
            </a:extLst>
          </p:cNvPr>
          <p:cNvSpPr/>
          <p:nvPr/>
        </p:nvSpPr>
        <p:spPr>
          <a:xfrm>
            <a:off x="4763068" y="7068364"/>
            <a:ext cx="2232091" cy="650000"/>
          </a:xfrm>
          <a:prstGeom prst="roundRect">
            <a:avLst>
              <a:gd name="adj" fmla="val 12000"/>
            </a:avLst>
          </a:prstGeom>
          <a:solidFill>
            <a:srgbClr val="E9E8E1"/>
          </a:solidFill>
          <a:ln>
            <a:noFill/>
          </a:ln>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1" name="Text 6">
            <a:extLst>
              <a:ext uri="{FF2B5EF4-FFF2-40B4-BE49-F238E27FC236}">
                <a16:creationId xmlns:a16="http://schemas.microsoft.com/office/drawing/2014/main" id="{44856D5F-1851-5332-DACA-E03F76CA51EB}"/>
              </a:ext>
            </a:extLst>
          </p:cNvPr>
          <p:cNvSpPr/>
          <p:nvPr/>
        </p:nvSpPr>
        <p:spPr>
          <a:xfrm>
            <a:off x="777240" y="6766560"/>
            <a:ext cx="6217920" cy="274320"/>
          </a:xfrm>
          <a:prstGeom prst="rect">
            <a:avLst/>
          </a:prstGeom>
          <a:noFill/>
          <a:ln/>
        </p:spPr>
        <p:txBody>
          <a:bodyPr wrap="square" lIns="0" tIns="0" rIns="0" bIns="0" rtlCol="0" anchor="t"/>
          <a:lstStyle/>
          <a:p>
            <a:pPr marL="0" indent="0">
              <a:buNone/>
            </a:pPr>
            <a:r>
              <a:rPr lang="en-US" sz="110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[RECIPIENT NAMES]</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2" name="Text 8">
            <a:extLst>
              <a:ext uri="{FF2B5EF4-FFF2-40B4-BE49-F238E27FC236}">
                <a16:creationId xmlns:a16="http://schemas.microsoft.com/office/drawing/2014/main" id="{14AABCB8-A3E4-BC3E-8C09-007C042A48A4}"/>
              </a:ext>
            </a:extLst>
          </p:cNvPr>
          <p:cNvSpPr/>
          <p:nvPr/>
        </p:nvSpPr>
        <p:spPr>
          <a:xfrm>
            <a:off x="896112" y="7531549"/>
            <a:ext cx="2962656" cy="201168"/>
          </a:xfrm>
          <a:prstGeom prst="rect">
            <a:avLst/>
          </a:prstGeom>
          <a:noFill/>
          <a:ln/>
        </p:spPr>
        <p:txBody>
          <a:bodyPr wrap="square" lIns="0" tIns="0" rIns="0" bIns="0" rtlCol="0" anchor="t"/>
          <a:lstStyle/>
          <a:p>
            <a:pPr marL="0" indent="0">
              <a:buNone/>
            </a:pPr>
            <a:r>
              <a:rPr lang="en-US" sz="800" kern="0" spc="10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ACCEPTED BY (SIGNATURE)</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3" name="Text 10">
            <a:extLst>
              <a:ext uri="{FF2B5EF4-FFF2-40B4-BE49-F238E27FC236}">
                <a16:creationId xmlns:a16="http://schemas.microsoft.com/office/drawing/2014/main" id="{28BEDA86-B00D-AD26-5B0E-CD270D10BA6F}"/>
              </a:ext>
            </a:extLst>
          </p:cNvPr>
          <p:cNvSpPr/>
          <p:nvPr/>
        </p:nvSpPr>
        <p:spPr>
          <a:xfrm>
            <a:off x="4861274" y="7531549"/>
            <a:ext cx="1873214" cy="201168"/>
          </a:xfrm>
          <a:prstGeom prst="rect">
            <a:avLst/>
          </a:prstGeom>
          <a:noFill/>
          <a:ln/>
        </p:spPr>
        <p:txBody>
          <a:bodyPr wrap="square" lIns="0" tIns="0" rIns="0" bIns="0" rtlCol="0" anchor="t"/>
          <a:lstStyle/>
          <a:p>
            <a:pPr marL="0" indent="0">
              <a:buNone/>
            </a:pPr>
            <a:r>
              <a:rPr lang="en-US" sz="800" kern="0" spc="10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DATE</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4" name="Shape 11">
            <a:extLst>
              <a:ext uri="{FF2B5EF4-FFF2-40B4-BE49-F238E27FC236}">
                <a16:creationId xmlns:a16="http://schemas.microsoft.com/office/drawing/2014/main" id="{2FA7F064-A192-8C87-7A16-6FDBB15710EF}"/>
              </a:ext>
            </a:extLst>
          </p:cNvPr>
          <p:cNvSpPr/>
          <p:nvPr/>
        </p:nvSpPr>
        <p:spPr>
          <a:xfrm>
            <a:off x="777240" y="8028432"/>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5" name="Text 12">
            <a:extLst>
              <a:ext uri="{FF2B5EF4-FFF2-40B4-BE49-F238E27FC236}">
                <a16:creationId xmlns:a16="http://schemas.microsoft.com/office/drawing/2014/main" id="{14A45263-A0A4-E28D-838D-D991790F3D03}"/>
              </a:ext>
            </a:extLst>
          </p:cNvPr>
          <p:cNvSpPr/>
          <p:nvPr/>
        </p:nvSpPr>
        <p:spPr>
          <a:xfrm>
            <a:off x="777240" y="8202168"/>
            <a:ext cx="1536192" cy="310896"/>
          </a:xfrm>
          <a:prstGeom prst="rect">
            <a:avLst/>
          </a:prstGeom>
          <a:noFill/>
          <a:ln/>
        </p:spPr>
        <p:txBody>
          <a:bodyPr wrap="square" lIns="0" tIns="0" rIns="0" bIns="0" rtlCol="0" anchor="t"/>
          <a:lstStyle/>
          <a:p>
            <a:pPr marL="0" indent="0">
              <a:buNone/>
            </a:pPr>
            <a:r>
              <a:rPr lang="en-US" sz="2000" b="1"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30 days</a:t>
            </a:r>
            <a:endParaRPr lang="en-US" sz="2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6" name="Text 13">
            <a:extLst>
              <a:ext uri="{FF2B5EF4-FFF2-40B4-BE49-F238E27FC236}">
                <a16:creationId xmlns:a16="http://schemas.microsoft.com/office/drawing/2014/main" id="{6B37BBA0-7CA4-E014-E040-6CDABDFE86DA}"/>
              </a:ext>
            </a:extLst>
          </p:cNvPr>
          <p:cNvSpPr/>
          <p:nvPr/>
        </p:nvSpPr>
        <p:spPr>
          <a:xfrm>
            <a:off x="777240" y="8577072"/>
            <a:ext cx="1536192" cy="201168"/>
          </a:xfrm>
          <a:prstGeom prst="rect">
            <a:avLst/>
          </a:prstGeom>
          <a:noFill/>
          <a:ln/>
        </p:spPr>
        <p:txBody>
          <a:bodyPr wrap="square" lIns="0" tIns="0" rIns="0" bIns="0" rtlCol="0" anchor="t"/>
          <a:lstStyle/>
          <a:p>
            <a:pPr marL="0" indent="0">
              <a:buNone/>
            </a:pPr>
            <a:r>
              <a:rPr lang="en-US" sz="800" kern="0" spc="11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TERM</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7" name="Text 14">
            <a:extLst>
              <a:ext uri="{FF2B5EF4-FFF2-40B4-BE49-F238E27FC236}">
                <a16:creationId xmlns:a16="http://schemas.microsoft.com/office/drawing/2014/main" id="{87FE1ED8-8658-45FB-E365-E4331AD1FC76}"/>
              </a:ext>
            </a:extLst>
          </p:cNvPr>
          <p:cNvSpPr/>
          <p:nvPr/>
        </p:nvSpPr>
        <p:spPr>
          <a:xfrm>
            <a:off x="2350008" y="8202168"/>
            <a:ext cx="1536192" cy="310896"/>
          </a:xfrm>
          <a:prstGeom prst="rect">
            <a:avLst/>
          </a:prstGeom>
          <a:noFill/>
          <a:ln/>
        </p:spPr>
        <p:txBody>
          <a:bodyPr wrap="square" lIns="0" tIns="0" rIns="0" bIns="0" rtlCol="0" anchor="t"/>
          <a:lstStyle/>
          <a:p>
            <a:pPr marL="0" indent="0">
              <a:buNone/>
            </a:pPr>
            <a:r>
              <a:rPr lang="en-US" sz="2000" b="1"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3</a:t>
            </a:r>
            <a:endParaRPr lang="en-US" sz="2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8" name="Text 15">
            <a:extLst>
              <a:ext uri="{FF2B5EF4-FFF2-40B4-BE49-F238E27FC236}">
                <a16:creationId xmlns:a16="http://schemas.microsoft.com/office/drawing/2014/main" id="{204E0119-F8BC-6854-DEDC-A6C8C75E989A}"/>
              </a:ext>
            </a:extLst>
          </p:cNvPr>
          <p:cNvSpPr/>
          <p:nvPr/>
        </p:nvSpPr>
        <p:spPr>
          <a:xfrm>
            <a:off x="2350008" y="8577072"/>
            <a:ext cx="1536192" cy="201168"/>
          </a:xfrm>
          <a:prstGeom prst="rect">
            <a:avLst/>
          </a:prstGeom>
          <a:noFill/>
          <a:ln/>
        </p:spPr>
        <p:txBody>
          <a:bodyPr wrap="square" lIns="0" tIns="0" rIns="0" bIns="0" rtlCol="0" anchor="t"/>
          <a:lstStyle/>
          <a:p>
            <a:pPr marL="0" indent="0">
              <a:buNone/>
            </a:pPr>
            <a:r>
              <a:rPr lang="en-US" sz="800" kern="0" spc="11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FULL PROJECTS</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9" name="Text 16">
            <a:extLst>
              <a:ext uri="{FF2B5EF4-FFF2-40B4-BE49-F238E27FC236}">
                <a16:creationId xmlns:a16="http://schemas.microsoft.com/office/drawing/2014/main" id="{6649D33F-3792-2C1A-654C-B8932B4FD1E6}"/>
              </a:ext>
            </a:extLst>
          </p:cNvPr>
          <p:cNvSpPr/>
          <p:nvPr/>
        </p:nvSpPr>
        <p:spPr>
          <a:xfrm>
            <a:off x="3922776" y="8202168"/>
            <a:ext cx="1536192" cy="310896"/>
          </a:xfrm>
          <a:prstGeom prst="rect">
            <a:avLst/>
          </a:prstGeom>
          <a:noFill/>
          <a:ln/>
        </p:spPr>
        <p:txBody>
          <a:bodyPr wrap="square" lIns="0" tIns="0" rIns="0" bIns="0" rtlCol="0" anchor="t"/>
          <a:lstStyle/>
          <a:p>
            <a:pPr marL="0" indent="0">
              <a:buNone/>
            </a:pPr>
            <a:r>
              <a:rPr lang="en-US" sz="2000" b="1"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300</a:t>
            </a:r>
            <a:endParaRPr lang="en-US" sz="2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0" name="Text 17">
            <a:extLst>
              <a:ext uri="{FF2B5EF4-FFF2-40B4-BE49-F238E27FC236}">
                <a16:creationId xmlns:a16="http://schemas.microsoft.com/office/drawing/2014/main" id="{F4402FB7-34D3-FC68-6351-233A04AAF2EF}"/>
              </a:ext>
            </a:extLst>
          </p:cNvPr>
          <p:cNvSpPr/>
          <p:nvPr/>
        </p:nvSpPr>
        <p:spPr>
          <a:xfrm>
            <a:off x="3922776" y="8577072"/>
            <a:ext cx="1536192" cy="201168"/>
          </a:xfrm>
          <a:prstGeom prst="rect">
            <a:avLst/>
          </a:prstGeom>
          <a:noFill/>
          <a:ln/>
        </p:spPr>
        <p:txBody>
          <a:bodyPr wrap="square" lIns="0" tIns="0" rIns="0" bIns="0" rtlCol="0" anchor="t"/>
          <a:lstStyle/>
          <a:p>
            <a:pPr marL="0" indent="0">
              <a:buNone/>
            </a:pPr>
            <a:r>
              <a:rPr lang="en-US" sz="800" kern="0" spc="11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PROMETHEUS CREDITS</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1" name="Text 18">
            <a:extLst>
              <a:ext uri="{FF2B5EF4-FFF2-40B4-BE49-F238E27FC236}">
                <a16:creationId xmlns:a16="http://schemas.microsoft.com/office/drawing/2014/main" id="{5A5909A9-5AE9-A7B2-6658-31FC865719C6}"/>
              </a:ext>
            </a:extLst>
          </p:cNvPr>
          <p:cNvSpPr/>
          <p:nvPr/>
        </p:nvSpPr>
        <p:spPr>
          <a:xfrm>
            <a:off x="5495544" y="8202168"/>
            <a:ext cx="1536192" cy="310896"/>
          </a:xfrm>
          <a:prstGeom prst="rect">
            <a:avLst/>
          </a:prstGeom>
          <a:noFill/>
          <a:ln/>
        </p:spPr>
        <p:txBody>
          <a:bodyPr wrap="square" lIns="0" tIns="0" rIns="0" bIns="0" rtlCol="0" anchor="t"/>
          <a:lstStyle/>
          <a:p>
            <a:pPr marL="0" indent="0">
              <a:buNone/>
            </a:pPr>
            <a:r>
              <a:rPr lang="en-US" sz="2000" b="1"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Full</a:t>
            </a:r>
            <a:endParaRPr lang="en-US" sz="2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2" name="Text 19">
            <a:extLst>
              <a:ext uri="{FF2B5EF4-FFF2-40B4-BE49-F238E27FC236}">
                <a16:creationId xmlns:a16="http://schemas.microsoft.com/office/drawing/2014/main" id="{82CCCDEC-4761-4266-38EF-16D33FBE5006}"/>
              </a:ext>
            </a:extLst>
          </p:cNvPr>
          <p:cNvSpPr/>
          <p:nvPr/>
        </p:nvSpPr>
        <p:spPr>
          <a:xfrm>
            <a:off x="5495544" y="8577072"/>
            <a:ext cx="1536192" cy="201168"/>
          </a:xfrm>
          <a:prstGeom prst="rect">
            <a:avLst/>
          </a:prstGeom>
          <a:noFill/>
          <a:ln/>
        </p:spPr>
        <p:txBody>
          <a:bodyPr wrap="square" lIns="0" tIns="0" rIns="0" bIns="0" rtlCol="0" anchor="t"/>
          <a:lstStyle/>
          <a:p>
            <a:pPr marL="0" indent="0">
              <a:buNone/>
            </a:pPr>
            <a:r>
              <a:rPr lang="en-US" sz="800" kern="0" spc="11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PLATFORM ACCESS</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3" name="Shape 15">
            <a:extLst>
              <a:ext uri="{FF2B5EF4-FFF2-40B4-BE49-F238E27FC236}">
                <a16:creationId xmlns:a16="http://schemas.microsoft.com/office/drawing/2014/main" id="{50A39815-4D09-DBD7-EB6B-171ED1AB14DA}"/>
              </a:ext>
            </a:extLst>
          </p:cNvPr>
          <p:cNvSpPr/>
          <p:nvPr/>
        </p:nvSpPr>
        <p:spPr>
          <a:xfrm>
            <a:off x="896112" y="7477268"/>
            <a:ext cx="356616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4" name="Shape 15">
            <a:extLst>
              <a:ext uri="{FF2B5EF4-FFF2-40B4-BE49-F238E27FC236}">
                <a16:creationId xmlns:a16="http://schemas.microsoft.com/office/drawing/2014/main" id="{AAA39B24-ACEE-0C53-AAA4-943A2AF5CD1E}"/>
              </a:ext>
            </a:extLst>
          </p:cNvPr>
          <p:cNvSpPr/>
          <p:nvPr/>
        </p:nvSpPr>
        <p:spPr>
          <a:xfrm>
            <a:off x="4861274" y="7477268"/>
            <a:ext cx="201168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34342765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E8E2"/>
        </a:solidFill>
        <a:effectLst/>
      </p:bgPr>
    </p:bg>
    <p:spTree>
      <p:nvGrpSpPr>
        <p:cNvPr id="1" name=""/>
        <p:cNvGrpSpPr/>
        <p:nvPr/>
      </p:nvGrpSpPr>
      <p:grpSpPr>
        <a:xfrm>
          <a:off x="0" y="0"/>
          <a:ext cx="0" cy="0"/>
          <a:chOff x="0" y="0"/>
          <a:chExt cx="0" cy="0"/>
        </a:xfrm>
      </p:grpSpPr>
      <p:pic>
        <p:nvPicPr>
          <p:cNvPr id="4" name="Image 0" descr="logo_dark.png"/>
          <p:cNvPicPr>
            <a:picLocks noChangeAspect="1"/>
          </p:cNvPicPr>
          <p:nvPr/>
        </p:nvPicPr>
        <p:blipFill>
          <a:blip r:embed="rId4"/>
          <a:stretch>
            <a:fillRect/>
          </a:stretch>
        </p:blipFill>
        <p:spPr>
          <a:xfrm>
            <a:off x="6062472" y="544424"/>
            <a:ext cx="932688" cy="118161"/>
          </a:xfrm>
          <a:prstGeom prst="rect">
            <a:avLst/>
          </a:prstGeom>
        </p:spPr>
      </p:pic>
      <p:sp>
        <p:nvSpPr>
          <p:cNvPr id="5" name="Shape 2"/>
          <p:cNvSpPr/>
          <p:nvPr/>
        </p:nvSpPr>
        <p:spPr>
          <a:xfrm>
            <a:off x="777240" y="868680"/>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p:nvPr/>
        </p:nvSpPr>
        <p:spPr>
          <a:xfrm>
            <a:off x="777240" y="9381744"/>
            <a:ext cx="4114800" cy="182880"/>
          </a:xfrm>
          <a:prstGeom prst="rect">
            <a:avLst/>
          </a:prstGeom>
          <a:noFill/>
          <a:ln/>
        </p:spPr>
        <p:txBody>
          <a:bodyPr wrap="square" lIns="0" tIns="0" rIns="0" bIns="0" rtlCol="0" anchor="t"/>
          <a:lstStyle/>
          <a:p>
            <a:pPr marL="0" indent="0">
              <a:buNone/>
            </a:pPr>
            <a:r>
              <a:rPr lang="en-US" sz="700" kern="0" spc="14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CROSSWALK / BEHAVIORAL INTELLIGENCE ENGINE</a:t>
            </a:r>
            <a:endParaRPr lang="en-US" sz="7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Shape 5"/>
          <p:cNvSpPr/>
          <p:nvPr/>
        </p:nvSpPr>
        <p:spPr>
          <a:xfrm>
            <a:off x="777240" y="1120140"/>
            <a:ext cx="64008" cy="64008"/>
          </a:xfrm>
          <a:prstGeom prst="ellipse">
            <a:avLst/>
          </a:prstGeom>
          <a:solidFill>
            <a:srgbClr val="5E7E12"/>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Text 6"/>
          <p:cNvSpPr/>
          <p:nvPr/>
        </p:nvSpPr>
        <p:spPr>
          <a:xfrm>
            <a:off x="932688" y="1090705"/>
            <a:ext cx="5120640" cy="201168"/>
          </a:xfrm>
          <a:prstGeom prst="rect">
            <a:avLst/>
          </a:prstGeom>
          <a:noFill/>
          <a:ln/>
        </p:spPr>
        <p:txBody>
          <a:bodyPr wrap="square" lIns="0" tIns="0" rIns="0" bIns="0" rtlCol="0" anchor="t"/>
          <a:lstStyle/>
          <a:p>
            <a:pPr marL="0" indent="0">
              <a:buNone/>
            </a:pPr>
            <a:r>
              <a:rPr lang="en-US" sz="850" kern="0" spc="18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STATEMENT OF WORK</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0" name="Text 7"/>
          <p:cNvSpPr/>
          <p:nvPr/>
        </p:nvSpPr>
        <p:spPr>
          <a:xfrm>
            <a:off x="777240" y="1572768"/>
            <a:ext cx="6217920" cy="626110"/>
          </a:xfrm>
          <a:prstGeom prst="rect">
            <a:avLst/>
          </a:prstGeom>
          <a:noFill/>
          <a:ln/>
        </p:spPr>
        <p:txBody>
          <a:bodyPr wrap="square" lIns="0" tIns="0" rIns="0" bIns="0" rtlCol="0" anchor="t"/>
          <a:lstStyle/>
          <a:p>
            <a:pPr marL="0" indent="0">
              <a:lnSpc>
                <a:spcPts val="4066"/>
              </a:lnSpc>
              <a:buNone/>
            </a:pPr>
            <a:r>
              <a:rPr lang="en-US" sz="38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Contents.</a:t>
            </a:r>
            <a:endParaRPr lang="en-US" sz="3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Shape 8"/>
          <p:cNvSpPr/>
          <p:nvPr/>
        </p:nvSpPr>
        <p:spPr>
          <a:xfrm>
            <a:off x="777240" y="2999232"/>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Text 9"/>
          <p:cNvSpPr/>
          <p:nvPr/>
        </p:nvSpPr>
        <p:spPr>
          <a:xfrm>
            <a:off x="777240" y="3182112"/>
            <a:ext cx="457200" cy="237744"/>
          </a:xfrm>
          <a:prstGeom prst="rect">
            <a:avLst/>
          </a:prstGeom>
          <a:noFill/>
          <a:ln/>
        </p:spPr>
        <p:txBody>
          <a:bodyPr wrap="square" lIns="0" tIns="0" rIns="0" bIns="0" rtlCol="0" anchor="t"/>
          <a:lstStyle/>
          <a:p>
            <a:pPr marL="0" indent="0">
              <a:buNone/>
            </a:pPr>
            <a:r>
              <a:rPr lang="en-US" sz="900" kern="0" spc="7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01</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Text 10"/>
          <p:cNvSpPr/>
          <p:nvPr/>
        </p:nvSpPr>
        <p:spPr>
          <a:xfrm>
            <a:off x="1344168" y="3145536"/>
            <a:ext cx="4754880" cy="292608"/>
          </a:xfrm>
          <a:prstGeom prst="rect">
            <a:avLst/>
          </a:prstGeom>
          <a:noFill/>
          <a:ln/>
        </p:spPr>
        <p:txBody>
          <a:bodyPr wrap="square" lIns="0" tIns="0" rIns="0" bIns="0" rtlCol="0" anchor="t"/>
          <a:lstStyle/>
          <a:p>
            <a:pPr marL="0" indent="0">
              <a:buNone/>
            </a:pPr>
            <a:r>
              <a:rPr lang="en-US" sz="140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Purpose</a:t>
            </a:r>
            <a:endParaRPr lang="en-US" sz="14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4" name="Text 11"/>
          <p:cNvSpPr/>
          <p:nvPr/>
        </p:nvSpPr>
        <p:spPr>
          <a:xfrm>
            <a:off x="6446520" y="3182112"/>
            <a:ext cx="548640" cy="237744"/>
          </a:xfrm>
          <a:prstGeom prst="rect">
            <a:avLst/>
          </a:prstGeom>
          <a:noFill/>
          <a:ln/>
        </p:spPr>
        <p:txBody>
          <a:bodyPr wrap="square" lIns="0" tIns="0" rIns="0" bIns="0" rtlCol="0" anchor="t"/>
          <a:lstStyle/>
          <a:p>
            <a:pPr marL="0" indent="0" algn="r">
              <a:buNone/>
            </a:pPr>
            <a:r>
              <a:rPr lang="en-US" sz="900" kern="0" spc="7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03</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5" name="Shape 12"/>
          <p:cNvSpPr/>
          <p:nvPr/>
        </p:nvSpPr>
        <p:spPr>
          <a:xfrm>
            <a:off x="777240" y="3584448"/>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6" name="Text 13"/>
          <p:cNvSpPr/>
          <p:nvPr/>
        </p:nvSpPr>
        <p:spPr>
          <a:xfrm>
            <a:off x="777240" y="3767328"/>
            <a:ext cx="457200" cy="237744"/>
          </a:xfrm>
          <a:prstGeom prst="rect">
            <a:avLst/>
          </a:prstGeom>
          <a:noFill/>
          <a:ln/>
        </p:spPr>
        <p:txBody>
          <a:bodyPr wrap="square" lIns="0" tIns="0" rIns="0" bIns="0" rtlCol="0" anchor="t"/>
          <a:lstStyle/>
          <a:p>
            <a:pPr marL="0" indent="0">
              <a:buNone/>
            </a:pPr>
            <a:r>
              <a:rPr lang="en-US" sz="900" kern="0" spc="7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02</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7" name="Text 14"/>
          <p:cNvSpPr/>
          <p:nvPr/>
        </p:nvSpPr>
        <p:spPr>
          <a:xfrm>
            <a:off x="1344168" y="3730752"/>
            <a:ext cx="4754880" cy="292608"/>
          </a:xfrm>
          <a:prstGeom prst="rect">
            <a:avLst/>
          </a:prstGeom>
          <a:noFill/>
          <a:ln/>
        </p:spPr>
        <p:txBody>
          <a:bodyPr wrap="square" lIns="0" tIns="0" rIns="0" bIns="0" rtlCol="0" anchor="t"/>
          <a:lstStyle/>
          <a:p>
            <a:pPr marL="0" indent="0">
              <a:buNone/>
            </a:pPr>
            <a:r>
              <a:rPr lang="en-US" sz="140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Scope of work</a:t>
            </a:r>
            <a:endParaRPr lang="en-US" sz="14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8" name="Text 15"/>
          <p:cNvSpPr/>
          <p:nvPr/>
        </p:nvSpPr>
        <p:spPr>
          <a:xfrm>
            <a:off x="6446520" y="3767328"/>
            <a:ext cx="548640" cy="237744"/>
          </a:xfrm>
          <a:prstGeom prst="rect">
            <a:avLst/>
          </a:prstGeom>
          <a:noFill/>
          <a:ln/>
        </p:spPr>
        <p:txBody>
          <a:bodyPr wrap="square" lIns="0" tIns="0" rIns="0" bIns="0" rtlCol="0" anchor="t"/>
          <a:lstStyle/>
          <a:p>
            <a:pPr marL="0" indent="0" algn="r">
              <a:buNone/>
            </a:pPr>
            <a:r>
              <a:rPr lang="en-US" sz="900" kern="0" spc="7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06</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9" name="Shape 16"/>
          <p:cNvSpPr/>
          <p:nvPr/>
        </p:nvSpPr>
        <p:spPr>
          <a:xfrm>
            <a:off x="777240" y="4169664"/>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0" name="Text 17"/>
          <p:cNvSpPr/>
          <p:nvPr/>
        </p:nvSpPr>
        <p:spPr>
          <a:xfrm>
            <a:off x="777240" y="4352544"/>
            <a:ext cx="457200" cy="237744"/>
          </a:xfrm>
          <a:prstGeom prst="rect">
            <a:avLst/>
          </a:prstGeom>
          <a:noFill/>
          <a:ln/>
        </p:spPr>
        <p:txBody>
          <a:bodyPr wrap="square" lIns="0" tIns="0" rIns="0" bIns="0" rtlCol="0" anchor="t"/>
          <a:lstStyle/>
          <a:p>
            <a:pPr marL="0" indent="0">
              <a:buNone/>
            </a:pPr>
            <a:r>
              <a:rPr lang="en-US" sz="900" kern="0" spc="7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03</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1" name="Text 18"/>
          <p:cNvSpPr/>
          <p:nvPr/>
        </p:nvSpPr>
        <p:spPr>
          <a:xfrm>
            <a:off x="1344168" y="4315968"/>
            <a:ext cx="4754880" cy="292608"/>
          </a:xfrm>
          <a:prstGeom prst="rect">
            <a:avLst/>
          </a:prstGeom>
          <a:noFill/>
          <a:ln/>
        </p:spPr>
        <p:txBody>
          <a:bodyPr wrap="square" lIns="0" tIns="0" rIns="0" bIns="0" rtlCol="0" anchor="t"/>
          <a:lstStyle/>
          <a:p>
            <a:pPr marL="0" indent="0">
              <a:buNone/>
            </a:pPr>
            <a:r>
              <a:rPr lang="en-US" sz="140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What we need from you</a:t>
            </a:r>
            <a:endParaRPr lang="en-US" sz="14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2" name="Text 19"/>
          <p:cNvSpPr/>
          <p:nvPr/>
        </p:nvSpPr>
        <p:spPr>
          <a:xfrm>
            <a:off x="6446520" y="4352544"/>
            <a:ext cx="548640" cy="237744"/>
          </a:xfrm>
          <a:prstGeom prst="rect">
            <a:avLst/>
          </a:prstGeom>
          <a:noFill/>
          <a:ln/>
        </p:spPr>
        <p:txBody>
          <a:bodyPr wrap="square" lIns="0" tIns="0" rIns="0" bIns="0" rtlCol="0" anchor="t"/>
          <a:lstStyle/>
          <a:p>
            <a:pPr marL="0" indent="0" algn="r">
              <a:buNone/>
            </a:pPr>
            <a:r>
              <a:rPr lang="en-US" sz="900" kern="0" spc="7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11</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3" name="Shape 20"/>
          <p:cNvSpPr/>
          <p:nvPr/>
        </p:nvSpPr>
        <p:spPr>
          <a:xfrm>
            <a:off x="777240" y="4754880"/>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4" name="Text 21"/>
          <p:cNvSpPr/>
          <p:nvPr/>
        </p:nvSpPr>
        <p:spPr>
          <a:xfrm>
            <a:off x="777240" y="4937760"/>
            <a:ext cx="457200" cy="237744"/>
          </a:xfrm>
          <a:prstGeom prst="rect">
            <a:avLst/>
          </a:prstGeom>
          <a:noFill/>
          <a:ln/>
        </p:spPr>
        <p:txBody>
          <a:bodyPr wrap="square" lIns="0" tIns="0" rIns="0" bIns="0" rtlCol="0" anchor="t"/>
          <a:lstStyle/>
          <a:p>
            <a:pPr marL="0" indent="0">
              <a:buNone/>
            </a:pPr>
            <a:r>
              <a:rPr lang="en-US" sz="900" kern="0" spc="7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04</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5" name="Text 22"/>
          <p:cNvSpPr/>
          <p:nvPr/>
        </p:nvSpPr>
        <p:spPr>
          <a:xfrm>
            <a:off x="1344168" y="4901184"/>
            <a:ext cx="4754880" cy="292608"/>
          </a:xfrm>
          <a:prstGeom prst="rect">
            <a:avLst/>
          </a:prstGeom>
          <a:noFill/>
          <a:ln/>
        </p:spPr>
        <p:txBody>
          <a:bodyPr wrap="square" lIns="0" tIns="0" rIns="0" bIns="0" rtlCol="0" anchor="t"/>
          <a:lstStyle/>
          <a:p>
            <a:pPr marL="0" indent="0">
              <a:buNone/>
            </a:pPr>
            <a:r>
              <a:rPr lang="en-US" sz="140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Timeline</a:t>
            </a:r>
            <a:endParaRPr lang="en-US" sz="14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6" name="Text 23"/>
          <p:cNvSpPr/>
          <p:nvPr/>
        </p:nvSpPr>
        <p:spPr>
          <a:xfrm>
            <a:off x="6446520" y="4937760"/>
            <a:ext cx="548640" cy="237744"/>
          </a:xfrm>
          <a:prstGeom prst="rect">
            <a:avLst/>
          </a:prstGeom>
          <a:noFill/>
          <a:ln/>
        </p:spPr>
        <p:txBody>
          <a:bodyPr wrap="square" lIns="0" tIns="0" rIns="0" bIns="0" rtlCol="0" anchor="t"/>
          <a:lstStyle/>
          <a:p>
            <a:pPr marL="0" indent="0" algn="r">
              <a:buNone/>
            </a:pPr>
            <a:r>
              <a:rPr lang="en-US" sz="900" kern="0" spc="7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12</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7" name="Shape 24"/>
          <p:cNvSpPr/>
          <p:nvPr/>
        </p:nvSpPr>
        <p:spPr>
          <a:xfrm>
            <a:off x="777240" y="5340096"/>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8" name="Text 25"/>
          <p:cNvSpPr/>
          <p:nvPr/>
        </p:nvSpPr>
        <p:spPr>
          <a:xfrm>
            <a:off x="777240" y="5522976"/>
            <a:ext cx="457200" cy="237744"/>
          </a:xfrm>
          <a:prstGeom prst="rect">
            <a:avLst/>
          </a:prstGeom>
          <a:noFill/>
          <a:ln/>
        </p:spPr>
        <p:txBody>
          <a:bodyPr wrap="square" lIns="0" tIns="0" rIns="0" bIns="0" rtlCol="0" anchor="t"/>
          <a:lstStyle/>
          <a:p>
            <a:pPr marL="0" indent="0">
              <a:buNone/>
            </a:pPr>
            <a:r>
              <a:rPr lang="en-US" sz="900" kern="0" spc="7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05</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9" name="Text 26"/>
          <p:cNvSpPr/>
          <p:nvPr/>
        </p:nvSpPr>
        <p:spPr>
          <a:xfrm>
            <a:off x="1344168" y="5486400"/>
            <a:ext cx="4754880" cy="292608"/>
          </a:xfrm>
          <a:prstGeom prst="rect">
            <a:avLst/>
          </a:prstGeom>
          <a:noFill/>
          <a:ln/>
        </p:spPr>
        <p:txBody>
          <a:bodyPr wrap="square" lIns="0" tIns="0" rIns="0" bIns="0" rtlCol="0" anchor="t"/>
          <a:lstStyle/>
          <a:p>
            <a:pPr marL="0" indent="0">
              <a:buNone/>
            </a:pPr>
            <a:r>
              <a:rPr lang="en-US" sz="140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Commercials</a:t>
            </a:r>
            <a:endParaRPr lang="en-US" sz="14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0" name="Text 27"/>
          <p:cNvSpPr/>
          <p:nvPr/>
        </p:nvSpPr>
        <p:spPr>
          <a:xfrm>
            <a:off x="6446520" y="5522976"/>
            <a:ext cx="548640" cy="237744"/>
          </a:xfrm>
          <a:prstGeom prst="rect">
            <a:avLst/>
          </a:prstGeom>
          <a:noFill/>
          <a:ln/>
        </p:spPr>
        <p:txBody>
          <a:bodyPr wrap="square" lIns="0" tIns="0" rIns="0" bIns="0" rtlCol="0" anchor="t"/>
          <a:lstStyle/>
          <a:p>
            <a:pPr marL="0" indent="0" algn="r">
              <a:buNone/>
            </a:pPr>
            <a:r>
              <a:rPr lang="en-US" sz="900" kern="0" spc="7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13</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1" name="Shape 28"/>
          <p:cNvSpPr/>
          <p:nvPr/>
        </p:nvSpPr>
        <p:spPr>
          <a:xfrm>
            <a:off x="777240" y="5925312"/>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2" name="Text 29"/>
          <p:cNvSpPr/>
          <p:nvPr/>
        </p:nvSpPr>
        <p:spPr>
          <a:xfrm>
            <a:off x="777240" y="6108192"/>
            <a:ext cx="457200" cy="237744"/>
          </a:xfrm>
          <a:prstGeom prst="rect">
            <a:avLst/>
          </a:prstGeom>
          <a:noFill/>
          <a:ln/>
        </p:spPr>
        <p:txBody>
          <a:bodyPr wrap="square" lIns="0" tIns="0" rIns="0" bIns="0" rtlCol="0" anchor="t"/>
          <a:lstStyle/>
          <a:p>
            <a:pPr marL="0" indent="0">
              <a:buNone/>
            </a:pPr>
            <a:r>
              <a:rPr lang="en-US" sz="900" kern="0" spc="7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06</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3" name="Text 30"/>
          <p:cNvSpPr/>
          <p:nvPr/>
        </p:nvSpPr>
        <p:spPr>
          <a:xfrm>
            <a:off x="1344168" y="6071616"/>
            <a:ext cx="4754880" cy="292608"/>
          </a:xfrm>
          <a:prstGeom prst="rect">
            <a:avLst/>
          </a:prstGeom>
          <a:noFill/>
          <a:ln/>
        </p:spPr>
        <p:txBody>
          <a:bodyPr wrap="square" lIns="0" tIns="0" rIns="0" bIns="0" rtlCol="0" anchor="t"/>
          <a:lstStyle/>
          <a:p>
            <a:pPr marL="0" indent="0">
              <a:buNone/>
            </a:pPr>
            <a:r>
              <a:rPr lang="en-US" sz="140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What success looks like</a:t>
            </a:r>
            <a:endParaRPr lang="en-US" sz="14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4" name="Text 31"/>
          <p:cNvSpPr/>
          <p:nvPr/>
        </p:nvSpPr>
        <p:spPr>
          <a:xfrm>
            <a:off x="6446520" y="6108192"/>
            <a:ext cx="548640" cy="237744"/>
          </a:xfrm>
          <a:prstGeom prst="rect">
            <a:avLst/>
          </a:prstGeom>
          <a:noFill/>
          <a:ln/>
        </p:spPr>
        <p:txBody>
          <a:bodyPr wrap="square" lIns="0" tIns="0" rIns="0" bIns="0" rtlCol="0" anchor="t"/>
          <a:lstStyle/>
          <a:p>
            <a:pPr marL="0" indent="0" algn="r">
              <a:buNone/>
            </a:pPr>
            <a:r>
              <a:rPr lang="en-US" sz="900" kern="0" spc="7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14</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5" name="Shape 32"/>
          <p:cNvSpPr/>
          <p:nvPr/>
        </p:nvSpPr>
        <p:spPr>
          <a:xfrm>
            <a:off x="777240" y="6510528"/>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6" name="Text 33"/>
          <p:cNvSpPr/>
          <p:nvPr/>
        </p:nvSpPr>
        <p:spPr>
          <a:xfrm>
            <a:off x="777240" y="6693408"/>
            <a:ext cx="457200" cy="237744"/>
          </a:xfrm>
          <a:prstGeom prst="rect">
            <a:avLst/>
          </a:prstGeom>
          <a:noFill/>
          <a:ln/>
        </p:spPr>
        <p:txBody>
          <a:bodyPr wrap="square" lIns="0" tIns="0" rIns="0" bIns="0" rtlCol="0" anchor="t"/>
          <a:lstStyle/>
          <a:p>
            <a:pPr marL="0" indent="0">
              <a:buNone/>
            </a:pPr>
            <a:r>
              <a:rPr lang="en-US" sz="900" kern="0" spc="7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07</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7" name="Text 34"/>
          <p:cNvSpPr/>
          <p:nvPr/>
        </p:nvSpPr>
        <p:spPr>
          <a:xfrm>
            <a:off x="1344168" y="6656832"/>
            <a:ext cx="4754880" cy="292608"/>
          </a:xfrm>
          <a:prstGeom prst="rect">
            <a:avLst/>
          </a:prstGeom>
          <a:noFill/>
          <a:ln/>
        </p:spPr>
        <p:txBody>
          <a:bodyPr wrap="square" lIns="0" tIns="0" rIns="0" bIns="0" rtlCol="0" anchor="t"/>
          <a:lstStyle/>
          <a:p>
            <a:pPr marL="0" indent="0">
              <a:buNone/>
            </a:pPr>
            <a:r>
              <a:rPr lang="en-US" sz="140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Supporting materials provided separately</a:t>
            </a:r>
            <a:endParaRPr lang="en-US" sz="14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8" name="Text 35"/>
          <p:cNvSpPr/>
          <p:nvPr/>
        </p:nvSpPr>
        <p:spPr>
          <a:xfrm>
            <a:off x="6446520" y="6693408"/>
            <a:ext cx="548640" cy="237744"/>
          </a:xfrm>
          <a:prstGeom prst="rect">
            <a:avLst/>
          </a:prstGeom>
          <a:noFill/>
          <a:ln/>
        </p:spPr>
        <p:txBody>
          <a:bodyPr wrap="square" lIns="0" tIns="0" rIns="0" bIns="0" rtlCol="0" anchor="t"/>
          <a:lstStyle/>
          <a:p>
            <a:pPr marL="0" indent="0" algn="r">
              <a:buNone/>
            </a:pPr>
            <a:r>
              <a:rPr lang="en-US" sz="900" kern="0" spc="7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15</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9" name="Shape 36"/>
          <p:cNvSpPr/>
          <p:nvPr/>
        </p:nvSpPr>
        <p:spPr>
          <a:xfrm>
            <a:off x="777240" y="7095744"/>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1" name="Google Shape;100;p37">
            <a:extLst>
              <a:ext uri="{FF2B5EF4-FFF2-40B4-BE49-F238E27FC236}">
                <a16:creationId xmlns:a16="http://schemas.microsoft.com/office/drawing/2014/main" id="{588D1FF9-2437-56AC-F686-18B6239637E2}"/>
              </a:ext>
            </a:extLst>
          </p:cNvPr>
          <p:cNvSpPr txBox="1">
            <a:spLocks/>
          </p:cNvSpPr>
          <p:nvPr/>
        </p:nvSpPr>
        <p:spPr>
          <a:xfrm>
            <a:off x="6597279" y="9255170"/>
            <a:ext cx="379521" cy="365125"/>
          </a:xfrm>
          <a:prstGeom prst="rect">
            <a:avLst/>
          </a:prstGeom>
          <a:noFill/>
          <a:ln>
            <a:noFill/>
          </a:ln>
        </p:spPr>
        <p:txBody>
          <a:bodyPr spcFirstLastPara="1" wrap="square" lIns="0" tIns="45700" rIns="0" bIns="45700" anchor="ctr" anchorCtr="0">
            <a:noAutofit/>
          </a:bodyPr>
          <a:lstStyle>
            <a:lvl1pPr marL="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a:lvl2pPr marL="457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2pPr>
            <a:lvl3pPr marL="914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3pPr>
            <a:lvl4pPr marL="1371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4pPr>
            <a:lvl5pPr marL="18288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5pPr>
            <a:lvl6pPr marL="22860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6pPr>
            <a:lvl7pPr marL="2743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7pPr>
            <a:lvl8pPr marL="3200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8pPr>
            <a:lvl9pPr marL="3657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9pPr>
          </a:lstStyle>
          <a:p>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fld id="{00000000-1234-1234-1234-123412341234}" type="slidenum">
              <a:rPr kumimoji="0" lang="en-US" sz="700" b="0" i="0" u="none" strike="noStrike" kern="1200" cap="none" spc="0" normalizeH="0" baseline="0" noProof="0" smtClean="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rPr>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t>2</a:t>
            </a:fld>
            <a:endParaRPr kumimoji="0" lang="en-US" sz="900" b="0" i="0" u="none" strike="noStrike" kern="1200" cap="none" spc="0" normalizeH="0" baseline="0" noProof="0" dirty="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617"/>
        </a:solidFill>
        <a:effectLst/>
      </p:bgPr>
    </p:bg>
    <p:spTree>
      <p:nvGrpSpPr>
        <p:cNvPr id="1" name=""/>
        <p:cNvGrpSpPr/>
        <p:nvPr/>
      </p:nvGrpSpPr>
      <p:grpSpPr>
        <a:xfrm>
          <a:off x="0" y="0"/>
          <a:ext cx="0" cy="0"/>
          <a:chOff x="0" y="0"/>
          <a:chExt cx="0" cy="0"/>
        </a:xfrm>
      </p:grpSpPr>
      <p:pic>
        <p:nvPicPr>
          <p:cNvPr id="3" name="Image 0" descr="logo_light.png"/>
          <p:cNvPicPr>
            <a:picLocks noChangeAspect="1"/>
          </p:cNvPicPr>
          <p:nvPr/>
        </p:nvPicPr>
        <p:blipFill>
          <a:blip r:embed="rId4"/>
          <a:stretch>
            <a:fillRect/>
          </a:stretch>
        </p:blipFill>
        <p:spPr>
          <a:xfrm>
            <a:off x="777240" y="787561"/>
            <a:ext cx="1042416" cy="132063"/>
          </a:xfrm>
          <a:prstGeom prst="rect">
            <a:avLst/>
          </a:prstGeom>
        </p:spPr>
      </p:pic>
      <p:sp>
        <p:nvSpPr>
          <p:cNvPr id="4" name="Shape 1"/>
          <p:cNvSpPr/>
          <p:nvPr/>
        </p:nvSpPr>
        <p:spPr>
          <a:xfrm>
            <a:off x="777240" y="3918204"/>
            <a:ext cx="64008" cy="64008"/>
          </a:xfrm>
          <a:prstGeom prst="ellipse">
            <a:avLst/>
          </a:prstGeom>
          <a:solidFill>
            <a:srgbClr val="C7F23E"/>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 name="Text 2"/>
          <p:cNvSpPr/>
          <p:nvPr/>
        </p:nvSpPr>
        <p:spPr>
          <a:xfrm>
            <a:off x="932688" y="3900206"/>
            <a:ext cx="5120640" cy="201168"/>
          </a:xfrm>
          <a:prstGeom prst="rect">
            <a:avLst/>
          </a:prstGeom>
          <a:noFill/>
          <a:ln/>
        </p:spPr>
        <p:txBody>
          <a:bodyPr wrap="square" lIns="0" tIns="0" rIns="0" bIns="0" rtlCol="0" anchor="t"/>
          <a:lstStyle/>
          <a:p>
            <a:pPr marL="0" indent="0">
              <a:buNone/>
            </a:pPr>
            <a:r>
              <a:rPr lang="en-US" sz="850" kern="0" spc="180" dirty="0">
                <a:solidFill>
                  <a:srgbClr val="5C6466"/>
                </a:solidFill>
                <a:latin typeface="Crosswalk Inter Medium" panose="02000503000000020004" pitchFamily="34" charset="0"/>
                <a:ea typeface="Crosswalk Inter Medium" panose="02000503000000020004" pitchFamily="34" charset="0"/>
                <a:cs typeface="Crosswalk Inter Medium" panose="02000503000000020004" pitchFamily="34" charset="0"/>
              </a:rPr>
              <a:t>SECTION 01</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p:nvPr/>
        </p:nvSpPr>
        <p:spPr>
          <a:xfrm>
            <a:off x="777240" y="4224528"/>
            <a:ext cx="5669280" cy="722376"/>
          </a:xfrm>
          <a:prstGeom prst="rect">
            <a:avLst/>
          </a:prstGeom>
          <a:noFill/>
          <a:ln/>
        </p:spPr>
        <p:txBody>
          <a:bodyPr wrap="square" lIns="0" tIns="0" rIns="0" bIns="0" rtlCol="0" anchor="t"/>
          <a:lstStyle/>
          <a:p>
            <a:pPr marL="0" indent="0">
              <a:lnSpc>
                <a:spcPts val="4800"/>
              </a:lnSpc>
              <a:buNone/>
            </a:pPr>
            <a:r>
              <a:rPr lang="en-US" sz="4600" b="1" kern="0" spc="-9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Purpose.</a:t>
            </a:r>
            <a:endParaRPr lang="en-US" sz="46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7" name="Shape 4"/>
          <p:cNvSpPr/>
          <p:nvPr/>
        </p:nvSpPr>
        <p:spPr>
          <a:xfrm>
            <a:off x="777240" y="7772400"/>
            <a:ext cx="6217920" cy="6401"/>
          </a:xfrm>
          <a:prstGeom prst="rect">
            <a:avLst/>
          </a:prstGeom>
          <a:solidFill>
            <a:srgbClr val="27393D"/>
          </a:solidFill>
          <a:ln/>
        </p:spPr>
        <p:txBody>
          <a:bodyPr/>
          <a:lstStyle/>
          <a:p>
            <a:endParaRPr lang="en-US" sz="200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Text 5"/>
          <p:cNvSpPr/>
          <p:nvPr/>
        </p:nvSpPr>
        <p:spPr>
          <a:xfrm>
            <a:off x="777240" y="8010144"/>
            <a:ext cx="502920" cy="237744"/>
          </a:xfrm>
          <a:prstGeom prst="rect">
            <a:avLst/>
          </a:prstGeom>
          <a:noFill/>
          <a:ln/>
        </p:spPr>
        <p:txBody>
          <a:bodyPr wrap="square" lIns="0" tIns="0" rIns="0" bIns="0" rtlCol="0" anchor="t"/>
          <a:lstStyle/>
          <a:p>
            <a:pPr marL="0" indent="0">
              <a:buNone/>
            </a:pPr>
            <a:r>
              <a:rPr lang="en-US" sz="1100" dirty="0">
                <a:solidFill>
                  <a:srgbClr val="5C6466"/>
                </a:solidFill>
                <a:latin typeface="Crosswalk Inter Medium" panose="02000503000000020004" pitchFamily="34" charset="0"/>
                <a:ea typeface="Crosswalk Inter Medium" panose="02000503000000020004" pitchFamily="34" charset="0"/>
                <a:cs typeface="Crosswalk Inter Medium" panose="02000503000000020004" pitchFamily="34" charset="0"/>
              </a:rPr>
              <a:t>1.1</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Text 6"/>
          <p:cNvSpPr/>
          <p:nvPr/>
        </p:nvSpPr>
        <p:spPr>
          <a:xfrm>
            <a:off x="1344168" y="8010144"/>
            <a:ext cx="5486400" cy="237744"/>
          </a:xfrm>
          <a:prstGeom prst="rect">
            <a:avLst/>
          </a:prstGeom>
          <a:noFill/>
          <a:ln/>
        </p:spPr>
        <p:txBody>
          <a:bodyPr wrap="square" lIns="0" tIns="0" rIns="0" bIns="0" rtlCol="0" anchor="t"/>
          <a:lstStyle/>
          <a:p>
            <a:pPr marL="0" indent="0">
              <a:buNone/>
            </a:pPr>
            <a:r>
              <a:rPr lang="en-US" sz="110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Three full projects, starting with [PROJECT 1 SUBJECT]</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0" name="Text 7"/>
          <p:cNvSpPr/>
          <p:nvPr/>
        </p:nvSpPr>
        <p:spPr>
          <a:xfrm>
            <a:off x="777240" y="8348472"/>
            <a:ext cx="502920" cy="237744"/>
          </a:xfrm>
          <a:prstGeom prst="rect">
            <a:avLst/>
          </a:prstGeom>
          <a:noFill/>
          <a:ln/>
        </p:spPr>
        <p:txBody>
          <a:bodyPr wrap="square" lIns="0" tIns="0" rIns="0" bIns="0" rtlCol="0" anchor="t"/>
          <a:lstStyle/>
          <a:p>
            <a:pPr marL="0" indent="0">
              <a:buNone/>
            </a:pPr>
            <a:r>
              <a:rPr lang="en-US" sz="1100" dirty="0">
                <a:solidFill>
                  <a:srgbClr val="5C6466"/>
                </a:solidFill>
                <a:latin typeface="Crosswalk Inter Medium" panose="02000503000000020004" pitchFamily="34" charset="0"/>
                <a:ea typeface="Crosswalk Inter Medium" panose="02000503000000020004" pitchFamily="34" charset="0"/>
                <a:cs typeface="Crosswalk Inter Medium" panose="02000503000000020004" pitchFamily="34" charset="0"/>
              </a:rPr>
              <a:t>1.2</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Text 8"/>
          <p:cNvSpPr/>
          <p:nvPr/>
        </p:nvSpPr>
        <p:spPr>
          <a:xfrm>
            <a:off x="1344168" y="8348472"/>
            <a:ext cx="5486400" cy="237744"/>
          </a:xfrm>
          <a:prstGeom prst="rect">
            <a:avLst/>
          </a:prstGeom>
          <a:noFill/>
          <a:ln/>
        </p:spPr>
        <p:txBody>
          <a:bodyPr wrap="square" lIns="0" tIns="0" rIns="0" bIns="0" rtlCol="0" anchor="t"/>
          <a:lstStyle/>
          <a:p>
            <a:pPr marL="0" indent="0">
              <a:buNone/>
            </a:pPr>
            <a:r>
              <a:rPr lang="en-US" sz="110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What behavioral data reveals that existing tools cannot</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Text 9"/>
          <p:cNvSpPr/>
          <p:nvPr/>
        </p:nvSpPr>
        <p:spPr>
          <a:xfrm>
            <a:off x="777240" y="8686800"/>
            <a:ext cx="502920" cy="237744"/>
          </a:xfrm>
          <a:prstGeom prst="rect">
            <a:avLst/>
          </a:prstGeom>
          <a:noFill/>
          <a:ln/>
        </p:spPr>
        <p:txBody>
          <a:bodyPr wrap="square" lIns="0" tIns="0" rIns="0" bIns="0" rtlCol="0" anchor="t"/>
          <a:lstStyle/>
          <a:p>
            <a:pPr marL="0" indent="0">
              <a:buNone/>
            </a:pPr>
            <a:r>
              <a:rPr lang="en-US" sz="1100" dirty="0">
                <a:solidFill>
                  <a:srgbClr val="5C6466"/>
                </a:solidFill>
                <a:latin typeface="Crosswalk Inter Medium" panose="02000503000000020004" pitchFamily="34" charset="0"/>
                <a:ea typeface="Crosswalk Inter Medium" panose="02000503000000020004" pitchFamily="34" charset="0"/>
                <a:cs typeface="Crosswalk Inter Medium" panose="02000503000000020004" pitchFamily="34" charset="0"/>
              </a:rPr>
              <a:t>1.3</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Text 10"/>
          <p:cNvSpPr/>
          <p:nvPr/>
        </p:nvSpPr>
        <p:spPr>
          <a:xfrm>
            <a:off x="1344168" y="8686800"/>
            <a:ext cx="5486400" cy="237744"/>
          </a:xfrm>
          <a:prstGeom prst="rect">
            <a:avLst/>
          </a:prstGeom>
          <a:noFill/>
          <a:ln/>
        </p:spPr>
        <p:txBody>
          <a:bodyPr wrap="square" lIns="0" tIns="0" rIns="0" bIns="0" rtlCol="0" anchor="t"/>
          <a:lstStyle/>
          <a:p>
            <a:pPr marL="0" indent="0">
              <a:buNone/>
            </a:pPr>
            <a:r>
              <a:rPr lang="en-US" sz="110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One platform, every team</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4" name="Text 11"/>
          <p:cNvSpPr/>
          <p:nvPr/>
        </p:nvSpPr>
        <p:spPr>
          <a:xfrm>
            <a:off x="777240" y="9025128"/>
            <a:ext cx="502920" cy="237744"/>
          </a:xfrm>
          <a:prstGeom prst="rect">
            <a:avLst/>
          </a:prstGeom>
          <a:noFill/>
          <a:ln/>
        </p:spPr>
        <p:txBody>
          <a:bodyPr wrap="square" lIns="0" tIns="0" rIns="0" bIns="0" rtlCol="0" anchor="t"/>
          <a:lstStyle/>
          <a:p>
            <a:pPr marL="0" indent="0">
              <a:buNone/>
            </a:pPr>
            <a:r>
              <a:rPr lang="en-US" sz="1100" dirty="0">
                <a:solidFill>
                  <a:srgbClr val="5C6466"/>
                </a:solidFill>
                <a:latin typeface="Crosswalk Inter Medium" panose="02000503000000020004" pitchFamily="34" charset="0"/>
                <a:ea typeface="Crosswalk Inter Medium" panose="02000503000000020004" pitchFamily="34" charset="0"/>
                <a:cs typeface="Crosswalk Inter Medium" panose="02000503000000020004" pitchFamily="34" charset="0"/>
              </a:rPr>
              <a:t>1.4</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5" name="Text 12"/>
          <p:cNvSpPr/>
          <p:nvPr/>
        </p:nvSpPr>
        <p:spPr>
          <a:xfrm>
            <a:off x="1344168" y="9025128"/>
            <a:ext cx="5486400" cy="237744"/>
          </a:xfrm>
          <a:prstGeom prst="rect">
            <a:avLst/>
          </a:prstGeom>
          <a:noFill/>
          <a:ln/>
        </p:spPr>
        <p:txBody>
          <a:bodyPr wrap="square" lIns="0" tIns="0" rIns="0" bIns="0" rtlCol="0" anchor="t"/>
          <a:lstStyle/>
          <a:p>
            <a:pPr marL="0" indent="0">
              <a:buNone/>
            </a:pPr>
            <a:r>
              <a:rPr lang="en-US" sz="110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The data foundation</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E8E2"/>
        </a:solidFill>
        <a:effectLst/>
      </p:bgPr>
    </p:bg>
    <p:spTree>
      <p:nvGrpSpPr>
        <p:cNvPr id="1" name=""/>
        <p:cNvGrpSpPr/>
        <p:nvPr/>
      </p:nvGrpSpPr>
      <p:grpSpPr>
        <a:xfrm>
          <a:off x="0" y="0"/>
          <a:ext cx="0" cy="0"/>
          <a:chOff x="0" y="0"/>
          <a:chExt cx="0" cy="0"/>
        </a:xfrm>
      </p:grpSpPr>
      <p:sp>
        <p:nvSpPr>
          <p:cNvPr id="3" name="Text 1"/>
          <p:cNvSpPr/>
          <p:nvPr/>
        </p:nvSpPr>
        <p:spPr>
          <a:xfrm>
            <a:off x="777240" y="530352"/>
            <a:ext cx="4206240" cy="201168"/>
          </a:xfrm>
          <a:prstGeom prst="rect">
            <a:avLst/>
          </a:prstGeom>
          <a:noFill/>
          <a:ln/>
        </p:spPr>
        <p:txBody>
          <a:bodyPr wrap="square" lIns="0" tIns="0" rIns="0" bIns="0" rtlCol="0" anchor="t"/>
          <a:lstStyle/>
          <a:p>
            <a:r>
              <a:rPr lang="en-US" sz="750" kern="0" spc="150" dirty="0">
                <a:solidFill>
                  <a:srgbClr val="888C89"/>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PURPOSE</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pic>
        <p:nvPicPr>
          <p:cNvPr id="4" name="Image 0" descr="logo_dark.png"/>
          <p:cNvPicPr>
            <a:picLocks noChangeAspect="1"/>
          </p:cNvPicPr>
          <p:nvPr/>
        </p:nvPicPr>
        <p:blipFill>
          <a:blip r:embed="rId4"/>
          <a:stretch>
            <a:fillRect/>
          </a:stretch>
        </p:blipFill>
        <p:spPr>
          <a:xfrm>
            <a:off x="6062472" y="544424"/>
            <a:ext cx="932688" cy="118161"/>
          </a:xfrm>
          <a:prstGeom prst="rect">
            <a:avLst/>
          </a:prstGeom>
        </p:spPr>
      </p:pic>
      <p:sp>
        <p:nvSpPr>
          <p:cNvPr id="5" name="Shape 2"/>
          <p:cNvSpPr/>
          <p:nvPr/>
        </p:nvSpPr>
        <p:spPr>
          <a:xfrm>
            <a:off x="777240" y="868680"/>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p:nvPr/>
        </p:nvSpPr>
        <p:spPr>
          <a:xfrm>
            <a:off x="777240" y="9381744"/>
            <a:ext cx="4114800" cy="182880"/>
          </a:xfrm>
          <a:prstGeom prst="rect">
            <a:avLst/>
          </a:prstGeom>
          <a:noFill/>
          <a:ln/>
        </p:spPr>
        <p:txBody>
          <a:bodyPr wrap="square" lIns="0" tIns="0" rIns="0" bIns="0" rtlCol="0" anchor="t"/>
          <a:lstStyle/>
          <a:p>
            <a:pPr marL="0" indent="0">
              <a:buNone/>
            </a:pPr>
            <a:r>
              <a:rPr lang="en-US" sz="700" kern="0" spc="14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CROSSWALK / BEHAVIORAL INTELLIGENCE ENGINE</a:t>
            </a:r>
            <a:endParaRPr lang="en-US" sz="7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Shape 5"/>
          <p:cNvSpPr/>
          <p:nvPr/>
        </p:nvSpPr>
        <p:spPr>
          <a:xfrm>
            <a:off x="777240" y="1120140"/>
            <a:ext cx="64008" cy="64008"/>
          </a:xfrm>
          <a:prstGeom prst="ellipse">
            <a:avLst/>
          </a:prstGeom>
          <a:solidFill>
            <a:srgbClr val="5E7E12"/>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Text 6"/>
          <p:cNvSpPr/>
          <p:nvPr/>
        </p:nvSpPr>
        <p:spPr>
          <a:xfrm>
            <a:off x="932688" y="1094191"/>
            <a:ext cx="5120640" cy="201168"/>
          </a:xfrm>
          <a:prstGeom prst="rect">
            <a:avLst/>
          </a:prstGeom>
          <a:noFill/>
          <a:ln/>
        </p:spPr>
        <p:txBody>
          <a:bodyPr wrap="square" lIns="0" tIns="0" rIns="0" bIns="0" rtlCol="0" anchor="t"/>
          <a:lstStyle/>
          <a:p>
            <a:pPr marL="0" indent="0">
              <a:buNone/>
            </a:pPr>
            <a:r>
              <a:rPr lang="en-US" sz="850" kern="0" spc="18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1.1 AND 1.2 TWO QUESTIONS</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0" name="Text 7"/>
          <p:cNvSpPr/>
          <p:nvPr/>
        </p:nvSpPr>
        <p:spPr>
          <a:xfrm>
            <a:off x="777240" y="1572768"/>
            <a:ext cx="6217920" cy="616818"/>
          </a:xfrm>
          <a:prstGeom prst="rect">
            <a:avLst/>
          </a:prstGeom>
          <a:noFill/>
          <a:ln/>
        </p:spPr>
        <p:txBody>
          <a:bodyPr wrap="square" lIns="0" tIns="0" rIns="0" bIns="0" rtlCol="0" anchor="t"/>
          <a:lstStyle/>
          <a:p>
            <a:pPr marL="0" indent="0">
              <a:lnSpc>
                <a:spcPts val="1575"/>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This POC is built for [CLIENT NAME]: three full projects and complete platform access inside thirty days, so every output is ready for immediate use with your teams and your clients.</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Shape 8"/>
          <p:cNvSpPr/>
          <p:nvPr/>
        </p:nvSpPr>
        <p:spPr>
          <a:xfrm>
            <a:off x="777240" y="2788919"/>
            <a:ext cx="6217920" cy="2240281"/>
          </a:xfrm>
          <a:prstGeom prst="roundRect">
            <a:avLst>
              <a:gd name="adj" fmla="val 4805"/>
            </a:avLst>
          </a:prstGeom>
          <a:solidFill>
            <a:srgbClr val="E1E0D7"/>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Text 9"/>
          <p:cNvSpPr/>
          <p:nvPr/>
        </p:nvSpPr>
        <p:spPr>
          <a:xfrm>
            <a:off x="1051560" y="3008376"/>
            <a:ext cx="914400" cy="384048"/>
          </a:xfrm>
          <a:prstGeom prst="rect">
            <a:avLst/>
          </a:prstGeom>
          <a:noFill/>
          <a:ln/>
        </p:spPr>
        <p:txBody>
          <a:bodyPr wrap="square" lIns="0" tIns="0" rIns="0" bIns="0" rtlCol="0" anchor="t"/>
          <a:lstStyle/>
          <a:p>
            <a:pPr marL="0" indent="0">
              <a:buNone/>
            </a:pPr>
            <a:r>
              <a:rPr lang="en-US" sz="26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01</a:t>
            </a:r>
            <a:endParaRPr lang="en-US" sz="26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Text 10"/>
          <p:cNvSpPr/>
          <p:nvPr/>
        </p:nvSpPr>
        <p:spPr>
          <a:xfrm>
            <a:off x="1051560" y="3546601"/>
            <a:ext cx="3092177" cy="457200"/>
          </a:xfrm>
          <a:prstGeom prst="rect">
            <a:avLst/>
          </a:prstGeom>
          <a:noFill/>
          <a:ln/>
        </p:spPr>
        <p:txBody>
          <a:bodyPr wrap="square" lIns="0" tIns="0" rIns="0" bIns="0" rtlCol="0" anchor="t"/>
          <a:lstStyle/>
          <a:p>
            <a:pPr marL="0" indent="0">
              <a:lnSpc>
                <a:spcPts val="1650"/>
              </a:lnSpc>
              <a:buNone/>
            </a:pPr>
            <a:r>
              <a:rPr lang="en-US" sz="135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What is the full behavioral value of a single subject?</a:t>
            </a:r>
            <a:endParaRPr lang="en-US" sz="13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4" name="Text 11"/>
          <p:cNvSpPr/>
          <p:nvPr/>
        </p:nvSpPr>
        <p:spPr>
          <a:xfrm>
            <a:off x="1051560" y="4109826"/>
            <a:ext cx="5488940" cy="578237"/>
          </a:xfrm>
          <a:prstGeom prst="rect">
            <a:avLst/>
          </a:prstGeom>
          <a:noFill/>
          <a:ln/>
        </p:spPr>
        <p:txBody>
          <a:bodyPr wrap="square" lIns="0" tIns="0" rIns="0" bIns="0" rtlCol="0" anchor="t"/>
          <a:lstStyle/>
          <a:p>
            <a:pPr marL="0" indent="0">
              <a:lnSpc>
                <a:spcPts val="1500"/>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The first project is a complete behavioral deep-dive on [PROJECT 1 SUBJECT]: who that audience is, what they buy, which brands they over-index against, and which channels convert them. Version 1 of the [PROJECT 1 SUBJECT] deck is delivered by end of day after kickoff.</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5" name="Shape 12"/>
          <p:cNvSpPr/>
          <p:nvPr/>
        </p:nvSpPr>
        <p:spPr>
          <a:xfrm>
            <a:off x="777240" y="5352890"/>
            <a:ext cx="6217920" cy="2490283"/>
          </a:xfrm>
          <a:prstGeom prst="roundRect">
            <a:avLst>
              <a:gd name="adj" fmla="val 4067"/>
            </a:avLst>
          </a:prstGeom>
          <a:solidFill>
            <a:srgbClr val="E1E0D7"/>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6" name="Text 13"/>
          <p:cNvSpPr/>
          <p:nvPr/>
        </p:nvSpPr>
        <p:spPr>
          <a:xfrm>
            <a:off x="1051560" y="5572346"/>
            <a:ext cx="914400" cy="384048"/>
          </a:xfrm>
          <a:prstGeom prst="rect">
            <a:avLst/>
          </a:prstGeom>
          <a:noFill/>
          <a:ln/>
        </p:spPr>
        <p:txBody>
          <a:bodyPr wrap="square" lIns="0" tIns="0" rIns="0" bIns="0" rtlCol="0" anchor="t"/>
          <a:lstStyle/>
          <a:p>
            <a:pPr marL="0" indent="0">
              <a:buNone/>
            </a:pPr>
            <a:r>
              <a:rPr lang="en-US" sz="26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02</a:t>
            </a:r>
            <a:endParaRPr lang="en-US" sz="26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7" name="Text 14"/>
          <p:cNvSpPr/>
          <p:nvPr/>
        </p:nvSpPr>
        <p:spPr>
          <a:xfrm>
            <a:off x="1051560" y="6110571"/>
            <a:ext cx="3751934" cy="457200"/>
          </a:xfrm>
          <a:prstGeom prst="rect">
            <a:avLst/>
          </a:prstGeom>
          <a:noFill/>
          <a:ln/>
        </p:spPr>
        <p:txBody>
          <a:bodyPr wrap="square" lIns="0" tIns="0" rIns="0" bIns="0" rtlCol="0" anchor="t"/>
          <a:lstStyle/>
          <a:p>
            <a:pPr marL="0" indent="0">
              <a:lnSpc>
                <a:spcPts val="1650"/>
              </a:lnSpc>
              <a:buNone/>
            </a:pPr>
            <a:r>
              <a:rPr lang="en-US" sz="135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What does behavioral data reveal that existing tools cannot?</a:t>
            </a:r>
            <a:endParaRPr lang="en-US" sz="13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8" name="Text 15"/>
          <p:cNvSpPr/>
          <p:nvPr/>
        </p:nvSpPr>
        <p:spPr>
          <a:xfrm>
            <a:off x="1051560" y="6673796"/>
            <a:ext cx="5488940" cy="1084299"/>
          </a:xfrm>
          <a:prstGeom prst="rect">
            <a:avLst/>
          </a:prstGeom>
          <a:noFill/>
          <a:ln/>
        </p:spPr>
        <p:txBody>
          <a:bodyPr wrap="square" lIns="0" tIns="0" rIns="0" bIns="0" rtlCol="0" anchor="t"/>
          <a:lstStyle/>
          <a:p>
            <a:pPr marL="0" indent="0">
              <a:lnSpc>
                <a:spcPts val="1500"/>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Survey panels, social tools, and owned and operated data show who a talent reaches. The value sits in what that audience does: what they buy, what they shop for, which brands they over-index against, and which marketing channels convert them. This POC delivers that full behavioral read on the subjects you select, including talent with little or no published audience data.</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0" name="Google Shape;100;p37">
            <a:extLst>
              <a:ext uri="{FF2B5EF4-FFF2-40B4-BE49-F238E27FC236}">
                <a16:creationId xmlns:a16="http://schemas.microsoft.com/office/drawing/2014/main" id="{8BAC0243-BEDB-A3BD-F2CC-6C6027C72D8C}"/>
              </a:ext>
            </a:extLst>
          </p:cNvPr>
          <p:cNvSpPr txBox="1">
            <a:spLocks/>
          </p:cNvSpPr>
          <p:nvPr/>
        </p:nvSpPr>
        <p:spPr>
          <a:xfrm>
            <a:off x="6597279" y="9255170"/>
            <a:ext cx="379521" cy="365125"/>
          </a:xfrm>
          <a:prstGeom prst="rect">
            <a:avLst/>
          </a:prstGeom>
          <a:noFill/>
          <a:ln>
            <a:noFill/>
          </a:ln>
        </p:spPr>
        <p:txBody>
          <a:bodyPr spcFirstLastPara="1" wrap="square" lIns="0" tIns="45700" rIns="0" bIns="45700" anchor="ctr" anchorCtr="0">
            <a:noAutofit/>
          </a:bodyPr>
          <a:lstStyle>
            <a:lvl1pPr marL="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a:lvl2pPr marL="457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2pPr>
            <a:lvl3pPr marL="914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3pPr>
            <a:lvl4pPr marL="1371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4pPr>
            <a:lvl5pPr marL="18288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5pPr>
            <a:lvl6pPr marL="22860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6pPr>
            <a:lvl7pPr marL="2743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7pPr>
            <a:lvl8pPr marL="3200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8pPr>
            <a:lvl9pPr marL="3657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9pPr>
          </a:lstStyle>
          <a:p>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fld id="{00000000-1234-1234-1234-123412341234}" type="slidenum">
              <a:rPr kumimoji="0" lang="en-US" sz="700" b="0" i="0" u="none" strike="noStrike" kern="1200" cap="none" spc="0" normalizeH="0" baseline="0" noProof="0" smtClean="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rPr>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t>4</a:t>
            </a:fld>
            <a:endParaRPr kumimoji="0" lang="en-US" sz="900" b="0" i="0" u="none" strike="noStrike" kern="1200" cap="none" spc="0" normalizeH="0" baseline="0" noProof="0" dirty="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E8E2"/>
        </a:solidFill>
        <a:effectLst/>
      </p:bgPr>
    </p:bg>
    <p:spTree>
      <p:nvGrpSpPr>
        <p:cNvPr id="1" name=""/>
        <p:cNvGrpSpPr/>
        <p:nvPr/>
      </p:nvGrpSpPr>
      <p:grpSpPr>
        <a:xfrm>
          <a:off x="0" y="0"/>
          <a:ext cx="0" cy="0"/>
          <a:chOff x="0" y="0"/>
          <a:chExt cx="0" cy="0"/>
        </a:xfrm>
      </p:grpSpPr>
      <p:sp>
        <p:nvSpPr>
          <p:cNvPr id="3" name="Text 1"/>
          <p:cNvSpPr/>
          <p:nvPr/>
        </p:nvSpPr>
        <p:spPr>
          <a:xfrm>
            <a:off x="777240" y="530352"/>
            <a:ext cx="4206240" cy="201168"/>
          </a:xfrm>
          <a:prstGeom prst="rect">
            <a:avLst/>
          </a:prstGeom>
          <a:noFill/>
          <a:ln/>
        </p:spPr>
        <p:txBody>
          <a:bodyPr wrap="square" lIns="0" tIns="0" rIns="0" bIns="0" rtlCol="0" anchor="t"/>
          <a:lstStyle/>
          <a:p>
            <a:r>
              <a:rPr lang="en-US" sz="750" kern="0" spc="150" dirty="0">
                <a:solidFill>
                  <a:srgbClr val="888C89"/>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PURPOSE</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pic>
        <p:nvPicPr>
          <p:cNvPr id="4" name="Image 0" descr="logo_dark.png"/>
          <p:cNvPicPr>
            <a:picLocks noChangeAspect="1"/>
          </p:cNvPicPr>
          <p:nvPr/>
        </p:nvPicPr>
        <p:blipFill>
          <a:blip r:embed="rId4"/>
          <a:stretch>
            <a:fillRect/>
          </a:stretch>
        </p:blipFill>
        <p:spPr>
          <a:xfrm>
            <a:off x="6062472" y="544424"/>
            <a:ext cx="932688" cy="118161"/>
          </a:xfrm>
          <a:prstGeom prst="rect">
            <a:avLst/>
          </a:prstGeom>
        </p:spPr>
      </p:pic>
      <p:sp>
        <p:nvSpPr>
          <p:cNvPr id="5" name="Shape 2"/>
          <p:cNvSpPr/>
          <p:nvPr/>
        </p:nvSpPr>
        <p:spPr>
          <a:xfrm>
            <a:off x="777240" y="868680"/>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p:nvPr/>
        </p:nvSpPr>
        <p:spPr>
          <a:xfrm>
            <a:off x="777240" y="9381744"/>
            <a:ext cx="4114800" cy="182880"/>
          </a:xfrm>
          <a:prstGeom prst="rect">
            <a:avLst/>
          </a:prstGeom>
          <a:noFill/>
          <a:ln/>
        </p:spPr>
        <p:txBody>
          <a:bodyPr wrap="square" lIns="0" tIns="0" rIns="0" bIns="0" rtlCol="0" anchor="t"/>
          <a:lstStyle/>
          <a:p>
            <a:pPr marL="0" indent="0">
              <a:buNone/>
            </a:pPr>
            <a:r>
              <a:rPr lang="en-US" sz="700" kern="0" spc="14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CROSSWALK / BEHAVIORAL INTELLIGENCE ENGINE</a:t>
            </a:r>
            <a:endParaRPr lang="en-US" sz="7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Shape 5"/>
          <p:cNvSpPr/>
          <p:nvPr/>
        </p:nvSpPr>
        <p:spPr>
          <a:xfrm>
            <a:off x="777240" y="1120140"/>
            <a:ext cx="64008" cy="64008"/>
          </a:xfrm>
          <a:prstGeom prst="ellipse">
            <a:avLst/>
          </a:prstGeom>
          <a:solidFill>
            <a:srgbClr val="5E7E12"/>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Text 6"/>
          <p:cNvSpPr/>
          <p:nvPr/>
        </p:nvSpPr>
        <p:spPr>
          <a:xfrm>
            <a:off x="932688" y="1094191"/>
            <a:ext cx="5120640" cy="201168"/>
          </a:xfrm>
          <a:prstGeom prst="rect">
            <a:avLst/>
          </a:prstGeom>
          <a:noFill/>
          <a:ln/>
        </p:spPr>
        <p:txBody>
          <a:bodyPr wrap="square" lIns="0" tIns="0" rIns="0" bIns="0" rtlCol="0" anchor="t"/>
          <a:lstStyle/>
          <a:p>
            <a:pPr marL="0" indent="0">
              <a:buNone/>
            </a:pPr>
            <a:r>
              <a:rPr lang="en-US" sz="850" kern="0" spc="18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1.3 ONE PLATFORM</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0" name="Text 7"/>
          <p:cNvSpPr/>
          <p:nvPr/>
        </p:nvSpPr>
        <p:spPr>
          <a:xfrm>
            <a:off x="777240" y="1572768"/>
            <a:ext cx="6217920" cy="422275"/>
          </a:xfrm>
          <a:prstGeom prst="rect">
            <a:avLst/>
          </a:prstGeom>
          <a:noFill/>
          <a:ln/>
        </p:spPr>
        <p:txBody>
          <a:bodyPr wrap="square" lIns="0" tIns="0" rIns="0" bIns="0" rtlCol="0" anchor="t"/>
          <a:lstStyle/>
          <a:p>
            <a:pPr marL="0" indent="0">
              <a:lnSpc>
                <a:spcPts val="2461"/>
              </a:lnSpc>
              <a:buNone/>
            </a:pPr>
            <a:r>
              <a:rPr lang="en-US" sz="23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One platform, every team.</a:t>
            </a:r>
            <a:endParaRPr lang="en-US" sz="2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Text 8"/>
          <p:cNvSpPr/>
          <p:nvPr/>
        </p:nvSpPr>
        <p:spPr>
          <a:xfrm>
            <a:off x="777240" y="2196211"/>
            <a:ext cx="6217920" cy="877824"/>
          </a:xfrm>
          <a:prstGeom prst="rect">
            <a:avLst/>
          </a:prstGeom>
          <a:noFill/>
          <a:ln/>
        </p:spPr>
        <p:txBody>
          <a:bodyPr wrap="square" lIns="0" tIns="0" rIns="0" bIns="0" rtlCol="0" anchor="t"/>
          <a:lstStyle/>
          <a:p>
            <a:pPr marL="0" indent="0">
              <a:lnSpc>
                <a:spcPts val="1575"/>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The Behavioral Intelligence Engine is built as shared infrastructure: one source of truth that research, analytics, marketing, and commercial teams can each work from directly. With full dashboard access during the POC, every member of the team gets into the tool and finds their own answers.</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Text 9"/>
          <p:cNvSpPr/>
          <p:nvPr/>
        </p:nvSpPr>
        <p:spPr>
          <a:xfrm>
            <a:off x="777240" y="3183763"/>
            <a:ext cx="6217920" cy="182880"/>
          </a:xfrm>
          <a:prstGeom prst="rect">
            <a:avLst/>
          </a:prstGeom>
          <a:noFill/>
          <a:ln/>
        </p:spPr>
        <p:txBody>
          <a:bodyPr wrap="square" lIns="0" tIns="0" rIns="0" bIns="0" rtlCol="0" anchor="t"/>
          <a:lstStyle/>
          <a:p>
            <a:pPr marL="0" indent="0">
              <a:buNone/>
            </a:pPr>
            <a:r>
              <a:rPr lang="en-US" sz="850" b="1" kern="0" spc="1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1.4   THE DATA FOUNDATION</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Text 10"/>
          <p:cNvSpPr/>
          <p:nvPr/>
        </p:nvSpPr>
        <p:spPr>
          <a:xfrm>
            <a:off x="777240" y="3476371"/>
            <a:ext cx="6217920" cy="1379093"/>
          </a:xfrm>
          <a:prstGeom prst="rect">
            <a:avLst/>
          </a:prstGeom>
          <a:noFill/>
          <a:ln/>
        </p:spPr>
        <p:txBody>
          <a:bodyPr wrap="square" lIns="0" tIns="0" rIns="0" bIns="0" rtlCol="0" anchor="t"/>
          <a:lstStyle/>
          <a:p>
            <a:pPr marL="0" indent="0">
              <a:lnSpc>
                <a:spcPts val="1575"/>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Every figure in this POC is built on Crosswalk's fully opted-in panel of 30M+ US consumers: brand-sourced, incentive-based, granularly consented, never marketed to, and census-balanced through the 10M Gen Pop projection subpanel. All data is T+1, reflecting what panelists did yesterday. The complete provenance, consent, weighting, and projection methodology is included in the supporting materials for your research team.</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4" name="Shape 11"/>
          <p:cNvSpPr/>
          <p:nvPr/>
        </p:nvSpPr>
        <p:spPr>
          <a:xfrm>
            <a:off x="777240" y="5111496"/>
            <a:ext cx="6217920" cy="1866353"/>
          </a:xfrm>
          <a:prstGeom prst="roundRect">
            <a:avLst>
              <a:gd name="adj" fmla="val 4484"/>
            </a:avLst>
          </a:prstGeom>
          <a:solidFill>
            <a:srgbClr val="E1E0D7"/>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5" name="Shape 12"/>
          <p:cNvSpPr/>
          <p:nvPr/>
        </p:nvSpPr>
        <p:spPr>
          <a:xfrm>
            <a:off x="1018524" y="5340826"/>
            <a:ext cx="3794394" cy="347472"/>
          </a:xfrm>
          <a:prstGeom prst="roundRect">
            <a:avLst>
              <a:gd name="adj" fmla="val 14913"/>
            </a:avLst>
          </a:prstGeom>
          <a:solidFill>
            <a:srgbClr val="0C1618"/>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6" name="Shape 13"/>
          <p:cNvSpPr/>
          <p:nvPr/>
        </p:nvSpPr>
        <p:spPr>
          <a:xfrm>
            <a:off x="4886364" y="5340826"/>
            <a:ext cx="1874886" cy="347472"/>
          </a:xfrm>
          <a:prstGeom prst="roundRect">
            <a:avLst>
              <a:gd name="adj" fmla="val 14913"/>
            </a:avLst>
          </a:prstGeom>
          <a:solidFill>
            <a:srgbClr val="5E7E12"/>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7" name="Text 14"/>
          <p:cNvSpPr/>
          <p:nvPr/>
        </p:nvSpPr>
        <p:spPr>
          <a:xfrm>
            <a:off x="1146540" y="5423122"/>
            <a:ext cx="3611514" cy="182880"/>
          </a:xfrm>
          <a:prstGeom prst="rect">
            <a:avLst/>
          </a:prstGeom>
          <a:noFill/>
          <a:ln/>
        </p:spPr>
        <p:txBody>
          <a:bodyPr wrap="square" lIns="0" tIns="0" rIns="0" bIns="0" rtlCol="0" anchor="t"/>
          <a:lstStyle/>
          <a:p>
            <a:pPr marL="0" indent="0">
              <a:buNone/>
            </a:pPr>
            <a:r>
              <a:rPr lang="en-US" sz="800" b="1" kern="0" spc="9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30M+ OPTED-IN US CONSUMERS</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8" name="Text 15"/>
          <p:cNvSpPr/>
          <p:nvPr/>
        </p:nvSpPr>
        <p:spPr>
          <a:xfrm>
            <a:off x="5014380" y="5423122"/>
            <a:ext cx="1463040" cy="182880"/>
          </a:xfrm>
          <a:prstGeom prst="rect">
            <a:avLst/>
          </a:prstGeom>
          <a:noFill/>
          <a:ln/>
        </p:spPr>
        <p:txBody>
          <a:bodyPr wrap="square" lIns="0" tIns="0" rIns="0" bIns="0" rtlCol="0" anchor="t"/>
          <a:lstStyle/>
          <a:p>
            <a:pPr marL="0" indent="0">
              <a:buNone/>
            </a:pPr>
            <a:r>
              <a:rPr lang="en-US" sz="800" b="1" kern="0" spc="90" dirty="0">
                <a:solidFill>
                  <a:srgbClr val="F2FBDA"/>
                </a:solidFill>
                <a:latin typeface="Crosswalk Inter" panose="02000503000000020004" pitchFamily="34" charset="0"/>
                <a:ea typeface="Crosswalk Inter" panose="02000503000000020004" pitchFamily="34" charset="0"/>
                <a:cs typeface="Crosswalk Inter" panose="02000503000000020004" pitchFamily="34" charset="0"/>
              </a:rPr>
              <a:t>10M GEN POP</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9" name="Text 16"/>
          <p:cNvSpPr/>
          <p:nvPr/>
        </p:nvSpPr>
        <p:spPr>
          <a:xfrm>
            <a:off x="1018524" y="5835735"/>
            <a:ext cx="1737360" cy="274320"/>
          </a:xfrm>
          <a:prstGeom prst="rect">
            <a:avLst/>
          </a:prstGeom>
          <a:noFill/>
          <a:ln/>
        </p:spPr>
        <p:txBody>
          <a:bodyPr wrap="square" lIns="0" tIns="0" rIns="0" bIns="0" rtlCol="0" anchor="t"/>
          <a:lstStyle/>
          <a:p>
            <a:pPr marL="0" indent="0">
              <a:buNone/>
            </a:pPr>
            <a:r>
              <a:rPr lang="en-US" sz="160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30M+</a:t>
            </a:r>
            <a:endParaRPr lang="en-US" sz="16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0" name="Text 17"/>
          <p:cNvSpPr/>
          <p:nvPr/>
        </p:nvSpPr>
        <p:spPr>
          <a:xfrm>
            <a:off x="1018524" y="6164919"/>
            <a:ext cx="1737360" cy="697520"/>
          </a:xfrm>
          <a:prstGeom prst="rect">
            <a:avLst/>
          </a:prstGeom>
          <a:noFill/>
          <a:ln/>
        </p:spPr>
        <p:txBody>
          <a:bodyPr wrap="square" lIns="0" tIns="0" rIns="0" bIns="0" rtlCol="0" anchor="t"/>
          <a:lstStyle/>
          <a:p>
            <a:pPr marL="0" indent="0">
              <a:lnSpc>
                <a:spcPts val="1190"/>
              </a:lnSpc>
              <a:buNone/>
            </a:pPr>
            <a:r>
              <a:rPr lang="en-US" sz="9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Fully opted-in US consumer panel. Brand-sourced, incentive-based, granularly consented, never marketed to.</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1" name="Text 18"/>
          <p:cNvSpPr/>
          <p:nvPr/>
        </p:nvSpPr>
        <p:spPr>
          <a:xfrm>
            <a:off x="2971800" y="5835735"/>
            <a:ext cx="1737360" cy="274320"/>
          </a:xfrm>
          <a:prstGeom prst="rect">
            <a:avLst/>
          </a:prstGeom>
          <a:noFill/>
          <a:ln/>
        </p:spPr>
        <p:txBody>
          <a:bodyPr wrap="square" lIns="0" tIns="0" rIns="0" bIns="0" rtlCol="0" anchor="t"/>
          <a:lstStyle/>
          <a:p>
            <a:pPr marL="0" indent="0">
              <a:buNone/>
            </a:pPr>
            <a:r>
              <a:rPr lang="en-US" sz="160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10M</a:t>
            </a:r>
            <a:endParaRPr lang="en-US" sz="16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2" name="Text 19"/>
          <p:cNvSpPr/>
          <p:nvPr/>
        </p:nvSpPr>
        <p:spPr>
          <a:xfrm>
            <a:off x="2971800" y="6164919"/>
            <a:ext cx="1737360" cy="697520"/>
          </a:xfrm>
          <a:prstGeom prst="rect">
            <a:avLst/>
          </a:prstGeom>
          <a:noFill/>
          <a:ln/>
        </p:spPr>
        <p:txBody>
          <a:bodyPr wrap="square" lIns="0" tIns="0" rIns="0" bIns="0" rtlCol="0" anchor="t"/>
          <a:lstStyle/>
          <a:p>
            <a:pPr marL="0" indent="0">
              <a:lnSpc>
                <a:spcPts val="1190"/>
              </a:lnSpc>
              <a:buNone/>
            </a:pPr>
            <a:r>
              <a:rPr lang="en-US" sz="9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Gen Pop projection subpanel used to census-balance every figure in this POC.</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3" name="Text 20"/>
          <p:cNvSpPr/>
          <p:nvPr/>
        </p:nvSpPr>
        <p:spPr>
          <a:xfrm>
            <a:off x="4925076" y="5835735"/>
            <a:ext cx="1737360" cy="274320"/>
          </a:xfrm>
          <a:prstGeom prst="rect">
            <a:avLst/>
          </a:prstGeom>
          <a:noFill/>
          <a:ln/>
        </p:spPr>
        <p:txBody>
          <a:bodyPr wrap="square" lIns="0" tIns="0" rIns="0" bIns="0" rtlCol="0" anchor="t"/>
          <a:lstStyle/>
          <a:p>
            <a:pPr marL="0" indent="0">
              <a:buNone/>
            </a:pPr>
            <a:r>
              <a:rPr lang="en-US" sz="160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T+1</a:t>
            </a:r>
            <a:endParaRPr lang="en-US" sz="16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4" name="Text 21"/>
          <p:cNvSpPr/>
          <p:nvPr/>
        </p:nvSpPr>
        <p:spPr>
          <a:xfrm>
            <a:off x="4925076" y="6164919"/>
            <a:ext cx="1737360" cy="697520"/>
          </a:xfrm>
          <a:prstGeom prst="rect">
            <a:avLst/>
          </a:prstGeom>
          <a:noFill/>
          <a:ln/>
        </p:spPr>
        <p:txBody>
          <a:bodyPr wrap="square" lIns="0" tIns="0" rIns="0" bIns="0" rtlCol="0" anchor="t"/>
          <a:lstStyle/>
          <a:p>
            <a:pPr marL="0" indent="0">
              <a:lnSpc>
                <a:spcPts val="1190"/>
              </a:lnSpc>
              <a:buNone/>
            </a:pPr>
            <a:r>
              <a:rPr lang="en-US" sz="9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Data freshness. Every read reflects what panelists did yesterday.</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5" name="Text 22"/>
          <p:cNvSpPr/>
          <p:nvPr/>
        </p:nvSpPr>
        <p:spPr>
          <a:xfrm>
            <a:off x="777240" y="7155180"/>
            <a:ext cx="3200400" cy="182880"/>
          </a:xfrm>
          <a:prstGeom prst="rect">
            <a:avLst/>
          </a:prstGeom>
          <a:noFill/>
          <a:ln/>
        </p:spPr>
        <p:txBody>
          <a:bodyPr wrap="square" lIns="0" tIns="0" rIns="0" bIns="0" rtlCol="0" anchor="t"/>
          <a:lstStyle/>
          <a:p>
            <a:pPr marL="0" indent="0">
              <a:buNone/>
            </a:pPr>
            <a:r>
              <a:rPr lang="en-US" sz="800" b="1" kern="0" spc="11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FIG. 1  ·  PANEL AND PROJECTION</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6" name="Text 23"/>
          <p:cNvSpPr/>
          <p:nvPr/>
        </p:nvSpPr>
        <p:spPr>
          <a:xfrm>
            <a:off x="3703320" y="7155180"/>
            <a:ext cx="3291840" cy="182880"/>
          </a:xfrm>
          <a:prstGeom prst="rect">
            <a:avLst/>
          </a:prstGeom>
          <a:noFill/>
          <a:ln/>
        </p:spPr>
        <p:txBody>
          <a:bodyPr wrap="square" lIns="0" tIns="0" rIns="0" bIns="0" rtlCol="0" anchor="t"/>
          <a:lstStyle/>
          <a:p>
            <a:pPr marL="0" indent="0" algn="r">
              <a:buNone/>
            </a:pPr>
            <a:r>
              <a:rPr lang="en-US" sz="800" kern="0" spc="5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Referenced in 1.4 · full methodology in section 07</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7" name="Google Shape;100;p37">
            <a:extLst>
              <a:ext uri="{FF2B5EF4-FFF2-40B4-BE49-F238E27FC236}">
                <a16:creationId xmlns:a16="http://schemas.microsoft.com/office/drawing/2014/main" id="{7004A8EB-FDF3-CA73-7F23-A6EDB21DC325}"/>
              </a:ext>
            </a:extLst>
          </p:cNvPr>
          <p:cNvSpPr txBox="1">
            <a:spLocks/>
          </p:cNvSpPr>
          <p:nvPr/>
        </p:nvSpPr>
        <p:spPr>
          <a:xfrm>
            <a:off x="6597279" y="9255170"/>
            <a:ext cx="379521" cy="365125"/>
          </a:xfrm>
          <a:prstGeom prst="rect">
            <a:avLst/>
          </a:prstGeom>
          <a:noFill/>
          <a:ln>
            <a:noFill/>
          </a:ln>
        </p:spPr>
        <p:txBody>
          <a:bodyPr spcFirstLastPara="1" wrap="square" lIns="0" tIns="45700" rIns="0" bIns="45700" anchor="ctr" anchorCtr="0">
            <a:noAutofit/>
          </a:bodyPr>
          <a:lstStyle>
            <a:lvl1pPr marL="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a:lvl2pPr marL="457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2pPr>
            <a:lvl3pPr marL="914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3pPr>
            <a:lvl4pPr marL="1371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4pPr>
            <a:lvl5pPr marL="18288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5pPr>
            <a:lvl6pPr marL="22860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6pPr>
            <a:lvl7pPr marL="2743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7pPr>
            <a:lvl8pPr marL="3200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8pPr>
            <a:lvl9pPr marL="3657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9pPr>
          </a:lstStyle>
          <a:p>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fld id="{00000000-1234-1234-1234-123412341234}" type="slidenum">
              <a:rPr kumimoji="0" lang="en-US" sz="700" b="0" i="0" u="none" strike="noStrike" kern="1200" cap="none" spc="0" normalizeH="0" baseline="0" noProof="0" smtClean="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rPr>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t>5</a:t>
            </a:fld>
            <a:endParaRPr kumimoji="0" lang="en-US" sz="900" b="0" i="0" u="none" strike="noStrike" kern="1200" cap="none" spc="0" normalizeH="0" baseline="0" noProof="0" dirty="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617"/>
        </a:solidFill>
        <a:effectLst/>
      </p:bgPr>
    </p:bg>
    <p:spTree>
      <p:nvGrpSpPr>
        <p:cNvPr id="1" name=""/>
        <p:cNvGrpSpPr/>
        <p:nvPr/>
      </p:nvGrpSpPr>
      <p:grpSpPr>
        <a:xfrm>
          <a:off x="0" y="0"/>
          <a:ext cx="0" cy="0"/>
          <a:chOff x="0" y="0"/>
          <a:chExt cx="0" cy="0"/>
        </a:xfrm>
      </p:grpSpPr>
      <p:pic>
        <p:nvPicPr>
          <p:cNvPr id="3" name="Image 0" descr="logo_light.png"/>
          <p:cNvPicPr>
            <a:picLocks noChangeAspect="1"/>
          </p:cNvPicPr>
          <p:nvPr/>
        </p:nvPicPr>
        <p:blipFill>
          <a:blip r:embed="rId4"/>
          <a:stretch>
            <a:fillRect/>
          </a:stretch>
        </p:blipFill>
        <p:spPr>
          <a:xfrm>
            <a:off x="777240" y="787561"/>
            <a:ext cx="1042416" cy="132063"/>
          </a:xfrm>
          <a:prstGeom prst="rect">
            <a:avLst/>
          </a:prstGeom>
        </p:spPr>
      </p:pic>
      <p:sp>
        <p:nvSpPr>
          <p:cNvPr id="4" name="Shape 1"/>
          <p:cNvSpPr/>
          <p:nvPr/>
        </p:nvSpPr>
        <p:spPr>
          <a:xfrm>
            <a:off x="777240" y="3918204"/>
            <a:ext cx="64008" cy="64008"/>
          </a:xfrm>
          <a:prstGeom prst="ellipse">
            <a:avLst/>
          </a:prstGeom>
          <a:solidFill>
            <a:srgbClr val="C7F23E"/>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 name="Text 2"/>
          <p:cNvSpPr/>
          <p:nvPr/>
        </p:nvSpPr>
        <p:spPr>
          <a:xfrm>
            <a:off x="932688" y="3900206"/>
            <a:ext cx="5120640" cy="201168"/>
          </a:xfrm>
          <a:prstGeom prst="rect">
            <a:avLst/>
          </a:prstGeom>
          <a:noFill/>
          <a:ln/>
        </p:spPr>
        <p:txBody>
          <a:bodyPr wrap="square" lIns="0" tIns="0" rIns="0" bIns="0" rtlCol="0" anchor="t"/>
          <a:lstStyle/>
          <a:p>
            <a:pPr marL="0" indent="0">
              <a:buNone/>
            </a:pPr>
            <a:r>
              <a:rPr lang="en-US" sz="850" kern="0" spc="180" dirty="0">
                <a:solidFill>
                  <a:srgbClr val="5C6466"/>
                </a:solidFill>
                <a:latin typeface="Crosswalk Inter Medium" panose="02000503000000020004" pitchFamily="34" charset="0"/>
                <a:ea typeface="Crosswalk Inter Medium" panose="02000503000000020004" pitchFamily="34" charset="0"/>
                <a:cs typeface="Crosswalk Inter Medium" panose="02000503000000020004" pitchFamily="34" charset="0"/>
              </a:rPr>
              <a:t>SECTION 02</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p:nvPr/>
        </p:nvSpPr>
        <p:spPr>
          <a:xfrm>
            <a:off x="777240" y="4224528"/>
            <a:ext cx="5669280" cy="1353312"/>
          </a:xfrm>
          <a:prstGeom prst="rect">
            <a:avLst/>
          </a:prstGeom>
          <a:noFill/>
          <a:ln/>
        </p:spPr>
        <p:txBody>
          <a:bodyPr wrap="square" lIns="0" tIns="0" rIns="0" bIns="0" rtlCol="0" anchor="t"/>
          <a:lstStyle/>
          <a:p>
            <a:pPr marL="0" indent="0">
              <a:lnSpc>
                <a:spcPts val="4800"/>
              </a:lnSpc>
              <a:buNone/>
            </a:pPr>
            <a:r>
              <a:rPr lang="en-US" sz="4600" b="1" kern="0" spc="-9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Scope of</a:t>
            </a:r>
            <a:br>
              <a:rPr lang="en-US" sz="4600" b="1" kern="0" spc="-9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br>
            <a:r>
              <a:rPr lang="en-US" sz="4600" b="1" kern="0" spc="-9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work.</a:t>
            </a:r>
            <a:endParaRPr lang="en-US" sz="46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7" name="Shape 4"/>
          <p:cNvSpPr/>
          <p:nvPr/>
        </p:nvSpPr>
        <p:spPr>
          <a:xfrm>
            <a:off x="777240" y="7772400"/>
            <a:ext cx="6217920" cy="6401"/>
          </a:xfrm>
          <a:prstGeom prst="rect">
            <a:avLst/>
          </a:prstGeom>
          <a:solidFill>
            <a:srgbClr val="27393D"/>
          </a:solidFill>
          <a:ln/>
        </p:spPr>
        <p:txBody>
          <a:bodyPr/>
          <a:lstStyle/>
          <a:p>
            <a:endParaRPr lang="en-US" sz="200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Text 5"/>
          <p:cNvSpPr/>
          <p:nvPr/>
        </p:nvSpPr>
        <p:spPr>
          <a:xfrm>
            <a:off x="777240" y="8010144"/>
            <a:ext cx="502920" cy="237744"/>
          </a:xfrm>
          <a:prstGeom prst="rect">
            <a:avLst/>
          </a:prstGeom>
          <a:noFill/>
          <a:ln/>
        </p:spPr>
        <p:txBody>
          <a:bodyPr wrap="square" lIns="0" tIns="0" rIns="0" bIns="0" rtlCol="0" anchor="t"/>
          <a:lstStyle/>
          <a:p>
            <a:pPr marL="0" indent="0">
              <a:buNone/>
            </a:pPr>
            <a:r>
              <a:rPr lang="en-US" sz="1100" dirty="0">
                <a:solidFill>
                  <a:srgbClr val="5C6466"/>
                </a:solidFill>
                <a:latin typeface="Crosswalk Inter Medium" panose="02000503000000020004" pitchFamily="34" charset="0"/>
                <a:ea typeface="Crosswalk Inter Medium" panose="02000503000000020004" pitchFamily="34" charset="0"/>
                <a:cs typeface="Crosswalk Inter Medium" panose="02000503000000020004" pitchFamily="34" charset="0"/>
              </a:rPr>
              <a:t>2.1</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Text 6"/>
          <p:cNvSpPr/>
          <p:nvPr/>
        </p:nvSpPr>
        <p:spPr>
          <a:xfrm>
            <a:off x="1344168" y="8010144"/>
            <a:ext cx="5486400" cy="237744"/>
          </a:xfrm>
          <a:prstGeom prst="rect">
            <a:avLst/>
          </a:prstGeom>
          <a:noFill/>
          <a:ln/>
        </p:spPr>
        <p:txBody>
          <a:bodyPr wrap="square" lIns="0" tIns="0" rIns="0" bIns="0" rtlCol="0" anchor="t"/>
          <a:lstStyle/>
          <a:p>
            <a:pPr marL="0" indent="0">
              <a:buNone/>
            </a:pPr>
            <a:r>
              <a:rPr lang="en-US" sz="110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Workstream A: Three Full Projects</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0" name="Text 7"/>
          <p:cNvSpPr/>
          <p:nvPr/>
        </p:nvSpPr>
        <p:spPr>
          <a:xfrm>
            <a:off x="777240" y="8348472"/>
            <a:ext cx="502920" cy="237744"/>
          </a:xfrm>
          <a:prstGeom prst="rect">
            <a:avLst/>
          </a:prstGeom>
          <a:noFill/>
          <a:ln/>
        </p:spPr>
        <p:txBody>
          <a:bodyPr wrap="square" lIns="0" tIns="0" rIns="0" bIns="0" rtlCol="0" anchor="t"/>
          <a:lstStyle/>
          <a:p>
            <a:pPr marL="0" indent="0">
              <a:buNone/>
            </a:pPr>
            <a:r>
              <a:rPr lang="en-US" sz="1100" dirty="0">
                <a:solidFill>
                  <a:srgbClr val="5C6466"/>
                </a:solidFill>
                <a:latin typeface="Crosswalk Inter Medium" panose="02000503000000020004" pitchFamily="34" charset="0"/>
                <a:ea typeface="Crosswalk Inter Medium" panose="02000503000000020004" pitchFamily="34" charset="0"/>
                <a:cs typeface="Crosswalk Inter Medium" panose="02000503000000020004" pitchFamily="34" charset="0"/>
              </a:rPr>
              <a:t>2.2</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Text 8"/>
          <p:cNvSpPr/>
          <p:nvPr/>
        </p:nvSpPr>
        <p:spPr>
          <a:xfrm>
            <a:off x="1344168" y="8348472"/>
            <a:ext cx="5486400" cy="237744"/>
          </a:xfrm>
          <a:prstGeom prst="rect">
            <a:avLst/>
          </a:prstGeom>
          <a:noFill/>
          <a:ln/>
        </p:spPr>
        <p:txBody>
          <a:bodyPr wrap="square" lIns="0" tIns="0" rIns="0" bIns="0" rtlCol="0" anchor="t"/>
          <a:lstStyle/>
          <a:p>
            <a:pPr marL="0" indent="0">
              <a:buNone/>
            </a:pPr>
            <a:r>
              <a:rPr lang="en-US" sz="110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Workstream B: Platform Full Access</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Text 9"/>
          <p:cNvSpPr/>
          <p:nvPr/>
        </p:nvSpPr>
        <p:spPr>
          <a:xfrm>
            <a:off x="777240" y="8686800"/>
            <a:ext cx="502920" cy="237744"/>
          </a:xfrm>
          <a:prstGeom prst="rect">
            <a:avLst/>
          </a:prstGeom>
          <a:noFill/>
          <a:ln/>
        </p:spPr>
        <p:txBody>
          <a:bodyPr wrap="square" lIns="0" tIns="0" rIns="0" bIns="0" rtlCol="0" anchor="t"/>
          <a:lstStyle/>
          <a:p>
            <a:pPr marL="0" indent="0">
              <a:buNone/>
            </a:pPr>
            <a:r>
              <a:rPr lang="en-US" sz="1100" dirty="0">
                <a:solidFill>
                  <a:srgbClr val="5C6466"/>
                </a:solidFill>
                <a:latin typeface="Crosswalk Inter Medium" panose="02000503000000020004" pitchFamily="34" charset="0"/>
                <a:ea typeface="Crosswalk Inter Medium" panose="02000503000000020004" pitchFamily="34" charset="0"/>
                <a:cs typeface="Crosswalk Inter Medium" panose="02000503000000020004" pitchFamily="34" charset="0"/>
              </a:rPr>
              <a:t>2.3</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Text 10"/>
          <p:cNvSpPr/>
          <p:nvPr/>
        </p:nvSpPr>
        <p:spPr>
          <a:xfrm>
            <a:off x="1344168" y="8686800"/>
            <a:ext cx="5486400" cy="237744"/>
          </a:xfrm>
          <a:prstGeom prst="rect">
            <a:avLst/>
          </a:prstGeom>
          <a:noFill/>
          <a:ln/>
        </p:spPr>
        <p:txBody>
          <a:bodyPr wrap="square" lIns="0" tIns="0" rIns="0" bIns="0" rtlCol="0" anchor="t"/>
          <a:lstStyle/>
          <a:p>
            <a:pPr marL="0" indent="0">
              <a:buNone/>
            </a:pPr>
            <a:r>
              <a:rPr lang="en-US" sz="110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Workstream C: Prometheus (AI analyst)</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E8E2"/>
        </a:solidFill>
        <a:effectLst/>
      </p:bgPr>
    </p:bg>
    <p:spTree>
      <p:nvGrpSpPr>
        <p:cNvPr id="1" name=""/>
        <p:cNvGrpSpPr/>
        <p:nvPr/>
      </p:nvGrpSpPr>
      <p:grpSpPr>
        <a:xfrm>
          <a:off x="0" y="0"/>
          <a:ext cx="0" cy="0"/>
          <a:chOff x="0" y="0"/>
          <a:chExt cx="0" cy="0"/>
        </a:xfrm>
      </p:grpSpPr>
      <p:sp>
        <p:nvSpPr>
          <p:cNvPr id="3" name="Text 1"/>
          <p:cNvSpPr/>
          <p:nvPr/>
        </p:nvSpPr>
        <p:spPr>
          <a:xfrm>
            <a:off x="777240" y="530352"/>
            <a:ext cx="4206240" cy="201168"/>
          </a:xfrm>
          <a:prstGeom prst="rect">
            <a:avLst/>
          </a:prstGeom>
          <a:noFill/>
          <a:ln/>
        </p:spPr>
        <p:txBody>
          <a:bodyPr wrap="square" lIns="0" tIns="0" rIns="0" bIns="0" rtlCol="0" anchor="t"/>
          <a:lstStyle/>
          <a:p>
            <a:r>
              <a:rPr lang="en-US" sz="750" kern="0" spc="150" dirty="0">
                <a:solidFill>
                  <a:srgbClr val="888C89"/>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SCOPE OF WORK</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pic>
        <p:nvPicPr>
          <p:cNvPr id="4" name="Image 0" descr="logo_dark.png"/>
          <p:cNvPicPr>
            <a:picLocks noChangeAspect="1"/>
          </p:cNvPicPr>
          <p:nvPr/>
        </p:nvPicPr>
        <p:blipFill>
          <a:blip r:embed="rId4"/>
          <a:stretch>
            <a:fillRect/>
          </a:stretch>
        </p:blipFill>
        <p:spPr>
          <a:xfrm>
            <a:off x="6062472" y="544424"/>
            <a:ext cx="932688" cy="118161"/>
          </a:xfrm>
          <a:prstGeom prst="rect">
            <a:avLst/>
          </a:prstGeom>
        </p:spPr>
      </p:pic>
      <p:sp>
        <p:nvSpPr>
          <p:cNvPr id="5" name="Shape 2"/>
          <p:cNvSpPr/>
          <p:nvPr/>
        </p:nvSpPr>
        <p:spPr>
          <a:xfrm>
            <a:off x="777240" y="868680"/>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p:nvPr/>
        </p:nvSpPr>
        <p:spPr>
          <a:xfrm>
            <a:off x="777240" y="9381744"/>
            <a:ext cx="4114800" cy="182880"/>
          </a:xfrm>
          <a:prstGeom prst="rect">
            <a:avLst/>
          </a:prstGeom>
          <a:noFill/>
          <a:ln/>
        </p:spPr>
        <p:txBody>
          <a:bodyPr wrap="square" lIns="0" tIns="0" rIns="0" bIns="0" rtlCol="0" anchor="t"/>
          <a:lstStyle/>
          <a:p>
            <a:pPr marL="0" indent="0">
              <a:buNone/>
            </a:pPr>
            <a:r>
              <a:rPr lang="en-US" sz="700" kern="0" spc="14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CROSSWALK / BEHAVIORAL INTELLIGENCE ENGINE</a:t>
            </a:r>
            <a:endParaRPr lang="en-US" sz="7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Shape 5"/>
          <p:cNvSpPr/>
          <p:nvPr/>
        </p:nvSpPr>
        <p:spPr>
          <a:xfrm>
            <a:off x="777240" y="1120140"/>
            <a:ext cx="64008" cy="64008"/>
          </a:xfrm>
          <a:prstGeom prst="ellipse">
            <a:avLst/>
          </a:prstGeom>
          <a:solidFill>
            <a:srgbClr val="5E7E12"/>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Text 6"/>
          <p:cNvSpPr/>
          <p:nvPr/>
        </p:nvSpPr>
        <p:spPr>
          <a:xfrm>
            <a:off x="932688" y="1094191"/>
            <a:ext cx="5120640" cy="201168"/>
          </a:xfrm>
          <a:prstGeom prst="rect">
            <a:avLst/>
          </a:prstGeom>
          <a:noFill/>
          <a:ln/>
        </p:spPr>
        <p:txBody>
          <a:bodyPr wrap="square" lIns="0" tIns="0" rIns="0" bIns="0" rtlCol="0" anchor="t"/>
          <a:lstStyle/>
          <a:p>
            <a:pPr marL="0" indent="0">
              <a:buNone/>
            </a:pPr>
            <a:r>
              <a:rPr lang="en-US" sz="850" kern="0" spc="18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2.1 WORKSTREAM A</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0" name="Text 7"/>
          <p:cNvSpPr/>
          <p:nvPr/>
        </p:nvSpPr>
        <p:spPr>
          <a:xfrm>
            <a:off x="777240" y="1572768"/>
            <a:ext cx="6217920" cy="422275"/>
          </a:xfrm>
          <a:prstGeom prst="rect">
            <a:avLst/>
          </a:prstGeom>
          <a:noFill/>
          <a:ln/>
        </p:spPr>
        <p:txBody>
          <a:bodyPr wrap="square" lIns="0" tIns="0" rIns="0" bIns="0" rtlCol="0" anchor="t"/>
          <a:lstStyle/>
          <a:p>
            <a:pPr marL="0" indent="0">
              <a:lnSpc>
                <a:spcPts val="2461"/>
              </a:lnSpc>
              <a:buNone/>
            </a:pPr>
            <a:r>
              <a:rPr lang="en-US" sz="23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Three full projects.</a:t>
            </a:r>
            <a:endParaRPr lang="en-US" sz="2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Text 8"/>
          <p:cNvSpPr/>
          <p:nvPr/>
        </p:nvSpPr>
        <p:spPr>
          <a:xfrm>
            <a:off x="777240" y="2196211"/>
            <a:ext cx="6217920" cy="731825"/>
          </a:xfrm>
          <a:prstGeom prst="rect">
            <a:avLst/>
          </a:prstGeom>
          <a:noFill/>
          <a:ln/>
        </p:spPr>
        <p:txBody>
          <a:bodyPr wrap="square" lIns="0" tIns="0" rIns="0" bIns="0" rtlCol="0" anchor="t"/>
          <a:lstStyle/>
          <a:p>
            <a:pPr marL="0" indent="0">
              <a:lnSpc>
                <a:spcPts val="1575"/>
              </a:lnSpc>
              <a:buNone/>
            </a:pPr>
            <a:r>
              <a:rPr lang="en-US" sz="1100" dirty="0">
                <a:solidFill>
                  <a:srgbClr val="0C1618"/>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Input required from you: </a:t>
            </a: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Project 1 is set: [PROJECT 1 SUBJECT]. You define Projects 2 and 3 against the questions in front of your team; talent, properties, brands or audiences all qualify.</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Text 9"/>
          <p:cNvSpPr/>
          <p:nvPr/>
        </p:nvSpPr>
        <p:spPr>
          <a:xfrm>
            <a:off x="777240" y="2927730"/>
            <a:ext cx="6217920" cy="429769"/>
          </a:xfrm>
          <a:prstGeom prst="rect">
            <a:avLst/>
          </a:prstGeom>
          <a:noFill/>
          <a:ln/>
        </p:spPr>
        <p:txBody>
          <a:bodyPr wrap="square" lIns="0" tIns="0" rIns="0" bIns="0" rtlCol="0" anchor="t"/>
          <a:lstStyle/>
          <a:p>
            <a:pPr marL="0" indent="0">
              <a:lnSpc>
                <a:spcPts val="1575"/>
              </a:lnSpc>
              <a:buNone/>
            </a:pPr>
            <a:r>
              <a:rPr lang="en-US" sz="1100" dirty="0">
                <a:solidFill>
                  <a:srgbClr val="0C1618"/>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Structure. </a:t>
            </a: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Each project runs the same end-to-end design:</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Shape 10"/>
          <p:cNvSpPr/>
          <p:nvPr/>
        </p:nvSpPr>
        <p:spPr>
          <a:xfrm>
            <a:off x="777240" y="3476371"/>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4" name="Text 11"/>
          <p:cNvSpPr/>
          <p:nvPr/>
        </p:nvSpPr>
        <p:spPr>
          <a:xfrm>
            <a:off x="777240" y="3595243"/>
            <a:ext cx="502920" cy="274320"/>
          </a:xfrm>
          <a:prstGeom prst="rect">
            <a:avLst/>
          </a:prstGeom>
          <a:noFill/>
          <a:ln/>
        </p:spPr>
        <p:txBody>
          <a:bodyPr wrap="square" lIns="0" tIns="0" rIns="0" bIns="0" rtlCol="0" anchor="t"/>
          <a:lstStyle/>
          <a:p>
            <a:pPr marL="0" indent="0">
              <a:buNone/>
            </a:pPr>
            <a:r>
              <a:rPr lang="en-US" sz="13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01</a:t>
            </a:r>
            <a:endParaRPr lang="en-US" sz="1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5" name="Text 12"/>
          <p:cNvSpPr/>
          <p:nvPr/>
        </p:nvSpPr>
        <p:spPr>
          <a:xfrm>
            <a:off x="1399032" y="3622676"/>
            <a:ext cx="5596128" cy="598932"/>
          </a:xfrm>
          <a:prstGeom prst="rect">
            <a:avLst/>
          </a:prstGeom>
          <a:noFill/>
          <a:ln/>
        </p:spPr>
        <p:txBody>
          <a:bodyPr wrap="square" lIns="0" tIns="0" rIns="0" bIns="0" rtlCol="0" anchor="t"/>
          <a:lstStyle/>
          <a:p>
            <a:pPr marL="0" indent="0">
              <a:lnSpc>
                <a:spcPts val="1500"/>
              </a:lnSpc>
              <a:buNone/>
            </a:pPr>
            <a:r>
              <a:rPr lang="en-US" sz="1100" dirty="0">
                <a:solidFill>
                  <a:srgbClr val="0C1618"/>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Project 1: [PROJECT 1 SUBJECT]. </a:t>
            </a: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A complete behavioral deep-dive on [PROJECT 1 SUBJECT] and the audience they reach. Version 1 of the [PROJECT 1 SUBJECT] deck is delivered by end of day after kickoff.</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6" name="Shape 13"/>
          <p:cNvSpPr/>
          <p:nvPr/>
        </p:nvSpPr>
        <p:spPr>
          <a:xfrm>
            <a:off x="777240" y="4340479"/>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7" name="Text 14"/>
          <p:cNvSpPr/>
          <p:nvPr/>
        </p:nvSpPr>
        <p:spPr>
          <a:xfrm>
            <a:off x="777240" y="4459351"/>
            <a:ext cx="502920" cy="274320"/>
          </a:xfrm>
          <a:prstGeom prst="rect">
            <a:avLst/>
          </a:prstGeom>
          <a:noFill/>
          <a:ln/>
        </p:spPr>
        <p:txBody>
          <a:bodyPr wrap="square" lIns="0" tIns="0" rIns="0" bIns="0" rtlCol="0" anchor="t"/>
          <a:lstStyle/>
          <a:p>
            <a:pPr marL="0" indent="0">
              <a:buNone/>
            </a:pPr>
            <a:r>
              <a:rPr lang="en-US" sz="13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02</a:t>
            </a:r>
            <a:endParaRPr lang="en-US" sz="1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8" name="Text 15"/>
          <p:cNvSpPr/>
          <p:nvPr/>
        </p:nvSpPr>
        <p:spPr>
          <a:xfrm>
            <a:off x="1399032" y="4486784"/>
            <a:ext cx="5596128" cy="527304"/>
          </a:xfrm>
          <a:prstGeom prst="rect">
            <a:avLst/>
          </a:prstGeom>
          <a:noFill/>
          <a:ln/>
        </p:spPr>
        <p:txBody>
          <a:bodyPr wrap="square" lIns="0" tIns="0" rIns="0" bIns="0" rtlCol="0" anchor="t"/>
          <a:lstStyle/>
          <a:p>
            <a:pPr marL="0" indent="0">
              <a:lnSpc>
                <a:spcPts val="1500"/>
              </a:lnSpc>
              <a:buNone/>
            </a:pPr>
            <a:r>
              <a:rPr lang="en-US" sz="1100" dirty="0">
                <a:solidFill>
                  <a:srgbClr val="0C1618"/>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Projects 2 and 3: defined by you. </a:t>
            </a: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Scoped jointly at kickoff against your live client and talent questions and fielded on the same design as Project 1.</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9" name="Shape 16"/>
          <p:cNvSpPr/>
          <p:nvPr/>
        </p:nvSpPr>
        <p:spPr>
          <a:xfrm>
            <a:off x="777240" y="5014087"/>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0" name="Text 17"/>
          <p:cNvSpPr/>
          <p:nvPr/>
        </p:nvSpPr>
        <p:spPr>
          <a:xfrm>
            <a:off x="777240" y="5132959"/>
            <a:ext cx="502920" cy="274320"/>
          </a:xfrm>
          <a:prstGeom prst="rect">
            <a:avLst/>
          </a:prstGeom>
          <a:noFill/>
          <a:ln/>
        </p:spPr>
        <p:txBody>
          <a:bodyPr wrap="square" lIns="0" tIns="0" rIns="0" bIns="0" rtlCol="0" anchor="t"/>
          <a:lstStyle/>
          <a:p>
            <a:pPr marL="0" indent="0">
              <a:buNone/>
            </a:pPr>
            <a:r>
              <a:rPr lang="en-US" sz="13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03</a:t>
            </a:r>
            <a:endParaRPr lang="en-US" sz="1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1" name="Text 18"/>
          <p:cNvSpPr/>
          <p:nvPr/>
        </p:nvSpPr>
        <p:spPr>
          <a:xfrm>
            <a:off x="1399032" y="5160391"/>
            <a:ext cx="5596128" cy="662813"/>
          </a:xfrm>
          <a:prstGeom prst="rect">
            <a:avLst/>
          </a:prstGeom>
          <a:noFill/>
          <a:ln/>
        </p:spPr>
        <p:txBody>
          <a:bodyPr wrap="square" lIns="0" tIns="0" rIns="0" bIns="0" rtlCol="0" anchor="t"/>
          <a:lstStyle/>
          <a:p>
            <a:pPr marL="0" indent="0">
              <a:lnSpc>
                <a:spcPts val="1500"/>
              </a:lnSpc>
              <a:buNone/>
            </a:pPr>
            <a:r>
              <a:rPr lang="en-US" sz="1100" dirty="0">
                <a:solidFill>
                  <a:srgbClr val="0C1618"/>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Audience definition. </a:t>
            </a: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Each project starts by building the total reached universe and projecting it to a US audience through the 10M Gen Pop subpanel, with cuts down to avid engagement.</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2" name="Shape 19"/>
          <p:cNvSpPr/>
          <p:nvPr/>
        </p:nvSpPr>
        <p:spPr>
          <a:xfrm>
            <a:off x="777240" y="5878195"/>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3" name="Text 20"/>
          <p:cNvSpPr/>
          <p:nvPr/>
        </p:nvSpPr>
        <p:spPr>
          <a:xfrm>
            <a:off x="777240" y="5997067"/>
            <a:ext cx="502920" cy="274320"/>
          </a:xfrm>
          <a:prstGeom prst="rect">
            <a:avLst/>
          </a:prstGeom>
          <a:noFill/>
          <a:ln/>
        </p:spPr>
        <p:txBody>
          <a:bodyPr wrap="square" lIns="0" tIns="0" rIns="0" bIns="0" rtlCol="0" anchor="t"/>
          <a:lstStyle/>
          <a:p>
            <a:pPr marL="0" indent="0">
              <a:buNone/>
            </a:pPr>
            <a:r>
              <a:rPr lang="en-US" sz="13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04</a:t>
            </a:r>
            <a:endParaRPr lang="en-US" sz="1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4" name="Text 21"/>
          <p:cNvSpPr/>
          <p:nvPr/>
        </p:nvSpPr>
        <p:spPr>
          <a:xfrm>
            <a:off x="1399032" y="6024500"/>
            <a:ext cx="5596128" cy="465911"/>
          </a:xfrm>
          <a:prstGeom prst="rect">
            <a:avLst/>
          </a:prstGeom>
          <a:noFill/>
          <a:ln/>
        </p:spPr>
        <p:txBody>
          <a:bodyPr wrap="square" lIns="0" tIns="0" rIns="0" bIns="0" rtlCol="0" anchor="t"/>
          <a:lstStyle/>
          <a:p>
            <a:pPr marL="0" indent="0">
              <a:lnSpc>
                <a:spcPts val="1500"/>
              </a:lnSpc>
              <a:buNone/>
            </a:pPr>
            <a:r>
              <a:rPr lang="en-US" sz="1100" dirty="0">
                <a:solidFill>
                  <a:srgbClr val="0C1618"/>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Behavioral read. </a:t>
            </a: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Full demographic profile, behaviors across roughly 40 tracked categories, and brand indexing against Gen Pop.</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5" name="Shape 22"/>
          <p:cNvSpPr/>
          <p:nvPr/>
        </p:nvSpPr>
        <p:spPr>
          <a:xfrm>
            <a:off x="777240" y="6551803"/>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6" name="Text 23"/>
          <p:cNvSpPr/>
          <p:nvPr/>
        </p:nvSpPr>
        <p:spPr>
          <a:xfrm>
            <a:off x="777240" y="6670675"/>
            <a:ext cx="502920" cy="274320"/>
          </a:xfrm>
          <a:prstGeom prst="rect">
            <a:avLst/>
          </a:prstGeom>
          <a:noFill/>
          <a:ln/>
        </p:spPr>
        <p:txBody>
          <a:bodyPr wrap="square" lIns="0" tIns="0" rIns="0" bIns="0" rtlCol="0" anchor="t"/>
          <a:lstStyle/>
          <a:p>
            <a:pPr marL="0" indent="0">
              <a:buNone/>
            </a:pPr>
            <a:r>
              <a:rPr lang="en-US" sz="13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05</a:t>
            </a:r>
            <a:endParaRPr lang="en-US" sz="1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7" name="Text 24"/>
          <p:cNvSpPr/>
          <p:nvPr/>
        </p:nvSpPr>
        <p:spPr>
          <a:xfrm>
            <a:off x="1399032" y="6698108"/>
            <a:ext cx="5596128" cy="499872"/>
          </a:xfrm>
          <a:prstGeom prst="rect">
            <a:avLst/>
          </a:prstGeom>
          <a:noFill/>
          <a:ln/>
        </p:spPr>
        <p:txBody>
          <a:bodyPr wrap="square" lIns="0" tIns="0" rIns="0" bIns="0" rtlCol="0" anchor="t"/>
          <a:lstStyle/>
          <a:p>
            <a:pPr marL="0" indent="0">
              <a:lnSpc>
                <a:spcPts val="1500"/>
              </a:lnSpc>
              <a:buNone/>
            </a:pPr>
            <a:r>
              <a:rPr lang="en-US" sz="1100" dirty="0">
                <a:solidFill>
                  <a:srgbClr val="0C1618"/>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Conversion and fit. </a:t>
            </a: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Marketing conversion by channel and format, plus brand partnership fit and competitive-set analysis.</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8" name="Shape 25"/>
          <p:cNvSpPr/>
          <p:nvPr/>
        </p:nvSpPr>
        <p:spPr>
          <a:xfrm>
            <a:off x="777240" y="7225411"/>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9" name="Text 26"/>
          <p:cNvSpPr/>
          <p:nvPr/>
        </p:nvSpPr>
        <p:spPr>
          <a:xfrm>
            <a:off x="777240" y="7344283"/>
            <a:ext cx="502920" cy="274320"/>
          </a:xfrm>
          <a:prstGeom prst="rect">
            <a:avLst/>
          </a:prstGeom>
          <a:noFill/>
          <a:ln/>
        </p:spPr>
        <p:txBody>
          <a:bodyPr wrap="square" lIns="0" tIns="0" rIns="0" bIns="0" rtlCol="0" anchor="t"/>
          <a:lstStyle/>
          <a:p>
            <a:pPr marL="0" indent="0">
              <a:buNone/>
            </a:pPr>
            <a:r>
              <a:rPr lang="en-US" sz="13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06</a:t>
            </a:r>
            <a:endParaRPr lang="en-US" sz="1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0" name="Text 27"/>
          <p:cNvSpPr/>
          <p:nvPr/>
        </p:nvSpPr>
        <p:spPr>
          <a:xfrm>
            <a:off x="1399032" y="7371715"/>
            <a:ext cx="5596128" cy="506272"/>
          </a:xfrm>
          <a:prstGeom prst="rect">
            <a:avLst/>
          </a:prstGeom>
          <a:noFill/>
          <a:ln/>
        </p:spPr>
        <p:txBody>
          <a:bodyPr wrap="square" lIns="0" tIns="0" rIns="0" bIns="0" rtlCol="0" anchor="t"/>
          <a:lstStyle/>
          <a:p>
            <a:pPr marL="0" indent="0">
              <a:lnSpc>
                <a:spcPts val="1500"/>
              </a:lnSpc>
              <a:buNone/>
            </a:pPr>
            <a:r>
              <a:rPr lang="en-US" sz="1100" dirty="0">
                <a:solidFill>
                  <a:srgbClr val="0C1618"/>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Delivery. </a:t>
            </a: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Each project lands as a client-ready deck plus the live dashboard views behind every figure, with a working session to pressure-test and redirect.</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1" name="Shape 28"/>
          <p:cNvSpPr/>
          <p:nvPr/>
        </p:nvSpPr>
        <p:spPr>
          <a:xfrm>
            <a:off x="777240" y="7899019"/>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2" name="Google Shape;100;p37">
            <a:extLst>
              <a:ext uri="{FF2B5EF4-FFF2-40B4-BE49-F238E27FC236}">
                <a16:creationId xmlns:a16="http://schemas.microsoft.com/office/drawing/2014/main" id="{1E6A19B9-AC80-7131-62EF-1738FF6AF28F}"/>
              </a:ext>
            </a:extLst>
          </p:cNvPr>
          <p:cNvSpPr txBox="1">
            <a:spLocks/>
          </p:cNvSpPr>
          <p:nvPr/>
        </p:nvSpPr>
        <p:spPr>
          <a:xfrm>
            <a:off x="6597279" y="9255170"/>
            <a:ext cx="379521" cy="365125"/>
          </a:xfrm>
          <a:prstGeom prst="rect">
            <a:avLst/>
          </a:prstGeom>
          <a:noFill/>
          <a:ln>
            <a:noFill/>
          </a:ln>
        </p:spPr>
        <p:txBody>
          <a:bodyPr spcFirstLastPara="1" wrap="square" lIns="0" tIns="45700" rIns="0" bIns="45700" anchor="ctr" anchorCtr="0">
            <a:noAutofit/>
          </a:bodyPr>
          <a:lstStyle>
            <a:lvl1pPr marL="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a:lvl2pPr marL="457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2pPr>
            <a:lvl3pPr marL="914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3pPr>
            <a:lvl4pPr marL="1371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4pPr>
            <a:lvl5pPr marL="18288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5pPr>
            <a:lvl6pPr marL="22860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6pPr>
            <a:lvl7pPr marL="2743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7pPr>
            <a:lvl8pPr marL="3200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8pPr>
            <a:lvl9pPr marL="3657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9pPr>
          </a:lstStyle>
          <a:p>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fld id="{00000000-1234-1234-1234-123412341234}" type="slidenum">
              <a:rPr kumimoji="0" lang="en-US" sz="700" b="0" i="0" u="none" strike="noStrike" kern="1200" cap="none" spc="0" normalizeH="0" baseline="0" noProof="0" smtClean="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rPr>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t>7</a:t>
            </a:fld>
            <a:endParaRPr kumimoji="0" lang="en-US" sz="900" b="0" i="0" u="none" strike="noStrike" kern="1200" cap="none" spc="0" normalizeH="0" baseline="0" noProof="0" dirty="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E8E2"/>
        </a:solidFill>
        <a:effectLst/>
      </p:bgPr>
    </p:bg>
    <p:spTree>
      <p:nvGrpSpPr>
        <p:cNvPr id="1" name=""/>
        <p:cNvGrpSpPr/>
        <p:nvPr/>
      </p:nvGrpSpPr>
      <p:grpSpPr>
        <a:xfrm>
          <a:off x="0" y="0"/>
          <a:ext cx="0" cy="0"/>
          <a:chOff x="0" y="0"/>
          <a:chExt cx="0" cy="0"/>
        </a:xfrm>
      </p:grpSpPr>
      <p:sp>
        <p:nvSpPr>
          <p:cNvPr id="3" name="Text 1"/>
          <p:cNvSpPr/>
          <p:nvPr/>
        </p:nvSpPr>
        <p:spPr>
          <a:xfrm>
            <a:off x="777240" y="530352"/>
            <a:ext cx="4206240" cy="201168"/>
          </a:xfrm>
          <a:prstGeom prst="rect">
            <a:avLst/>
          </a:prstGeom>
          <a:noFill/>
          <a:ln/>
        </p:spPr>
        <p:txBody>
          <a:bodyPr wrap="square" lIns="0" tIns="0" rIns="0" bIns="0" rtlCol="0" anchor="t"/>
          <a:lstStyle/>
          <a:p>
            <a:r>
              <a:rPr lang="en-US" sz="750" kern="0" spc="150" dirty="0">
                <a:solidFill>
                  <a:srgbClr val="888C89"/>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SCOPE OF WORK</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pic>
        <p:nvPicPr>
          <p:cNvPr id="4" name="Image 0" descr="logo_dark.png"/>
          <p:cNvPicPr>
            <a:picLocks noChangeAspect="1"/>
          </p:cNvPicPr>
          <p:nvPr/>
        </p:nvPicPr>
        <p:blipFill>
          <a:blip r:embed="rId4"/>
          <a:stretch>
            <a:fillRect/>
          </a:stretch>
        </p:blipFill>
        <p:spPr>
          <a:xfrm>
            <a:off x="6062472" y="544424"/>
            <a:ext cx="932688" cy="118161"/>
          </a:xfrm>
          <a:prstGeom prst="rect">
            <a:avLst/>
          </a:prstGeom>
        </p:spPr>
      </p:pic>
      <p:sp>
        <p:nvSpPr>
          <p:cNvPr id="5" name="Shape 2"/>
          <p:cNvSpPr/>
          <p:nvPr/>
        </p:nvSpPr>
        <p:spPr>
          <a:xfrm>
            <a:off x="777240" y="868680"/>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p:nvPr/>
        </p:nvSpPr>
        <p:spPr>
          <a:xfrm>
            <a:off x="777240" y="9381744"/>
            <a:ext cx="4114800" cy="182880"/>
          </a:xfrm>
          <a:prstGeom prst="rect">
            <a:avLst/>
          </a:prstGeom>
          <a:noFill/>
          <a:ln/>
        </p:spPr>
        <p:txBody>
          <a:bodyPr wrap="square" lIns="0" tIns="0" rIns="0" bIns="0" rtlCol="0" anchor="t"/>
          <a:lstStyle/>
          <a:p>
            <a:pPr marL="0" indent="0">
              <a:buNone/>
            </a:pPr>
            <a:r>
              <a:rPr lang="en-US" sz="700" kern="0" spc="14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CROSSWALK / BEHAVIORAL INTELLIGENCE ENGINE</a:t>
            </a:r>
            <a:endParaRPr lang="en-US" sz="7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Shape 5"/>
          <p:cNvSpPr/>
          <p:nvPr/>
        </p:nvSpPr>
        <p:spPr>
          <a:xfrm>
            <a:off x="777240" y="1120140"/>
            <a:ext cx="64008" cy="64008"/>
          </a:xfrm>
          <a:prstGeom prst="ellipse">
            <a:avLst/>
          </a:prstGeom>
          <a:solidFill>
            <a:srgbClr val="5E7E12"/>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Text 6"/>
          <p:cNvSpPr/>
          <p:nvPr/>
        </p:nvSpPr>
        <p:spPr>
          <a:xfrm>
            <a:off x="932688" y="1094191"/>
            <a:ext cx="5120640" cy="201168"/>
          </a:xfrm>
          <a:prstGeom prst="rect">
            <a:avLst/>
          </a:prstGeom>
          <a:noFill/>
          <a:ln/>
        </p:spPr>
        <p:txBody>
          <a:bodyPr wrap="square" lIns="0" tIns="0" rIns="0" bIns="0" rtlCol="0" anchor="t"/>
          <a:lstStyle/>
          <a:p>
            <a:pPr marL="0" indent="0">
              <a:buNone/>
            </a:pPr>
            <a:r>
              <a:rPr lang="en-US" sz="850" kern="0" spc="18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2.1 WORKSTREAM A, CONTINUED</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0" name="Text 7"/>
          <p:cNvSpPr/>
          <p:nvPr/>
        </p:nvSpPr>
        <p:spPr>
          <a:xfrm>
            <a:off x="777240" y="1572768"/>
            <a:ext cx="6217920" cy="734822"/>
          </a:xfrm>
          <a:prstGeom prst="rect">
            <a:avLst/>
          </a:prstGeom>
          <a:noFill/>
          <a:ln/>
        </p:spPr>
        <p:txBody>
          <a:bodyPr wrap="square" lIns="0" tIns="0" rIns="0" bIns="0" rtlCol="0" anchor="t"/>
          <a:lstStyle/>
          <a:p>
            <a:pPr marL="0" indent="0">
              <a:lnSpc>
                <a:spcPts val="2461"/>
              </a:lnSpc>
              <a:buNone/>
            </a:pPr>
            <a:r>
              <a:rPr lang="en-US" sz="23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Project 1:</a:t>
            </a:r>
            <a:endParaRPr lang="en-US" sz="2300" dirty="0">
              <a:latin typeface="Crosswalk Inter" panose="02000503000000020004" pitchFamily="34" charset="0"/>
              <a:ea typeface="Crosswalk Inter" panose="02000503000000020004" pitchFamily="34" charset="0"/>
              <a:cs typeface="Crosswalk Inter" panose="02000503000000020004" pitchFamily="34" charset="0"/>
            </a:endParaRPr>
          </a:p>
          <a:p>
            <a:pPr marL="0" indent="0">
              <a:lnSpc>
                <a:spcPts val="2461"/>
              </a:lnSpc>
              <a:buNone/>
            </a:pPr>
            <a:r>
              <a:rPr lang="en-US" sz="23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[PROJECT 1 SUBJECT].</a:t>
            </a:r>
            <a:endParaRPr lang="en-US" sz="2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Text 8"/>
          <p:cNvSpPr/>
          <p:nvPr/>
        </p:nvSpPr>
        <p:spPr>
          <a:xfrm>
            <a:off x="777240" y="2508758"/>
            <a:ext cx="6217920" cy="1199134"/>
          </a:xfrm>
          <a:prstGeom prst="rect">
            <a:avLst/>
          </a:prstGeom>
          <a:noFill/>
          <a:ln/>
        </p:spPr>
        <p:txBody>
          <a:bodyPr wrap="square" lIns="0" tIns="0" rIns="0" bIns="0" rtlCol="0" anchor="t"/>
          <a:lstStyle/>
          <a:p>
            <a:pPr marL="0" indent="0">
              <a:lnSpc>
                <a:spcPts val="1575"/>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The first project fields at kickoff: a complete behavioral read on [PROJECT 1 SUBJECT] and the audience they reach. Version 1 of the [PROJECT 1 SUBJECT] deck is turned around by end of day after kickoff, then refined through the working sessions. Every figure is traceable to its source and calculation, and the full methodology is documented so your team can interrogate and reproduce every step. Projects 2 and 3 follow the same design.</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Shape 9"/>
          <p:cNvSpPr/>
          <p:nvPr/>
        </p:nvSpPr>
        <p:spPr>
          <a:xfrm>
            <a:off x="777240" y="4002532"/>
            <a:ext cx="6217920" cy="1885312"/>
          </a:xfrm>
          <a:prstGeom prst="roundRect">
            <a:avLst>
              <a:gd name="adj" fmla="val 4505"/>
            </a:avLst>
          </a:prstGeom>
          <a:solidFill>
            <a:srgbClr val="E1E0D7"/>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Text 10"/>
          <p:cNvSpPr/>
          <p:nvPr/>
        </p:nvSpPr>
        <p:spPr>
          <a:xfrm>
            <a:off x="1051560" y="4302277"/>
            <a:ext cx="365760" cy="182880"/>
          </a:xfrm>
          <a:prstGeom prst="rect">
            <a:avLst/>
          </a:prstGeom>
          <a:noFill/>
          <a:ln/>
        </p:spPr>
        <p:txBody>
          <a:bodyPr wrap="square" lIns="0" tIns="0" rIns="0" bIns="0" rtlCol="0" anchor="t"/>
          <a:lstStyle/>
          <a:p>
            <a:pPr marL="0" indent="0">
              <a:buNone/>
            </a:pPr>
            <a:r>
              <a:rPr lang="en-US" sz="800" kern="0" spc="5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01</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4" name="Shape 11"/>
          <p:cNvSpPr/>
          <p:nvPr/>
        </p:nvSpPr>
        <p:spPr>
          <a:xfrm>
            <a:off x="1510236" y="4229125"/>
            <a:ext cx="5184648" cy="292608"/>
          </a:xfrm>
          <a:prstGeom prst="roundRect">
            <a:avLst>
              <a:gd name="adj" fmla="val 16403"/>
            </a:avLst>
          </a:prstGeom>
          <a:solidFill>
            <a:srgbClr val="0C1618"/>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5" name="Text 12"/>
          <p:cNvSpPr/>
          <p:nvPr/>
        </p:nvSpPr>
        <p:spPr>
          <a:xfrm>
            <a:off x="1638252" y="4302556"/>
            <a:ext cx="2194560" cy="182880"/>
          </a:xfrm>
          <a:prstGeom prst="rect">
            <a:avLst/>
          </a:prstGeom>
          <a:noFill/>
          <a:ln/>
        </p:spPr>
        <p:txBody>
          <a:bodyPr wrap="square" lIns="0" tIns="0" rIns="0" bIns="0" rtlCol="0" anchor="t"/>
          <a:lstStyle/>
          <a:p>
            <a:pPr marL="0" indent="0">
              <a:buNone/>
            </a:pPr>
            <a:r>
              <a:rPr lang="en-US" sz="900" dirty="0">
                <a:solidFill>
                  <a:srgbClr val="E9E8E1"/>
                </a:solidFill>
                <a:latin typeface="Crosswalk Inter Medium" panose="02000503000000020004" pitchFamily="34" charset="0"/>
                <a:ea typeface="Crosswalk Inter Medium" panose="02000503000000020004" pitchFamily="34" charset="0"/>
                <a:cs typeface="Crosswalk Inter Medium" panose="02000503000000020004" pitchFamily="34" charset="0"/>
              </a:rPr>
              <a:t>Audience</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6" name="Text 13"/>
          <p:cNvSpPr/>
          <p:nvPr/>
        </p:nvSpPr>
        <p:spPr>
          <a:xfrm>
            <a:off x="1051560" y="4686325"/>
            <a:ext cx="365760" cy="182880"/>
          </a:xfrm>
          <a:prstGeom prst="rect">
            <a:avLst/>
          </a:prstGeom>
          <a:noFill/>
          <a:ln/>
        </p:spPr>
        <p:txBody>
          <a:bodyPr wrap="square" lIns="0" tIns="0" rIns="0" bIns="0" rtlCol="0" anchor="t"/>
          <a:lstStyle/>
          <a:p>
            <a:pPr marL="0" indent="0">
              <a:buNone/>
            </a:pPr>
            <a:r>
              <a:rPr lang="en-US" sz="800" kern="0" spc="5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02</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7" name="Shape 14"/>
          <p:cNvSpPr/>
          <p:nvPr/>
        </p:nvSpPr>
        <p:spPr>
          <a:xfrm>
            <a:off x="1510236" y="4613173"/>
            <a:ext cx="4044025" cy="292608"/>
          </a:xfrm>
          <a:prstGeom prst="roundRect">
            <a:avLst>
              <a:gd name="adj" fmla="val 16403"/>
            </a:avLst>
          </a:prstGeom>
          <a:solidFill>
            <a:srgbClr val="0C1618"/>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8" name="Text 15"/>
          <p:cNvSpPr/>
          <p:nvPr/>
        </p:nvSpPr>
        <p:spPr>
          <a:xfrm>
            <a:off x="1638252" y="4686604"/>
            <a:ext cx="2194560" cy="182880"/>
          </a:xfrm>
          <a:prstGeom prst="rect">
            <a:avLst/>
          </a:prstGeom>
          <a:noFill/>
          <a:ln/>
        </p:spPr>
        <p:txBody>
          <a:bodyPr wrap="square" lIns="0" tIns="0" rIns="0" bIns="0" rtlCol="0" anchor="t"/>
          <a:lstStyle/>
          <a:p>
            <a:pPr marL="0" indent="0">
              <a:buNone/>
            </a:pPr>
            <a:r>
              <a:rPr lang="en-US" sz="900" dirty="0">
                <a:solidFill>
                  <a:srgbClr val="E9E8E1"/>
                </a:solidFill>
                <a:latin typeface="Crosswalk Inter Medium" panose="02000503000000020004" pitchFamily="34" charset="0"/>
                <a:ea typeface="Crosswalk Inter Medium" panose="02000503000000020004" pitchFamily="34" charset="0"/>
                <a:cs typeface="Crosswalk Inter Medium" panose="02000503000000020004" pitchFamily="34" charset="0"/>
              </a:rPr>
              <a:t>Behaviors</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9" name="Text 16"/>
          <p:cNvSpPr/>
          <p:nvPr/>
        </p:nvSpPr>
        <p:spPr>
          <a:xfrm>
            <a:off x="1051560" y="5070373"/>
            <a:ext cx="365760" cy="182880"/>
          </a:xfrm>
          <a:prstGeom prst="rect">
            <a:avLst/>
          </a:prstGeom>
          <a:noFill/>
          <a:ln/>
        </p:spPr>
        <p:txBody>
          <a:bodyPr wrap="square" lIns="0" tIns="0" rIns="0" bIns="0" rtlCol="0" anchor="t"/>
          <a:lstStyle/>
          <a:p>
            <a:pPr marL="0" indent="0">
              <a:buNone/>
            </a:pPr>
            <a:r>
              <a:rPr lang="en-US" sz="800" kern="0" spc="5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03</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0" name="Shape 17"/>
          <p:cNvSpPr/>
          <p:nvPr/>
        </p:nvSpPr>
        <p:spPr>
          <a:xfrm>
            <a:off x="1510236" y="4997221"/>
            <a:ext cx="2903403" cy="292608"/>
          </a:xfrm>
          <a:prstGeom prst="roundRect">
            <a:avLst>
              <a:gd name="adj" fmla="val 15127"/>
            </a:avLst>
          </a:prstGeom>
          <a:solidFill>
            <a:srgbClr val="0C1618"/>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1" name="Text 18"/>
          <p:cNvSpPr/>
          <p:nvPr/>
        </p:nvSpPr>
        <p:spPr>
          <a:xfrm>
            <a:off x="1638252" y="5070652"/>
            <a:ext cx="2194560" cy="182880"/>
          </a:xfrm>
          <a:prstGeom prst="rect">
            <a:avLst/>
          </a:prstGeom>
          <a:noFill/>
          <a:ln/>
        </p:spPr>
        <p:txBody>
          <a:bodyPr wrap="square" lIns="0" tIns="0" rIns="0" bIns="0" rtlCol="0" anchor="t"/>
          <a:lstStyle/>
          <a:p>
            <a:pPr marL="0" indent="0">
              <a:buNone/>
            </a:pPr>
            <a:r>
              <a:rPr lang="en-US" sz="900" dirty="0">
                <a:solidFill>
                  <a:srgbClr val="E9E8E1"/>
                </a:solidFill>
                <a:latin typeface="Crosswalk Inter Medium" panose="02000503000000020004" pitchFamily="34" charset="0"/>
                <a:ea typeface="Crosswalk Inter Medium" panose="02000503000000020004" pitchFamily="34" charset="0"/>
                <a:cs typeface="Crosswalk Inter Medium" panose="02000503000000020004" pitchFamily="34" charset="0"/>
              </a:rPr>
              <a:t>Brands</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2" name="Text 19"/>
          <p:cNvSpPr/>
          <p:nvPr/>
        </p:nvSpPr>
        <p:spPr>
          <a:xfrm>
            <a:off x="1051560" y="5454421"/>
            <a:ext cx="365760" cy="182880"/>
          </a:xfrm>
          <a:prstGeom prst="rect">
            <a:avLst/>
          </a:prstGeom>
          <a:noFill/>
          <a:ln/>
        </p:spPr>
        <p:txBody>
          <a:bodyPr wrap="square" lIns="0" tIns="0" rIns="0" bIns="0" rtlCol="0" anchor="t"/>
          <a:lstStyle/>
          <a:p>
            <a:pPr marL="0" indent="0">
              <a:buNone/>
            </a:pPr>
            <a:r>
              <a:rPr lang="en-US" sz="800" kern="0" spc="5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04</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3" name="Shape 20"/>
          <p:cNvSpPr/>
          <p:nvPr/>
        </p:nvSpPr>
        <p:spPr>
          <a:xfrm>
            <a:off x="1510236" y="5381269"/>
            <a:ext cx="1866473" cy="292608"/>
          </a:xfrm>
          <a:prstGeom prst="roundRect">
            <a:avLst>
              <a:gd name="adj" fmla="val 16403"/>
            </a:avLst>
          </a:prstGeom>
          <a:solidFill>
            <a:srgbClr val="5E7E12"/>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4" name="Text 21"/>
          <p:cNvSpPr/>
          <p:nvPr/>
        </p:nvSpPr>
        <p:spPr>
          <a:xfrm>
            <a:off x="1638252" y="5454700"/>
            <a:ext cx="2194560" cy="182880"/>
          </a:xfrm>
          <a:prstGeom prst="rect">
            <a:avLst/>
          </a:prstGeom>
          <a:noFill/>
          <a:ln/>
        </p:spPr>
        <p:txBody>
          <a:bodyPr wrap="square" lIns="0" tIns="0" rIns="0" bIns="0" rtlCol="0" anchor="t"/>
          <a:lstStyle/>
          <a:p>
            <a:pPr marL="0" indent="0">
              <a:buNone/>
            </a:pPr>
            <a:r>
              <a:rPr lang="en-US" sz="900" dirty="0">
                <a:solidFill>
                  <a:srgbClr val="E9E8E1"/>
                </a:solidFill>
                <a:latin typeface="Crosswalk Inter Medium" panose="02000503000000020004" pitchFamily="34" charset="0"/>
                <a:ea typeface="Crosswalk Inter Medium" panose="02000503000000020004" pitchFamily="34" charset="0"/>
                <a:cs typeface="Crosswalk Inter Medium" panose="02000503000000020004" pitchFamily="34" charset="0"/>
              </a:rPr>
              <a:t>Conversion</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5" name="Text 22"/>
          <p:cNvSpPr/>
          <p:nvPr/>
        </p:nvSpPr>
        <p:spPr>
          <a:xfrm>
            <a:off x="777240" y="6050788"/>
            <a:ext cx="3200400" cy="182880"/>
          </a:xfrm>
          <a:prstGeom prst="rect">
            <a:avLst/>
          </a:prstGeom>
          <a:noFill/>
          <a:ln/>
        </p:spPr>
        <p:txBody>
          <a:bodyPr wrap="square" lIns="0" tIns="0" rIns="0" bIns="0" rtlCol="0" anchor="t"/>
          <a:lstStyle/>
          <a:p>
            <a:pPr marL="0" indent="0">
              <a:buNone/>
            </a:pPr>
            <a:r>
              <a:rPr lang="en-US" sz="800" b="1" kern="0" spc="11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FIG. 2  ·  PROJECT FLOW</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6" name="Text 23"/>
          <p:cNvSpPr/>
          <p:nvPr/>
        </p:nvSpPr>
        <p:spPr>
          <a:xfrm>
            <a:off x="3611880" y="6050788"/>
            <a:ext cx="3383280" cy="182880"/>
          </a:xfrm>
          <a:prstGeom prst="rect">
            <a:avLst/>
          </a:prstGeom>
          <a:noFill/>
          <a:ln/>
        </p:spPr>
        <p:txBody>
          <a:bodyPr wrap="square" lIns="0" tIns="0" rIns="0" bIns="0" rtlCol="0" anchor="t"/>
          <a:lstStyle/>
          <a:p>
            <a:pPr marL="0" indent="0" algn="r">
              <a:buNone/>
            </a:pPr>
            <a:r>
              <a:rPr lang="en-US" sz="800" kern="0" spc="5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Applied to every project · see 2.1</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7" name="Text 24"/>
          <p:cNvSpPr/>
          <p:nvPr/>
        </p:nvSpPr>
        <p:spPr>
          <a:xfrm>
            <a:off x="777240" y="6535420"/>
            <a:ext cx="6217920" cy="182880"/>
          </a:xfrm>
          <a:prstGeom prst="rect">
            <a:avLst/>
          </a:prstGeom>
          <a:noFill/>
          <a:ln/>
        </p:spPr>
        <p:txBody>
          <a:bodyPr wrap="square" lIns="0" tIns="0" rIns="0" bIns="0" rtlCol="0" anchor="t"/>
          <a:lstStyle/>
          <a:p>
            <a:pPr marL="0" indent="0">
              <a:buNone/>
            </a:pPr>
            <a:r>
              <a:rPr lang="en-US" sz="850" b="1" kern="0" spc="1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DELIVERABLES</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8" name="Text 25"/>
          <p:cNvSpPr/>
          <p:nvPr/>
        </p:nvSpPr>
        <p:spPr>
          <a:xfrm>
            <a:off x="777240" y="6873748"/>
            <a:ext cx="219456" cy="201168"/>
          </a:xfrm>
          <a:prstGeom prst="rect">
            <a:avLst/>
          </a:prstGeom>
          <a:noFill/>
          <a:ln/>
        </p:spPr>
        <p:txBody>
          <a:bodyPr wrap="square" lIns="0" tIns="0" rIns="0" bIns="0" rtlCol="0" anchor="t"/>
          <a:lstStyle/>
          <a:p>
            <a:pPr marL="0" indent="0">
              <a:buNone/>
            </a:pPr>
            <a:r>
              <a:rPr lang="en-US" sz="1050" dirty="0">
                <a:solidFill>
                  <a:srgbClr val="5E7E12"/>
                </a:solidFill>
                <a:latin typeface="Crosswalk Inter Medium" panose="02000503000000020004" pitchFamily="34" charset="0"/>
                <a:ea typeface="Crosswalk Inter Medium" panose="02000503000000020004" pitchFamily="34" charset="0"/>
                <a:cs typeface="Crosswalk Inter Medium" panose="02000503000000020004" pitchFamily="34" charset="0"/>
              </a:rPr>
              <a:t>+</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9" name="Text 26"/>
          <p:cNvSpPr/>
          <p:nvPr/>
        </p:nvSpPr>
        <p:spPr>
          <a:xfrm>
            <a:off x="1051560" y="6873748"/>
            <a:ext cx="5943600" cy="210312"/>
          </a:xfrm>
          <a:prstGeom prst="rect">
            <a:avLst/>
          </a:prstGeom>
          <a:noFill/>
          <a:ln/>
        </p:spPr>
        <p:txBody>
          <a:bodyPr wrap="square" lIns="0" tIns="0" rIns="0" bIns="0" rtlCol="0" anchor="t"/>
          <a:lstStyle/>
          <a:p>
            <a:pPr marL="0" indent="0">
              <a:lnSpc>
                <a:spcPts val="1500"/>
              </a:lnSpc>
              <a:buNone/>
            </a:pPr>
            <a:r>
              <a:rPr lang="en-US" sz="105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Version 1 of the [PROJECT 1 SUBJECT] deck by end of day after kickoff</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0" name="Text 27"/>
          <p:cNvSpPr/>
          <p:nvPr/>
        </p:nvSpPr>
        <p:spPr>
          <a:xfrm>
            <a:off x="777240" y="7212076"/>
            <a:ext cx="219456" cy="201168"/>
          </a:xfrm>
          <a:prstGeom prst="rect">
            <a:avLst/>
          </a:prstGeom>
          <a:noFill/>
          <a:ln/>
        </p:spPr>
        <p:txBody>
          <a:bodyPr wrap="square" lIns="0" tIns="0" rIns="0" bIns="0" rtlCol="0" anchor="t"/>
          <a:lstStyle/>
          <a:p>
            <a:pPr marL="0" indent="0">
              <a:buNone/>
            </a:pPr>
            <a:r>
              <a:rPr lang="en-US" sz="1050" dirty="0">
                <a:solidFill>
                  <a:srgbClr val="5E7E12"/>
                </a:solidFill>
                <a:latin typeface="Crosswalk Inter Medium" panose="02000503000000020004" pitchFamily="34" charset="0"/>
                <a:ea typeface="Crosswalk Inter Medium" panose="02000503000000020004" pitchFamily="34" charset="0"/>
                <a:cs typeface="Crosswalk Inter Medium" panose="02000503000000020004" pitchFamily="34" charset="0"/>
              </a:rPr>
              <a:t>+</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1" name="Text 28"/>
          <p:cNvSpPr/>
          <p:nvPr/>
        </p:nvSpPr>
        <p:spPr>
          <a:xfrm>
            <a:off x="1051560" y="7212076"/>
            <a:ext cx="5943600" cy="210312"/>
          </a:xfrm>
          <a:prstGeom prst="rect">
            <a:avLst/>
          </a:prstGeom>
          <a:noFill/>
          <a:ln/>
        </p:spPr>
        <p:txBody>
          <a:bodyPr wrap="square" lIns="0" tIns="0" rIns="0" bIns="0" rtlCol="0" anchor="t"/>
          <a:lstStyle/>
          <a:p>
            <a:pPr marL="0" indent="0">
              <a:lnSpc>
                <a:spcPts val="1500"/>
              </a:lnSpc>
              <a:buNone/>
            </a:pPr>
            <a:r>
              <a:rPr lang="en-US" sz="105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Total reached universe and projected US audience, with avid engagement cuts</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2" name="Text 29"/>
          <p:cNvSpPr/>
          <p:nvPr/>
        </p:nvSpPr>
        <p:spPr>
          <a:xfrm>
            <a:off x="777240" y="7550404"/>
            <a:ext cx="219456" cy="201168"/>
          </a:xfrm>
          <a:prstGeom prst="rect">
            <a:avLst/>
          </a:prstGeom>
          <a:noFill/>
          <a:ln/>
        </p:spPr>
        <p:txBody>
          <a:bodyPr wrap="square" lIns="0" tIns="0" rIns="0" bIns="0" rtlCol="0" anchor="t"/>
          <a:lstStyle/>
          <a:p>
            <a:pPr marL="0" indent="0">
              <a:buNone/>
            </a:pPr>
            <a:r>
              <a:rPr lang="en-US" sz="1050" dirty="0">
                <a:solidFill>
                  <a:srgbClr val="5E7E12"/>
                </a:solidFill>
                <a:latin typeface="Crosswalk Inter Medium" panose="02000503000000020004" pitchFamily="34" charset="0"/>
                <a:ea typeface="Crosswalk Inter Medium" panose="02000503000000020004" pitchFamily="34" charset="0"/>
                <a:cs typeface="Crosswalk Inter Medium" panose="02000503000000020004" pitchFamily="34" charset="0"/>
              </a:rPr>
              <a:t>+</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3" name="Text 30"/>
          <p:cNvSpPr/>
          <p:nvPr/>
        </p:nvSpPr>
        <p:spPr>
          <a:xfrm>
            <a:off x="1051560" y="7550404"/>
            <a:ext cx="5943600" cy="210312"/>
          </a:xfrm>
          <a:prstGeom prst="rect">
            <a:avLst/>
          </a:prstGeom>
          <a:noFill/>
          <a:ln/>
        </p:spPr>
        <p:txBody>
          <a:bodyPr wrap="square" lIns="0" tIns="0" rIns="0" bIns="0" rtlCol="0" anchor="t"/>
          <a:lstStyle/>
          <a:p>
            <a:pPr marL="0" indent="0">
              <a:lnSpc>
                <a:spcPts val="1500"/>
              </a:lnSpc>
              <a:buNone/>
            </a:pPr>
            <a:r>
              <a:rPr lang="en-US" sz="105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Full demographic and behavioral profile, indexed against Gen Pop</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4" name="Text 31"/>
          <p:cNvSpPr/>
          <p:nvPr/>
        </p:nvSpPr>
        <p:spPr>
          <a:xfrm>
            <a:off x="777240" y="7888732"/>
            <a:ext cx="219456" cy="201168"/>
          </a:xfrm>
          <a:prstGeom prst="rect">
            <a:avLst/>
          </a:prstGeom>
          <a:noFill/>
          <a:ln/>
        </p:spPr>
        <p:txBody>
          <a:bodyPr wrap="square" lIns="0" tIns="0" rIns="0" bIns="0" rtlCol="0" anchor="t"/>
          <a:lstStyle/>
          <a:p>
            <a:pPr marL="0" indent="0">
              <a:buNone/>
            </a:pPr>
            <a:r>
              <a:rPr lang="en-US" sz="1050" dirty="0">
                <a:solidFill>
                  <a:srgbClr val="5E7E12"/>
                </a:solidFill>
                <a:latin typeface="Crosswalk Inter Medium" panose="02000503000000020004" pitchFamily="34" charset="0"/>
                <a:ea typeface="Crosswalk Inter Medium" panose="02000503000000020004" pitchFamily="34" charset="0"/>
                <a:cs typeface="Crosswalk Inter Medium" panose="02000503000000020004" pitchFamily="34" charset="0"/>
              </a:rPr>
              <a:t>+</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5" name="Text 32"/>
          <p:cNvSpPr/>
          <p:nvPr/>
        </p:nvSpPr>
        <p:spPr>
          <a:xfrm>
            <a:off x="1051560" y="7888732"/>
            <a:ext cx="5943600" cy="210312"/>
          </a:xfrm>
          <a:prstGeom prst="rect">
            <a:avLst/>
          </a:prstGeom>
          <a:noFill/>
          <a:ln/>
        </p:spPr>
        <p:txBody>
          <a:bodyPr wrap="square" lIns="0" tIns="0" rIns="0" bIns="0" rtlCol="0" anchor="t"/>
          <a:lstStyle/>
          <a:p>
            <a:pPr marL="0" indent="0">
              <a:lnSpc>
                <a:spcPts val="1500"/>
              </a:lnSpc>
              <a:buNone/>
            </a:pPr>
            <a:r>
              <a:rPr lang="en-US" sz="105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Confirmed purchase behavior, brand fit, and conversion by channel</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6" name="Text 33"/>
          <p:cNvSpPr/>
          <p:nvPr/>
        </p:nvSpPr>
        <p:spPr>
          <a:xfrm>
            <a:off x="777240" y="8227060"/>
            <a:ext cx="219456" cy="201168"/>
          </a:xfrm>
          <a:prstGeom prst="rect">
            <a:avLst/>
          </a:prstGeom>
          <a:noFill/>
          <a:ln/>
        </p:spPr>
        <p:txBody>
          <a:bodyPr wrap="square" lIns="0" tIns="0" rIns="0" bIns="0" rtlCol="0" anchor="t"/>
          <a:lstStyle/>
          <a:p>
            <a:pPr marL="0" indent="0">
              <a:buNone/>
            </a:pPr>
            <a:r>
              <a:rPr lang="en-US" sz="1050" dirty="0">
                <a:solidFill>
                  <a:srgbClr val="5E7E12"/>
                </a:solidFill>
                <a:latin typeface="Crosswalk Inter Medium" panose="02000503000000020004" pitchFamily="34" charset="0"/>
                <a:ea typeface="Crosswalk Inter Medium" panose="02000503000000020004" pitchFamily="34" charset="0"/>
                <a:cs typeface="Crosswalk Inter Medium" panose="02000503000000020004" pitchFamily="34" charset="0"/>
              </a:rPr>
              <a:t>+</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7" name="Text 34"/>
          <p:cNvSpPr/>
          <p:nvPr/>
        </p:nvSpPr>
        <p:spPr>
          <a:xfrm>
            <a:off x="1051560" y="8227060"/>
            <a:ext cx="5943600" cy="210312"/>
          </a:xfrm>
          <a:prstGeom prst="rect">
            <a:avLst/>
          </a:prstGeom>
          <a:noFill/>
          <a:ln/>
        </p:spPr>
        <p:txBody>
          <a:bodyPr wrap="square" lIns="0" tIns="0" rIns="0" bIns="0" rtlCol="0" anchor="t"/>
          <a:lstStyle/>
          <a:p>
            <a:pPr marL="0" indent="0">
              <a:lnSpc>
                <a:spcPts val="1500"/>
              </a:lnSpc>
              <a:buNone/>
            </a:pPr>
            <a:r>
              <a:rPr lang="en-US" sz="105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Live dashboard views behind every figure, plus reproducible methodology</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8" name="Text 35"/>
          <p:cNvSpPr/>
          <p:nvPr/>
        </p:nvSpPr>
        <p:spPr>
          <a:xfrm>
            <a:off x="777240" y="8565388"/>
            <a:ext cx="219456" cy="201168"/>
          </a:xfrm>
          <a:prstGeom prst="rect">
            <a:avLst/>
          </a:prstGeom>
          <a:noFill/>
          <a:ln/>
        </p:spPr>
        <p:txBody>
          <a:bodyPr wrap="square" lIns="0" tIns="0" rIns="0" bIns="0" rtlCol="0" anchor="t"/>
          <a:lstStyle/>
          <a:p>
            <a:pPr marL="0" indent="0">
              <a:buNone/>
            </a:pPr>
            <a:r>
              <a:rPr lang="en-US" sz="1050" dirty="0">
                <a:solidFill>
                  <a:srgbClr val="5E7E12"/>
                </a:solidFill>
                <a:latin typeface="Crosswalk Inter Medium" panose="02000503000000020004" pitchFamily="34" charset="0"/>
                <a:ea typeface="Crosswalk Inter Medium" panose="02000503000000020004" pitchFamily="34" charset="0"/>
                <a:cs typeface="Crosswalk Inter Medium" panose="02000503000000020004" pitchFamily="34" charset="0"/>
              </a:rPr>
              <a:t>+</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9" name="Text 36"/>
          <p:cNvSpPr/>
          <p:nvPr/>
        </p:nvSpPr>
        <p:spPr>
          <a:xfrm>
            <a:off x="1051560" y="8565388"/>
            <a:ext cx="5943600" cy="210312"/>
          </a:xfrm>
          <a:prstGeom prst="rect">
            <a:avLst/>
          </a:prstGeom>
          <a:noFill/>
          <a:ln/>
        </p:spPr>
        <p:txBody>
          <a:bodyPr wrap="square" lIns="0" tIns="0" rIns="0" bIns="0" rtlCol="0" anchor="t"/>
          <a:lstStyle/>
          <a:p>
            <a:pPr marL="0" indent="0">
              <a:lnSpc>
                <a:spcPts val="1500"/>
              </a:lnSpc>
              <a:buNone/>
            </a:pPr>
            <a:r>
              <a:rPr lang="en-US" sz="105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At your election, a shareable version built for client conversations</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0" name="Google Shape;100;p37">
            <a:extLst>
              <a:ext uri="{FF2B5EF4-FFF2-40B4-BE49-F238E27FC236}">
                <a16:creationId xmlns:a16="http://schemas.microsoft.com/office/drawing/2014/main" id="{34C91D48-2C4C-16B3-9B04-A7D5FABE53DC}"/>
              </a:ext>
            </a:extLst>
          </p:cNvPr>
          <p:cNvSpPr txBox="1">
            <a:spLocks/>
          </p:cNvSpPr>
          <p:nvPr/>
        </p:nvSpPr>
        <p:spPr>
          <a:xfrm>
            <a:off x="6597279" y="9255170"/>
            <a:ext cx="379521" cy="365125"/>
          </a:xfrm>
          <a:prstGeom prst="rect">
            <a:avLst/>
          </a:prstGeom>
          <a:noFill/>
          <a:ln>
            <a:noFill/>
          </a:ln>
        </p:spPr>
        <p:txBody>
          <a:bodyPr spcFirstLastPara="1" wrap="square" lIns="0" tIns="45700" rIns="0" bIns="45700" anchor="ctr" anchorCtr="0">
            <a:noAutofit/>
          </a:bodyPr>
          <a:lstStyle>
            <a:lvl1pPr marL="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a:lvl2pPr marL="457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2pPr>
            <a:lvl3pPr marL="914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3pPr>
            <a:lvl4pPr marL="1371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4pPr>
            <a:lvl5pPr marL="18288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5pPr>
            <a:lvl6pPr marL="22860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6pPr>
            <a:lvl7pPr marL="2743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7pPr>
            <a:lvl8pPr marL="3200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8pPr>
            <a:lvl9pPr marL="3657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9pPr>
          </a:lstStyle>
          <a:p>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fld id="{00000000-1234-1234-1234-123412341234}" type="slidenum">
              <a:rPr kumimoji="0" lang="en-US" sz="700" b="0" i="0" u="none" strike="noStrike" kern="1200" cap="none" spc="0" normalizeH="0" baseline="0" noProof="0" smtClean="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rPr>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t>8</a:t>
            </a:fld>
            <a:endParaRPr kumimoji="0" lang="en-US" sz="900" b="0" i="0" u="none" strike="noStrike" kern="1200" cap="none" spc="0" normalizeH="0" baseline="0" noProof="0" dirty="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E8E2"/>
        </a:solidFill>
        <a:effectLst/>
      </p:bgPr>
    </p:bg>
    <p:spTree>
      <p:nvGrpSpPr>
        <p:cNvPr id="1" name=""/>
        <p:cNvGrpSpPr/>
        <p:nvPr/>
      </p:nvGrpSpPr>
      <p:grpSpPr>
        <a:xfrm>
          <a:off x="0" y="0"/>
          <a:ext cx="0" cy="0"/>
          <a:chOff x="0" y="0"/>
          <a:chExt cx="0" cy="0"/>
        </a:xfrm>
      </p:grpSpPr>
      <p:pic>
        <p:nvPicPr>
          <p:cNvPr id="4" name="Image 0" descr="logo_dark.png"/>
          <p:cNvPicPr>
            <a:picLocks noChangeAspect="1"/>
          </p:cNvPicPr>
          <p:nvPr/>
        </p:nvPicPr>
        <p:blipFill>
          <a:blip r:embed="rId4"/>
          <a:stretch>
            <a:fillRect/>
          </a:stretch>
        </p:blipFill>
        <p:spPr>
          <a:xfrm>
            <a:off x="6062472" y="544424"/>
            <a:ext cx="932688" cy="118161"/>
          </a:xfrm>
          <a:prstGeom prst="rect">
            <a:avLst/>
          </a:prstGeom>
        </p:spPr>
      </p:pic>
      <p:sp>
        <p:nvSpPr>
          <p:cNvPr id="5" name="Shape 2"/>
          <p:cNvSpPr/>
          <p:nvPr/>
        </p:nvSpPr>
        <p:spPr>
          <a:xfrm>
            <a:off x="777240" y="868680"/>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p:nvPr/>
        </p:nvSpPr>
        <p:spPr>
          <a:xfrm>
            <a:off x="777240" y="9381744"/>
            <a:ext cx="4114800" cy="182880"/>
          </a:xfrm>
          <a:prstGeom prst="rect">
            <a:avLst/>
          </a:prstGeom>
          <a:noFill/>
          <a:ln/>
        </p:spPr>
        <p:txBody>
          <a:bodyPr wrap="square" lIns="0" tIns="0" rIns="0" bIns="0" rtlCol="0" anchor="t"/>
          <a:lstStyle/>
          <a:p>
            <a:pPr marL="0" indent="0">
              <a:buNone/>
            </a:pPr>
            <a:r>
              <a:rPr lang="en-US" sz="700" kern="0" spc="14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CROSSWALK / BEHAVIORAL INTELLIGENCE ENGINE</a:t>
            </a:r>
            <a:endParaRPr lang="en-US" sz="7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Shape 5"/>
          <p:cNvSpPr/>
          <p:nvPr/>
        </p:nvSpPr>
        <p:spPr>
          <a:xfrm>
            <a:off x="777240" y="1120140"/>
            <a:ext cx="64008" cy="64008"/>
          </a:xfrm>
          <a:prstGeom prst="ellipse">
            <a:avLst/>
          </a:prstGeom>
          <a:solidFill>
            <a:srgbClr val="5E7E12"/>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0" name="Text 7"/>
          <p:cNvSpPr/>
          <p:nvPr/>
        </p:nvSpPr>
        <p:spPr>
          <a:xfrm>
            <a:off x="777240" y="1572768"/>
            <a:ext cx="6217920" cy="734822"/>
          </a:xfrm>
          <a:prstGeom prst="rect">
            <a:avLst/>
          </a:prstGeom>
          <a:noFill/>
          <a:ln/>
        </p:spPr>
        <p:txBody>
          <a:bodyPr wrap="square" lIns="0" tIns="0" rIns="0" bIns="0" rtlCol="0" anchor="t"/>
          <a:lstStyle/>
          <a:p>
            <a:pPr marL="0" indent="0">
              <a:lnSpc>
                <a:spcPts val="2461"/>
              </a:lnSpc>
              <a:buNone/>
            </a:pPr>
            <a:r>
              <a:rPr lang="en-US" sz="23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Platform</a:t>
            </a:r>
            <a:br>
              <a:rPr lang="en-US" sz="23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br>
            <a:r>
              <a:rPr lang="en-US" sz="23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access.</a:t>
            </a:r>
            <a:endParaRPr lang="en-US" sz="2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Text 8"/>
          <p:cNvSpPr/>
          <p:nvPr/>
        </p:nvSpPr>
        <p:spPr>
          <a:xfrm>
            <a:off x="777240" y="2508758"/>
            <a:ext cx="6217920" cy="705612"/>
          </a:xfrm>
          <a:prstGeom prst="rect">
            <a:avLst/>
          </a:prstGeom>
          <a:noFill/>
          <a:ln/>
        </p:spPr>
        <p:txBody>
          <a:bodyPr wrap="square" lIns="0" tIns="0" rIns="0" bIns="0" rtlCol="0" anchor="t"/>
          <a:lstStyle/>
          <a:p>
            <a:pPr marL="0" indent="0">
              <a:lnSpc>
                <a:spcPts val="1575"/>
              </a:lnSpc>
              <a:buNone/>
            </a:pPr>
            <a:r>
              <a:rPr lang="en-US" sz="1100" dirty="0">
                <a:solidFill>
                  <a:srgbClr val="0C1618"/>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Included: </a:t>
            </a: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full access to the Crosswalk dashboard for the POC period, every module live from day one, for every member of [CLIENT NAME].</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Text 9"/>
          <p:cNvSpPr/>
          <p:nvPr/>
        </p:nvSpPr>
        <p:spPr>
          <a:xfrm>
            <a:off x="777240" y="3404870"/>
            <a:ext cx="6217920" cy="182880"/>
          </a:xfrm>
          <a:prstGeom prst="rect">
            <a:avLst/>
          </a:prstGeom>
          <a:noFill/>
          <a:ln/>
        </p:spPr>
        <p:txBody>
          <a:bodyPr wrap="square" lIns="0" tIns="0" rIns="0" bIns="0" rtlCol="0" anchor="t"/>
          <a:lstStyle/>
          <a:p>
            <a:pPr marL="0" indent="0">
              <a:buNone/>
            </a:pPr>
            <a:r>
              <a:rPr lang="en-US" sz="850" b="1" kern="0" spc="1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MODULES INCLUDED</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Shape 10"/>
          <p:cNvSpPr/>
          <p:nvPr/>
        </p:nvSpPr>
        <p:spPr>
          <a:xfrm>
            <a:off x="777240" y="3724910"/>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4" name="Text 11"/>
          <p:cNvSpPr/>
          <p:nvPr/>
        </p:nvSpPr>
        <p:spPr>
          <a:xfrm>
            <a:off x="777240" y="3876440"/>
            <a:ext cx="502920" cy="274320"/>
          </a:xfrm>
          <a:prstGeom prst="rect">
            <a:avLst/>
          </a:prstGeom>
          <a:noFill/>
          <a:ln/>
        </p:spPr>
        <p:txBody>
          <a:bodyPr wrap="square" lIns="0" tIns="0" rIns="0" bIns="0" rtlCol="0" anchor="t"/>
          <a:lstStyle/>
          <a:p>
            <a:pPr marL="0" indent="0">
              <a:buNone/>
            </a:pPr>
            <a:r>
              <a:rPr lang="en-US" sz="13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01</a:t>
            </a:r>
            <a:endParaRPr lang="en-US" sz="1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5" name="Text 12"/>
          <p:cNvSpPr/>
          <p:nvPr/>
        </p:nvSpPr>
        <p:spPr>
          <a:xfrm>
            <a:off x="1399032" y="3876440"/>
            <a:ext cx="5596128" cy="274320"/>
          </a:xfrm>
          <a:prstGeom prst="rect">
            <a:avLst/>
          </a:prstGeom>
          <a:noFill/>
          <a:ln/>
        </p:spPr>
        <p:txBody>
          <a:bodyPr wrap="square" lIns="0" tIns="0" rIns="0" bIns="0" rtlCol="0" anchor="t"/>
          <a:lstStyle/>
          <a:p>
            <a:pPr marL="0" indent="0">
              <a:lnSpc>
                <a:spcPts val="1500"/>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Profile IQ: full behavioral and demographic profiles of talent, brands, teams and titles</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6" name="Shape 13"/>
          <p:cNvSpPr/>
          <p:nvPr/>
        </p:nvSpPr>
        <p:spPr>
          <a:xfrm>
            <a:off x="777240" y="4350893"/>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7" name="Text 14"/>
          <p:cNvSpPr/>
          <p:nvPr/>
        </p:nvSpPr>
        <p:spPr>
          <a:xfrm>
            <a:off x="777240" y="4495619"/>
            <a:ext cx="502920" cy="274320"/>
          </a:xfrm>
          <a:prstGeom prst="rect">
            <a:avLst/>
          </a:prstGeom>
          <a:noFill/>
          <a:ln/>
        </p:spPr>
        <p:txBody>
          <a:bodyPr wrap="square" lIns="0" tIns="0" rIns="0" bIns="0" rtlCol="0" anchor="t"/>
          <a:lstStyle/>
          <a:p>
            <a:pPr marL="0" indent="0">
              <a:buNone/>
            </a:pPr>
            <a:r>
              <a:rPr lang="en-US" sz="13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02</a:t>
            </a:r>
            <a:endParaRPr lang="en-US" sz="1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8" name="Text 15"/>
          <p:cNvSpPr/>
          <p:nvPr/>
        </p:nvSpPr>
        <p:spPr>
          <a:xfrm>
            <a:off x="1399032" y="4495619"/>
            <a:ext cx="5596128" cy="274320"/>
          </a:xfrm>
          <a:prstGeom prst="rect">
            <a:avLst/>
          </a:prstGeom>
          <a:noFill/>
          <a:ln/>
        </p:spPr>
        <p:txBody>
          <a:bodyPr wrap="square" lIns="0" tIns="0" rIns="0" bIns="0" rtlCol="0" anchor="t"/>
          <a:lstStyle/>
          <a:p>
            <a:pPr marL="0" indent="0">
              <a:lnSpc>
                <a:spcPts val="1500"/>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Subscriber IQ: subscriber acquisition and movement across streaming platforms</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9" name="Shape 16"/>
          <p:cNvSpPr/>
          <p:nvPr/>
        </p:nvSpPr>
        <p:spPr>
          <a:xfrm>
            <a:off x="777240" y="4976876"/>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0" name="Text 17"/>
          <p:cNvSpPr/>
          <p:nvPr/>
        </p:nvSpPr>
        <p:spPr>
          <a:xfrm>
            <a:off x="777240" y="5114798"/>
            <a:ext cx="502920" cy="274320"/>
          </a:xfrm>
          <a:prstGeom prst="rect">
            <a:avLst/>
          </a:prstGeom>
          <a:noFill/>
          <a:ln/>
        </p:spPr>
        <p:txBody>
          <a:bodyPr wrap="square" lIns="0" tIns="0" rIns="0" bIns="0" rtlCol="0" anchor="t"/>
          <a:lstStyle/>
          <a:p>
            <a:pPr marL="0" indent="0">
              <a:buNone/>
            </a:pPr>
            <a:r>
              <a:rPr lang="en-US" sz="13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03</a:t>
            </a:r>
            <a:endParaRPr lang="en-US" sz="1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1" name="Text 18"/>
          <p:cNvSpPr/>
          <p:nvPr/>
        </p:nvSpPr>
        <p:spPr>
          <a:xfrm>
            <a:off x="1399032" y="5114798"/>
            <a:ext cx="5596128" cy="274320"/>
          </a:xfrm>
          <a:prstGeom prst="rect">
            <a:avLst/>
          </a:prstGeom>
          <a:noFill/>
          <a:ln/>
        </p:spPr>
        <p:txBody>
          <a:bodyPr wrap="square" lIns="0" tIns="0" rIns="0" bIns="0" rtlCol="0" anchor="t"/>
          <a:lstStyle/>
          <a:p>
            <a:pPr marL="0" indent="0">
              <a:lnSpc>
                <a:spcPts val="1500"/>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Digital Journey IQ: the path an audience takes across the open web, T+1</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2" name="Shape 19"/>
          <p:cNvSpPr/>
          <p:nvPr/>
        </p:nvSpPr>
        <p:spPr>
          <a:xfrm>
            <a:off x="777240" y="5602859"/>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3" name="Text 20"/>
          <p:cNvSpPr/>
          <p:nvPr/>
        </p:nvSpPr>
        <p:spPr>
          <a:xfrm>
            <a:off x="777240" y="5733977"/>
            <a:ext cx="502920" cy="274320"/>
          </a:xfrm>
          <a:prstGeom prst="rect">
            <a:avLst/>
          </a:prstGeom>
          <a:noFill/>
          <a:ln/>
        </p:spPr>
        <p:txBody>
          <a:bodyPr wrap="square" lIns="0" tIns="0" rIns="0" bIns="0" rtlCol="0" anchor="t"/>
          <a:lstStyle/>
          <a:p>
            <a:pPr marL="0" indent="0">
              <a:buNone/>
            </a:pPr>
            <a:r>
              <a:rPr lang="en-US" sz="13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04</a:t>
            </a:r>
            <a:endParaRPr lang="en-US" sz="1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4" name="Text 21"/>
          <p:cNvSpPr/>
          <p:nvPr/>
        </p:nvSpPr>
        <p:spPr>
          <a:xfrm>
            <a:off x="1399032" y="5733977"/>
            <a:ext cx="5596128" cy="274320"/>
          </a:xfrm>
          <a:prstGeom prst="rect">
            <a:avLst/>
          </a:prstGeom>
          <a:noFill/>
          <a:ln/>
        </p:spPr>
        <p:txBody>
          <a:bodyPr wrap="square" lIns="0" tIns="0" rIns="0" bIns="0" rtlCol="0" anchor="t"/>
          <a:lstStyle/>
          <a:p>
            <a:pPr marL="0" indent="0">
              <a:lnSpc>
                <a:spcPts val="1500"/>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Trends: syndicated tracking across profiles, shows, platforms, and categories</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5" name="Shape 22"/>
          <p:cNvSpPr/>
          <p:nvPr/>
        </p:nvSpPr>
        <p:spPr>
          <a:xfrm>
            <a:off x="777240" y="6228842"/>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6" name="Text 23"/>
          <p:cNvSpPr/>
          <p:nvPr/>
        </p:nvSpPr>
        <p:spPr>
          <a:xfrm>
            <a:off x="777240" y="6353156"/>
            <a:ext cx="502920" cy="274320"/>
          </a:xfrm>
          <a:prstGeom prst="rect">
            <a:avLst/>
          </a:prstGeom>
          <a:noFill/>
          <a:ln/>
        </p:spPr>
        <p:txBody>
          <a:bodyPr wrap="square" lIns="0" tIns="0" rIns="0" bIns="0" rtlCol="0" anchor="t"/>
          <a:lstStyle/>
          <a:p>
            <a:pPr marL="0" indent="0">
              <a:buNone/>
            </a:pPr>
            <a:r>
              <a:rPr lang="en-US" sz="13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05</a:t>
            </a:r>
            <a:endParaRPr lang="en-US" sz="1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7" name="Text 24"/>
          <p:cNvSpPr/>
          <p:nvPr/>
        </p:nvSpPr>
        <p:spPr>
          <a:xfrm>
            <a:off x="1399032" y="6353156"/>
            <a:ext cx="5596128" cy="274320"/>
          </a:xfrm>
          <a:prstGeom prst="rect">
            <a:avLst/>
          </a:prstGeom>
          <a:noFill/>
          <a:ln/>
        </p:spPr>
        <p:txBody>
          <a:bodyPr wrap="square" lIns="0" tIns="0" rIns="0" bIns="0" rtlCol="0" anchor="t"/>
          <a:lstStyle/>
          <a:p>
            <a:pPr marL="0" indent="0">
              <a:lnSpc>
                <a:spcPts val="1500"/>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Micro Series: fast, focused reads on emerging talent, titles, and moments</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8" name="Shape 25"/>
          <p:cNvSpPr/>
          <p:nvPr/>
        </p:nvSpPr>
        <p:spPr>
          <a:xfrm>
            <a:off x="777240" y="6854825"/>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9" name="Text 26"/>
          <p:cNvSpPr/>
          <p:nvPr/>
        </p:nvSpPr>
        <p:spPr>
          <a:xfrm>
            <a:off x="777240" y="6972335"/>
            <a:ext cx="502920" cy="274320"/>
          </a:xfrm>
          <a:prstGeom prst="rect">
            <a:avLst/>
          </a:prstGeom>
          <a:noFill/>
          <a:ln/>
        </p:spPr>
        <p:txBody>
          <a:bodyPr wrap="square" lIns="0" tIns="0" rIns="0" bIns="0" rtlCol="0" anchor="t"/>
          <a:lstStyle/>
          <a:p>
            <a:pPr marL="0" indent="0">
              <a:buNone/>
            </a:pPr>
            <a:r>
              <a:rPr lang="en-US" sz="13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06</a:t>
            </a:r>
            <a:endParaRPr lang="en-US" sz="1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0" name="Text 27"/>
          <p:cNvSpPr/>
          <p:nvPr/>
        </p:nvSpPr>
        <p:spPr>
          <a:xfrm>
            <a:off x="1399032" y="6972335"/>
            <a:ext cx="5596128" cy="274320"/>
          </a:xfrm>
          <a:prstGeom prst="rect">
            <a:avLst/>
          </a:prstGeom>
          <a:noFill/>
          <a:ln/>
        </p:spPr>
        <p:txBody>
          <a:bodyPr wrap="square" lIns="0" tIns="0" rIns="0" bIns="0" rtlCol="0" anchor="t"/>
          <a:lstStyle/>
          <a:p>
            <a:pPr marL="0" indent="0">
              <a:lnSpc>
                <a:spcPts val="1500"/>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Fin IQ: financial and transaction-level behavioral intelligence</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1" name="Shape 28"/>
          <p:cNvSpPr/>
          <p:nvPr/>
        </p:nvSpPr>
        <p:spPr>
          <a:xfrm>
            <a:off x="777240" y="7480808"/>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2" name="Text 29"/>
          <p:cNvSpPr/>
          <p:nvPr/>
        </p:nvSpPr>
        <p:spPr>
          <a:xfrm>
            <a:off x="777240" y="7591514"/>
            <a:ext cx="502920" cy="274320"/>
          </a:xfrm>
          <a:prstGeom prst="rect">
            <a:avLst/>
          </a:prstGeom>
          <a:noFill/>
          <a:ln/>
        </p:spPr>
        <p:txBody>
          <a:bodyPr wrap="square" lIns="0" tIns="0" rIns="0" bIns="0" rtlCol="0" anchor="t"/>
          <a:lstStyle/>
          <a:p>
            <a:pPr marL="0" indent="0">
              <a:buNone/>
            </a:pPr>
            <a:r>
              <a:rPr lang="en-US" sz="13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07</a:t>
            </a:r>
            <a:endParaRPr lang="en-US" sz="1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3" name="Text 30"/>
          <p:cNvSpPr/>
          <p:nvPr/>
        </p:nvSpPr>
        <p:spPr>
          <a:xfrm>
            <a:off x="1399032" y="7591514"/>
            <a:ext cx="5596128" cy="274320"/>
          </a:xfrm>
          <a:prstGeom prst="rect">
            <a:avLst/>
          </a:prstGeom>
          <a:noFill/>
          <a:ln/>
        </p:spPr>
        <p:txBody>
          <a:bodyPr wrap="square" lIns="0" tIns="0" rIns="0" bIns="0" rtlCol="0" anchor="t"/>
          <a:lstStyle/>
          <a:p>
            <a:pPr marL="0" indent="0">
              <a:lnSpc>
                <a:spcPts val="1500"/>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Attribution: channel and format conversion within configurable windows</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4" name="Shape 31"/>
          <p:cNvSpPr/>
          <p:nvPr/>
        </p:nvSpPr>
        <p:spPr>
          <a:xfrm>
            <a:off x="777240" y="8106791"/>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5" name="Text 32"/>
          <p:cNvSpPr/>
          <p:nvPr/>
        </p:nvSpPr>
        <p:spPr>
          <a:xfrm>
            <a:off x="777240" y="8210696"/>
            <a:ext cx="502920" cy="274320"/>
          </a:xfrm>
          <a:prstGeom prst="rect">
            <a:avLst/>
          </a:prstGeom>
          <a:noFill/>
          <a:ln/>
        </p:spPr>
        <p:txBody>
          <a:bodyPr wrap="square" lIns="0" tIns="0" rIns="0" bIns="0" rtlCol="0" anchor="t"/>
          <a:lstStyle/>
          <a:p>
            <a:pPr marL="0" indent="0">
              <a:buNone/>
            </a:pPr>
            <a:r>
              <a:rPr lang="en-US" sz="13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08</a:t>
            </a:r>
            <a:endParaRPr lang="en-US" sz="1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6" name="Text 33"/>
          <p:cNvSpPr/>
          <p:nvPr/>
        </p:nvSpPr>
        <p:spPr>
          <a:xfrm>
            <a:off x="1399032" y="8210696"/>
            <a:ext cx="5596128" cy="274320"/>
          </a:xfrm>
          <a:prstGeom prst="rect">
            <a:avLst/>
          </a:prstGeom>
          <a:noFill/>
          <a:ln/>
        </p:spPr>
        <p:txBody>
          <a:bodyPr wrap="square" lIns="0" tIns="0" rIns="0" bIns="0" rtlCol="0" anchor="t"/>
          <a:lstStyle/>
          <a:p>
            <a:pPr marL="0" indent="0">
              <a:lnSpc>
                <a:spcPts val="1500"/>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Impact IQ: the measurable value of campaigns, integrations, and partnerships</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7" name="Shape 34"/>
          <p:cNvSpPr/>
          <p:nvPr/>
        </p:nvSpPr>
        <p:spPr>
          <a:xfrm>
            <a:off x="777240" y="8732774"/>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8" name="Google Shape;100;p37">
            <a:extLst>
              <a:ext uri="{FF2B5EF4-FFF2-40B4-BE49-F238E27FC236}">
                <a16:creationId xmlns:a16="http://schemas.microsoft.com/office/drawing/2014/main" id="{E398F840-C45D-09C8-71F5-53DFDE91FF03}"/>
              </a:ext>
            </a:extLst>
          </p:cNvPr>
          <p:cNvSpPr txBox="1">
            <a:spLocks/>
          </p:cNvSpPr>
          <p:nvPr/>
        </p:nvSpPr>
        <p:spPr>
          <a:xfrm>
            <a:off x="6597279" y="9255170"/>
            <a:ext cx="379521" cy="365125"/>
          </a:xfrm>
          <a:prstGeom prst="rect">
            <a:avLst/>
          </a:prstGeom>
          <a:noFill/>
          <a:ln>
            <a:noFill/>
          </a:ln>
        </p:spPr>
        <p:txBody>
          <a:bodyPr spcFirstLastPara="1" wrap="square" lIns="0" tIns="45700" rIns="0" bIns="45700" anchor="ctr" anchorCtr="0">
            <a:noAutofit/>
          </a:bodyPr>
          <a:lstStyle>
            <a:lvl1pPr marL="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a:lvl2pPr marL="457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2pPr>
            <a:lvl3pPr marL="914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3pPr>
            <a:lvl4pPr marL="1371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4pPr>
            <a:lvl5pPr marL="18288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5pPr>
            <a:lvl6pPr marL="22860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6pPr>
            <a:lvl7pPr marL="2743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7pPr>
            <a:lvl8pPr marL="3200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8pPr>
            <a:lvl9pPr marL="3657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9pPr>
          </a:lstStyle>
          <a:p>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fld id="{00000000-1234-1234-1234-123412341234}" type="slidenum">
              <a:rPr kumimoji="0" lang="en-US" sz="700" b="0" i="0" u="none" strike="noStrike" kern="1200" cap="none" spc="0" normalizeH="0" baseline="0" noProof="0" smtClean="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rPr>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t>9</a:t>
            </a:fld>
            <a:endParaRPr kumimoji="0" lang="en-US" sz="900" b="0" i="0" u="none" strike="noStrike" kern="1200" cap="none" spc="0" normalizeH="0" baseline="0" noProof="0" dirty="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endParaRPr>
          </a:p>
        </p:txBody>
      </p:sp>
      <p:sp>
        <p:nvSpPr>
          <p:cNvPr id="39" name="Text 1">
            <a:extLst>
              <a:ext uri="{FF2B5EF4-FFF2-40B4-BE49-F238E27FC236}">
                <a16:creationId xmlns:a16="http://schemas.microsoft.com/office/drawing/2014/main" id="{D9B30F1A-04C7-FF7F-F114-344BB89A41AE}"/>
              </a:ext>
            </a:extLst>
          </p:cNvPr>
          <p:cNvSpPr/>
          <p:nvPr/>
        </p:nvSpPr>
        <p:spPr>
          <a:xfrm>
            <a:off x="777240" y="530352"/>
            <a:ext cx="4206240" cy="201168"/>
          </a:xfrm>
          <a:prstGeom prst="rect">
            <a:avLst/>
          </a:prstGeom>
          <a:noFill/>
          <a:ln/>
        </p:spPr>
        <p:txBody>
          <a:bodyPr wrap="square" lIns="0" tIns="0" rIns="0" bIns="0" rtlCol="0" anchor="t"/>
          <a:lstStyle/>
          <a:p>
            <a:r>
              <a:rPr lang="en-US" sz="750" kern="0" spc="150" dirty="0">
                <a:solidFill>
                  <a:srgbClr val="888C89"/>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SCOPE OF WORK</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0" name="Text 6">
            <a:extLst>
              <a:ext uri="{FF2B5EF4-FFF2-40B4-BE49-F238E27FC236}">
                <a16:creationId xmlns:a16="http://schemas.microsoft.com/office/drawing/2014/main" id="{6B052E5E-F904-A0F4-6D48-155F87BE0617}"/>
              </a:ext>
            </a:extLst>
          </p:cNvPr>
          <p:cNvSpPr/>
          <p:nvPr/>
        </p:nvSpPr>
        <p:spPr>
          <a:xfrm>
            <a:off x="932688" y="1094191"/>
            <a:ext cx="5120640" cy="201168"/>
          </a:xfrm>
          <a:prstGeom prst="rect">
            <a:avLst/>
          </a:prstGeom>
          <a:noFill/>
          <a:ln/>
        </p:spPr>
        <p:txBody>
          <a:bodyPr wrap="square" lIns="0" tIns="0" rIns="0" bIns="0" rtlCol="0" anchor="t"/>
          <a:lstStyle/>
          <a:p>
            <a:pPr marL="0" indent="0">
              <a:buNone/>
            </a:pPr>
            <a:r>
              <a:rPr lang="en-US" sz="850" kern="0" spc="18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2.2 WORKSTREAM B</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617"/>
        </a:solidFill>
        <a:effectLst/>
      </p:bgPr>
    </p:bg>
    <p:spTree>
      <p:nvGrpSpPr>
        <p:cNvPr id="1" name=""/>
        <p:cNvGrpSpPr/>
        <p:nvPr/>
      </p:nvGrpSpPr>
      <p:grpSpPr>
        <a:xfrm>
          <a:off x="0" y="0"/>
          <a:ext cx="0" cy="0"/>
          <a:chOff x="0" y="0"/>
          <a:chExt cx="0" cy="0"/>
        </a:xfrm>
      </p:grpSpPr>
      <p:sp>
        <p:nvSpPr>
          <p:cNvPr id="3" name="Text 1"/>
          <p:cNvSpPr/>
          <p:nvPr/>
        </p:nvSpPr>
        <p:spPr>
          <a:xfrm>
            <a:off x="777240" y="530352"/>
            <a:ext cx="4206240" cy="201168"/>
          </a:xfrm>
          <a:prstGeom prst="rect">
            <a:avLst/>
          </a:prstGeom>
          <a:noFill/>
          <a:ln/>
        </p:spPr>
        <p:txBody>
          <a:bodyPr wrap="square" lIns="0" tIns="0" rIns="0" bIns="0" rtlCol="0" anchor="t"/>
          <a:lstStyle/>
          <a:p>
            <a:r>
              <a:rPr lang="en-US" sz="750" kern="0" spc="150" dirty="0">
                <a:solidFill>
                  <a:srgbClr val="5C6466"/>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SCOPE OF WORK</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pic>
        <p:nvPicPr>
          <p:cNvPr id="4" name="Image 0" descr="logo_light.png"/>
          <p:cNvPicPr>
            <a:picLocks noChangeAspect="1"/>
          </p:cNvPicPr>
          <p:nvPr/>
        </p:nvPicPr>
        <p:blipFill>
          <a:blip r:embed="rId4"/>
          <a:stretch>
            <a:fillRect/>
          </a:stretch>
        </p:blipFill>
        <p:spPr>
          <a:xfrm>
            <a:off x="6062472" y="544424"/>
            <a:ext cx="932688" cy="118161"/>
          </a:xfrm>
          <a:prstGeom prst="rect">
            <a:avLst/>
          </a:prstGeom>
        </p:spPr>
      </p:pic>
      <p:sp>
        <p:nvSpPr>
          <p:cNvPr id="5" name="Shape 2"/>
          <p:cNvSpPr/>
          <p:nvPr/>
        </p:nvSpPr>
        <p:spPr>
          <a:xfrm>
            <a:off x="777240" y="868680"/>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p:nvPr/>
        </p:nvSpPr>
        <p:spPr>
          <a:xfrm>
            <a:off x="777240" y="9381744"/>
            <a:ext cx="4114800" cy="182880"/>
          </a:xfrm>
          <a:prstGeom prst="rect">
            <a:avLst/>
          </a:prstGeom>
          <a:noFill/>
          <a:ln/>
        </p:spPr>
        <p:txBody>
          <a:bodyPr wrap="square" lIns="0" tIns="0" rIns="0" bIns="0" rtlCol="0" anchor="t"/>
          <a:lstStyle/>
          <a:p>
            <a:pPr marL="0" indent="0">
              <a:buNone/>
            </a:pPr>
            <a:r>
              <a:rPr lang="en-US" sz="700" kern="0" spc="14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CROSSWALK / BEHAVIORAL INTELLIGENCE ENGINE</a:t>
            </a:r>
            <a:endParaRPr lang="en-US" sz="7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Shape 5"/>
          <p:cNvSpPr/>
          <p:nvPr/>
        </p:nvSpPr>
        <p:spPr>
          <a:xfrm>
            <a:off x="777240" y="1120140"/>
            <a:ext cx="64008" cy="64008"/>
          </a:xfrm>
          <a:prstGeom prst="ellipse">
            <a:avLst/>
          </a:prstGeom>
          <a:solidFill>
            <a:srgbClr val="C7F23E"/>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Text 6"/>
          <p:cNvSpPr/>
          <p:nvPr/>
        </p:nvSpPr>
        <p:spPr>
          <a:xfrm>
            <a:off x="932688" y="1094894"/>
            <a:ext cx="5120640" cy="201168"/>
          </a:xfrm>
          <a:prstGeom prst="rect">
            <a:avLst/>
          </a:prstGeom>
          <a:noFill/>
          <a:ln/>
        </p:spPr>
        <p:txBody>
          <a:bodyPr wrap="square" lIns="0" tIns="0" rIns="0" bIns="0" rtlCol="0" anchor="t"/>
          <a:lstStyle/>
          <a:p>
            <a:pPr marL="0" indent="0">
              <a:buNone/>
            </a:pPr>
            <a:r>
              <a:rPr lang="en-US" sz="850" kern="0" spc="180" dirty="0">
                <a:solidFill>
                  <a:srgbClr val="5C6466"/>
                </a:solidFill>
                <a:latin typeface="Crosswalk Inter Medium" panose="02000503000000020004" pitchFamily="34" charset="0"/>
                <a:ea typeface="Crosswalk Inter Medium" panose="02000503000000020004" pitchFamily="34" charset="0"/>
                <a:cs typeface="Crosswalk Inter Medium" panose="02000503000000020004" pitchFamily="34" charset="0"/>
              </a:rPr>
              <a:t>2.3 WORKSTREAM C</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0" name="Text 7"/>
          <p:cNvSpPr/>
          <p:nvPr/>
        </p:nvSpPr>
        <p:spPr>
          <a:xfrm>
            <a:off x="777240" y="1572768"/>
            <a:ext cx="6217920" cy="626110"/>
          </a:xfrm>
          <a:prstGeom prst="rect">
            <a:avLst/>
          </a:prstGeom>
          <a:noFill/>
          <a:ln/>
        </p:spPr>
        <p:txBody>
          <a:bodyPr wrap="square" lIns="0" tIns="0" rIns="0" bIns="0" rtlCol="0" anchor="t"/>
          <a:lstStyle/>
          <a:p>
            <a:pPr marL="0" indent="0">
              <a:lnSpc>
                <a:spcPts val="4066"/>
              </a:lnSpc>
              <a:buNone/>
            </a:pPr>
            <a:r>
              <a:rPr lang="en-US" sz="3800" b="1" kern="0" spc="-3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Prometheus.</a:t>
            </a:r>
            <a:endParaRPr lang="en-US" sz="3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Shape 8"/>
          <p:cNvSpPr/>
          <p:nvPr/>
        </p:nvSpPr>
        <p:spPr>
          <a:xfrm>
            <a:off x="777240" y="3154680"/>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Text 9"/>
          <p:cNvSpPr/>
          <p:nvPr/>
        </p:nvSpPr>
        <p:spPr>
          <a:xfrm>
            <a:off x="777240" y="3337560"/>
            <a:ext cx="502920" cy="274320"/>
          </a:xfrm>
          <a:prstGeom prst="rect">
            <a:avLst/>
          </a:prstGeom>
          <a:noFill/>
          <a:ln/>
        </p:spPr>
        <p:txBody>
          <a:bodyPr wrap="square" lIns="0" tIns="0" rIns="0" bIns="0" rtlCol="0" anchor="t"/>
          <a:lstStyle/>
          <a:p>
            <a:pPr marL="0" indent="0">
              <a:buNone/>
            </a:pPr>
            <a:r>
              <a:rPr lang="en-US" sz="1500" dirty="0">
                <a:solidFill>
                  <a:srgbClr val="C7F23E"/>
                </a:solidFill>
                <a:latin typeface="Crosswalk Inter Light" panose="02000503000000020004" pitchFamily="34" charset="0"/>
                <a:ea typeface="Crosswalk Inter Light" panose="02000503000000020004" pitchFamily="34" charset="0"/>
                <a:cs typeface="Crosswalk Inter Light" panose="02000503000000020004" pitchFamily="34" charset="0"/>
              </a:rPr>
              <a:t>01</a:t>
            </a:r>
            <a:endParaRPr lang="en-US" sz="15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Text 10"/>
          <p:cNvSpPr/>
          <p:nvPr/>
        </p:nvSpPr>
        <p:spPr>
          <a:xfrm>
            <a:off x="1399032" y="3364992"/>
            <a:ext cx="5596128" cy="416585"/>
          </a:xfrm>
          <a:prstGeom prst="rect">
            <a:avLst/>
          </a:prstGeom>
          <a:noFill/>
          <a:ln/>
        </p:spPr>
        <p:txBody>
          <a:bodyPr wrap="square" lIns="0" tIns="0" rIns="0" bIns="0" rtlCol="0" anchor="t"/>
          <a:lstStyle/>
          <a:p>
            <a:pPr marL="0" indent="0">
              <a:lnSpc>
                <a:spcPts val="1725"/>
              </a:lnSpc>
              <a:buNone/>
            </a:pPr>
            <a:r>
              <a:rPr lang="en-US" sz="115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Prometheus, Crosswalk's AI analyst, built into the dashboard</a:t>
            </a:r>
            <a:endParaRPr lang="en-US" sz="11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4" name="Shape 11"/>
          <p:cNvSpPr/>
          <p:nvPr/>
        </p:nvSpPr>
        <p:spPr>
          <a:xfrm>
            <a:off x="777240" y="3802304"/>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5" name="Text 12"/>
          <p:cNvSpPr/>
          <p:nvPr/>
        </p:nvSpPr>
        <p:spPr>
          <a:xfrm>
            <a:off x="777240" y="3987165"/>
            <a:ext cx="502920" cy="274320"/>
          </a:xfrm>
          <a:prstGeom prst="rect">
            <a:avLst/>
          </a:prstGeom>
          <a:noFill/>
          <a:ln/>
        </p:spPr>
        <p:txBody>
          <a:bodyPr wrap="square" lIns="0" tIns="0" rIns="0" bIns="0" rtlCol="0" anchor="t"/>
          <a:lstStyle/>
          <a:p>
            <a:pPr marL="0" indent="0">
              <a:buNone/>
            </a:pPr>
            <a:r>
              <a:rPr lang="en-US" sz="1500" dirty="0">
                <a:solidFill>
                  <a:srgbClr val="C7F23E"/>
                </a:solidFill>
                <a:latin typeface="Crosswalk Inter Light" panose="02000503000000020004" pitchFamily="34" charset="0"/>
                <a:ea typeface="Crosswalk Inter Light" panose="02000503000000020004" pitchFamily="34" charset="0"/>
                <a:cs typeface="Crosswalk Inter Light" panose="02000503000000020004" pitchFamily="34" charset="0"/>
              </a:rPr>
              <a:t>02</a:t>
            </a:r>
            <a:endParaRPr lang="en-US" sz="15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6" name="Text 13"/>
          <p:cNvSpPr/>
          <p:nvPr/>
        </p:nvSpPr>
        <p:spPr>
          <a:xfrm>
            <a:off x="1399032" y="4014597"/>
            <a:ext cx="5596128" cy="416585"/>
          </a:xfrm>
          <a:prstGeom prst="rect">
            <a:avLst/>
          </a:prstGeom>
          <a:noFill/>
          <a:ln/>
        </p:spPr>
        <p:txBody>
          <a:bodyPr wrap="square" lIns="0" tIns="0" rIns="0" bIns="0" rtlCol="0" anchor="t"/>
          <a:lstStyle/>
          <a:p>
            <a:pPr marL="0" indent="0">
              <a:lnSpc>
                <a:spcPts val="1725"/>
              </a:lnSpc>
              <a:buNone/>
            </a:pPr>
            <a:r>
              <a:rPr lang="en-US" sz="115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Pull data, cut data, and analyze data in plain language, without an analyst queue.</a:t>
            </a:r>
            <a:endParaRPr lang="en-US" sz="11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7" name="Shape 14"/>
          <p:cNvSpPr/>
          <p:nvPr/>
        </p:nvSpPr>
        <p:spPr>
          <a:xfrm>
            <a:off x="777240" y="4449928"/>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8" name="Text 15"/>
          <p:cNvSpPr/>
          <p:nvPr/>
        </p:nvSpPr>
        <p:spPr>
          <a:xfrm>
            <a:off x="777240" y="4636770"/>
            <a:ext cx="502920" cy="274320"/>
          </a:xfrm>
          <a:prstGeom prst="rect">
            <a:avLst/>
          </a:prstGeom>
          <a:noFill/>
          <a:ln/>
        </p:spPr>
        <p:txBody>
          <a:bodyPr wrap="square" lIns="0" tIns="0" rIns="0" bIns="0" rtlCol="0" anchor="t"/>
          <a:lstStyle/>
          <a:p>
            <a:pPr marL="0" indent="0">
              <a:buNone/>
            </a:pPr>
            <a:r>
              <a:rPr lang="en-US" sz="1500" dirty="0">
                <a:solidFill>
                  <a:srgbClr val="C7F23E"/>
                </a:solidFill>
                <a:latin typeface="Crosswalk Inter Light" panose="02000503000000020004" pitchFamily="34" charset="0"/>
                <a:ea typeface="Crosswalk Inter Light" panose="02000503000000020004" pitchFamily="34" charset="0"/>
                <a:cs typeface="Crosswalk Inter Light" panose="02000503000000020004" pitchFamily="34" charset="0"/>
              </a:rPr>
              <a:t>03</a:t>
            </a:r>
            <a:endParaRPr lang="en-US" sz="15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9" name="Text 16"/>
          <p:cNvSpPr/>
          <p:nvPr/>
        </p:nvSpPr>
        <p:spPr>
          <a:xfrm>
            <a:off x="1399032" y="4664202"/>
            <a:ext cx="5596128" cy="416585"/>
          </a:xfrm>
          <a:prstGeom prst="rect">
            <a:avLst/>
          </a:prstGeom>
          <a:noFill/>
          <a:ln/>
        </p:spPr>
        <p:txBody>
          <a:bodyPr wrap="square" lIns="0" tIns="0" rIns="0" bIns="0" rtlCol="0" anchor="t"/>
          <a:lstStyle/>
          <a:p>
            <a:pPr marL="0" indent="0">
              <a:lnSpc>
                <a:spcPts val="1725"/>
              </a:lnSpc>
              <a:buNone/>
            </a:pPr>
            <a:r>
              <a:rPr lang="en-US" sz="115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300 credits included with the POC at no charge</a:t>
            </a:r>
            <a:endParaRPr lang="en-US" sz="11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0" name="Shape 17"/>
          <p:cNvSpPr/>
          <p:nvPr/>
        </p:nvSpPr>
        <p:spPr>
          <a:xfrm>
            <a:off x="777240" y="5097552"/>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1" name="Text 18"/>
          <p:cNvSpPr/>
          <p:nvPr/>
        </p:nvSpPr>
        <p:spPr>
          <a:xfrm>
            <a:off x="777240" y="5286375"/>
            <a:ext cx="502920" cy="274320"/>
          </a:xfrm>
          <a:prstGeom prst="rect">
            <a:avLst/>
          </a:prstGeom>
          <a:noFill/>
          <a:ln/>
        </p:spPr>
        <p:txBody>
          <a:bodyPr wrap="square" lIns="0" tIns="0" rIns="0" bIns="0" rtlCol="0" anchor="t"/>
          <a:lstStyle/>
          <a:p>
            <a:pPr marL="0" indent="0">
              <a:buNone/>
            </a:pPr>
            <a:r>
              <a:rPr lang="en-US" sz="1500" dirty="0">
                <a:solidFill>
                  <a:srgbClr val="C7F23E"/>
                </a:solidFill>
                <a:latin typeface="Crosswalk Inter Light" panose="02000503000000020004" pitchFamily="34" charset="0"/>
                <a:ea typeface="Crosswalk Inter Light" panose="02000503000000020004" pitchFamily="34" charset="0"/>
                <a:cs typeface="Crosswalk Inter Light" panose="02000503000000020004" pitchFamily="34" charset="0"/>
              </a:rPr>
              <a:t>04</a:t>
            </a:r>
            <a:endParaRPr lang="en-US" sz="15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2" name="Text 19"/>
          <p:cNvSpPr/>
          <p:nvPr/>
        </p:nvSpPr>
        <p:spPr>
          <a:xfrm>
            <a:off x="1399032" y="5313807"/>
            <a:ext cx="5596128" cy="416585"/>
          </a:xfrm>
          <a:prstGeom prst="rect">
            <a:avLst/>
          </a:prstGeom>
          <a:noFill/>
          <a:ln/>
        </p:spPr>
        <p:txBody>
          <a:bodyPr wrap="square" lIns="0" tIns="0" rIns="0" bIns="0" rtlCol="0" anchor="t"/>
          <a:lstStyle/>
          <a:p>
            <a:pPr marL="0" indent="0">
              <a:lnSpc>
                <a:spcPts val="1725"/>
              </a:lnSpc>
              <a:buNone/>
            </a:pPr>
            <a:r>
              <a:rPr lang="en-US" sz="115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Every answer traceable to its source and calculation</a:t>
            </a:r>
            <a:endParaRPr lang="en-US" sz="11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3" name="Shape 20"/>
          <p:cNvSpPr/>
          <p:nvPr/>
        </p:nvSpPr>
        <p:spPr>
          <a:xfrm>
            <a:off x="777240" y="5745176"/>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4" name="Text 21"/>
          <p:cNvSpPr/>
          <p:nvPr/>
        </p:nvSpPr>
        <p:spPr>
          <a:xfrm>
            <a:off x="777240" y="5935979"/>
            <a:ext cx="502920" cy="274320"/>
          </a:xfrm>
          <a:prstGeom prst="rect">
            <a:avLst/>
          </a:prstGeom>
          <a:noFill/>
          <a:ln/>
        </p:spPr>
        <p:txBody>
          <a:bodyPr wrap="square" lIns="0" tIns="0" rIns="0" bIns="0" rtlCol="0" anchor="t"/>
          <a:lstStyle/>
          <a:p>
            <a:pPr marL="0" indent="0">
              <a:buNone/>
            </a:pPr>
            <a:r>
              <a:rPr lang="en-US" sz="1500" dirty="0">
                <a:solidFill>
                  <a:srgbClr val="C7F23E"/>
                </a:solidFill>
                <a:latin typeface="Crosswalk Inter Light" panose="02000503000000020004" pitchFamily="34" charset="0"/>
                <a:ea typeface="Crosswalk Inter Light" panose="02000503000000020004" pitchFamily="34" charset="0"/>
                <a:cs typeface="Crosswalk Inter Light" panose="02000503000000020004" pitchFamily="34" charset="0"/>
              </a:rPr>
              <a:t>05</a:t>
            </a:r>
            <a:endParaRPr lang="en-US" sz="15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5" name="Text 22"/>
          <p:cNvSpPr/>
          <p:nvPr/>
        </p:nvSpPr>
        <p:spPr>
          <a:xfrm>
            <a:off x="1399032" y="5963411"/>
            <a:ext cx="5596128" cy="416585"/>
          </a:xfrm>
          <a:prstGeom prst="rect">
            <a:avLst/>
          </a:prstGeom>
          <a:noFill/>
          <a:ln/>
        </p:spPr>
        <p:txBody>
          <a:bodyPr wrap="square" lIns="0" tIns="0" rIns="0" bIns="0" rtlCol="0" anchor="t"/>
          <a:lstStyle/>
          <a:p>
            <a:pPr marL="0" indent="0">
              <a:lnSpc>
                <a:spcPts val="1725"/>
              </a:lnSpc>
              <a:buNone/>
            </a:pPr>
            <a:r>
              <a:rPr lang="en-US" sz="115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Onboarding session plus a working session with your team</a:t>
            </a:r>
            <a:endParaRPr lang="en-US" sz="11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6" name="Shape 23"/>
          <p:cNvSpPr/>
          <p:nvPr/>
        </p:nvSpPr>
        <p:spPr>
          <a:xfrm>
            <a:off x="777240" y="6392798"/>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7" name="Google Shape;100;p37">
            <a:extLst>
              <a:ext uri="{FF2B5EF4-FFF2-40B4-BE49-F238E27FC236}">
                <a16:creationId xmlns:a16="http://schemas.microsoft.com/office/drawing/2014/main" id="{10B1964A-F9C1-7CF7-34DB-EFE55D10E122}"/>
              </a:ext>
            </a:extLst>
          </p:cNvPr>
          <p:cNvSpPr txBox="1">
            <a:spLocks/>
          </p:cNvSpPr>
          <p:nvPr/>
        </p:nvSpPr>
        <p:spPr>
          <a:xfrm>
            <a:off x="6597279" y="9255170"/>
            <a:ext cx="379521" cy="365125"/>
          </a:xfrm>
          <a:prstGeom prst="rect">
            <a:avLst/>
          </a:prstGeom>
          <a:noFill/>
          <a:ln>
            <a:noFill/>
          </a:ln>
        </p:spPr>
        <p:txBody>
          <a:bodyPr spcFirstLastPara="1" wrap="square" lIns="0" tIns="45700" rIns="0" bIns="45700" anchor="ctr" anchorCtr="0">
            <a:noAutofit/>
          </a:bodyPr>
          <a:lstStyle>
            <a:lvl1pPr marL="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a:lvl2pPr marL="457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2pPr>
            <a:lvl3pPr marL="914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3pPr>
            <a:lvl4pPr marL="1371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4pPr>
            <a:lvl5pPr marL="18288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5pPr>
            <a:lvl6pPr marL="22860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6pPr>
            <a:lvl7pPr marL="2743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7pPr>
            <a:lvl8pPr marL="3200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8pPr>
            <a:lvl9pPr marL="3657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9pPr>
          </a:lstStyle>
          <a:p>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fld id="{00000000-1234-1234-1234-123412341234}" type="slidenum">
              <a:rPr kumimoji="0" lang="en-US" sz="700" b="0" i="0" u="none" strike="noStrike" kern="1200" cap="none" spc="0" normalizeH="0" baseline="0" noProof="0" smtClean="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rPr>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t>10</a:t>
            </a:fld>
            <a:endParaRPr kumimoji="0" lang="en-US" sz="900" b="0" i="0" u="none" strike="noStrike" kern="1200" cap="none" spc="0" normalizeH="0" baseline="0" noProof="0" dirty="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E8E2"/>
        </a:solidFill>
        <a:effectLst/>
      </p:bgPr>
    </p:bg>
    <p:spTree>
      <p:nvGrpSpPr>
        <p:cNvPr id="1" name=""/>
        <p:cNvGrpSpPr/>
        <p:nvPr/>
      </p:nvGrpSpPr>
      <p:grpSpPr>
        <a:xfrm>
          <a:off x="0" y="0"/>
          <a:ext cx="0" cy="0"/>
          <a:chOff x="0" y="0"/>
          <a:chExt cx="0" cy="0"/>
        </a:xfrm>
      </p:grpSpPr>
      <p:sp>
        <p:nvSpPr>
          <p:cNvPr id="3" name="Text 1"/>
          <p:cNvSpPr/>
          <p:nvPr/>
        </p:nvSpPr>
        <p:spPr>
          <a:xfrm>
            <a:off x="777240" y="530352"/>
            <a:ext cx="4206240" cy="201168"/>
          </a:xfrm>
          <a:prstGeom prst="rect">
            <a:avLst/>
          </a:prstGeom>
          <a:noFill/>
          <a:ln/>
        </p:spPr>
        <p:txBody>
          <a:bodyPr wrap="square" lIns="0" tIns="0" rIns="0" bIns="0" rtlCol="0" anchor="t"/>
          <a:lstStyle/>
          <a:p>
            <a:r>
              <a:rPr lang="en-US" sz="750" kern="0" spc="150" dirty="0">
                <a:solidFill>
                  <a:srgbClr val="888C89"/>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WHAT WE NEED FROM YOU</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pic>
        <p:nvPicPr>
          <p:cNvPr id="4" name="Image 0" descr="logo_dark.png"/>
          <p:cNvPicPr>
            <a:picLocks noChangeAspect="1"/>
          </p:cNvPicPr>
          <p:nvPr/>
        </p:nvPicPr>
        <p:blipFill>
          <a:blip r:embed="rId4"/>
          <a:stretch>
            <a:fillRect/>
          </a:stretch>
        </p:blipFill>
        <p:spPr>
          <a:xfrm>
            <a:off x="6062472" y="544424"/>
            <a:ext cx="932688" cy="118161"/>
          </a:xfrm>
          <a:prstGeom prst="rect">
            <a:avLst/>
          </a:prstGeom>
        </p:spPr>
      </p:pic>
      <p:sp>
        <p:nvSpPr>
          <p:cNvPr id="5" name="Shape 2"/>
          <p:cNvSpPr/>
          <p:nvPr/>
        </p:nvSpPr>
        <p:spPr>
          <a:xfrm>
            <a:off x="777240" y="868680"/>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p:nvPr/>
        </p:nvSpPr>
        <p:spPr>
          <a:xfrm>
            <a:off x="777240" y="9381744"/>
            <a:ext cx="4114800" cy="182880"/>
          </a:xfrm>
          <a:prstGeom prst="rect">
            <a:avLst/>
          </a:prstGeom>
          <a:noFill/>
          <a:ln/>
        </p:spPr>
        <p:txBody>
          <a:bodyPr wrap="square" lIns="0" tIns="0" rIns="0" bIns="0" rtlCol="0" anchor="t"/>
          <a:lstStyle/>
          <a:p>
            <a:pPr marL="0" indent="0">
              <a:buNone/>
            </a:pPr>
            <a:r>
              <a:rPr lang="en-US" sz="700" kern="0" spc="14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CROSSWALK / BEHAVIORAL INTELLIGENCE ENGINE</a:t>
            </a:r>
            <a:endParaRPr lang="en-US" sz="7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Shape 5"/>
          <p:cNvSpPr/>
          <p:nvPr/>
        </p:nvSpPr>
        <p:spPr>
          <a:xfrm>
            <a:off x="777240" y="1120140"/>
            <a:ext cx="64008" cy="64008"/>
          </a:xfrm>
          <a:prstGeom prst="ellipse">
            <a:avLst/>
          </a:prstGeom>
          <a:solidFill>
            <a:srgbClr val="5E7E12"/>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Text 6"/>
          <p:cNvSpPr/>
          <p:nvPr/>
        </p:nvSpPr>
        <p:spPr>
          <a:xfrm>
            <a:off x="932688" y="1094191"/>
            <a:ext cx="5120640" cy="201168"/>
          </a:xfrm>
          <a:prstGeom prst="rect">
            <a:avLst/>
          </a:prstGeom>
          <a:noFill/>
          <a:ln/>
        </p:spPr>
        <p:txBody>
          <a:bodyPr wrap="square" lIns="0" tIns="0" rIns="0" bIns="0" rtlCol="0" anchor="t"/>
          <a:lstStyle/>
          <a:p>
            <a:pPr marL="0" indent="0">
              <a:buNone/>
            </a:pPr>
            <a:r>
              <a:rPr lang="en-US" sz="850" kern="0" spc="18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SECTION 03</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0" name="Text 7"/>
          <p:cNvSpPr/>
          <p:nvPr/>
        </p:nvSpPr>
        <p:spPr>
          <a:xfrm>
            <a:off x="777240" y="1572768"/>
            <a:ext cx="6217920" cy="1142492"/>
          </a:xfrm>
          <a:prstGeom prst="rect">
            <a:avLst/>
          </a:prstGeom>
          <a:noFill/>
          <a:ln/>
        </p:spPr>
        <p:txBody>
          <a:bodyPr wrap="square" lIns="0" tIns="0" rIns="0" bIns="0" rtlCol="0" anchor="t"/>
          <a:lstStyle/>
          <a:p>
            <a:pPr marL="0" indent="0">
              <a:lnSpc>
                <a:spcPts val="4066"/>
              </a:lnSpc>
              <a:buNone/>
            </a:pPr>
            <a:r>
              <a:rPr lang="en-US" sz="38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What we need</a:t>
            </a:r>
            <a:br>
              <a:rPr lang="en-US" sz="38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br>
            <a:r>
              <a:rPr lang="en-US" sz="38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from you.</a:t>
            </a:r>
            <a:endParaRPr lang="en-US" sz="3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Text 8"/>
          <p:cNvSpPr/>
          <p:nvPr/>
        </p:nvSpPr>
        <p:spPr>
          <a:xfrm>
            <a:off x="777240" y="3127248"/>
            <a:ext cx="457200" cy="182880"/>
          </a:xfrm>
          <a:prstGeom prst="rect">
            <a:avLst/>
          </a:prstGeom>
          <a:noFill/>
          <a:ln/>
        </p:spPr>
        <p:txBody>
          <a:bodyPr wrap="square" lIns="0" tIns="0" rIns="0" bIns="0" rtlCol="0" anchor="t"/>
          <a:lstStyle/>
          <a:p>
            <a:pPr marL="0" indent="0" algn="l">
              <a:buNone/>
            </a:pPr>
            <a:r>
              <a:rPr lang="en-US" sz="800" b="1" kern="0" spc="11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Text 9"/>
          <p:cNvSpPr/>
          <p:nvPr/>
        </p:nvSpPr>
        <p:spPr>
          <a:xfrm>
            <a:off x="1344168" y="3127248"/>
            <a:ext cx="3931920" cy="182880"/>
          </a:xfrm>
          <a:prstGeom prst="rect">
            <a:avLst/>
          </a:prstGeom>
          <a:noFill/>
          <a:ln/>
        </p:spPr>
        <p:txBody>
          <a:bodyPr wrap="square" lIns="0" tIns="0" rIns="0" bIns="0" rtlCol="0" anchor="t"/>
          <a:lstStyle/>
          <a:p>
            <a:pPr marL="0" indent="0" algn="l">
              <a:buNone/>
            </a:pPr>
            <a:r>
              <a:rPr lang="en-US" sz="800" b="1" kern="0" spc="11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ITEM</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Text 10"/>
          <p:cNvSpPr/>
          <p:nvPr/>
        </p:nvSpPr>
        <p:spPr>
          <a:xfrm>
            <a:off x="5257800" y="3127248"/>
            <a:ext cx="1737360" cy="182880"/>
          </a:xfrm>
          <a:prstGeom prst="rect">
            <a:avLst/>
          </a:prstGeom>
          <a:noFill/>
          <a:ln/>
        </p:spPr>
        <p:txBody>
          <a:bodyPr wrap="square" lIns="0" tIns="0" rIns="0" bIns="0" rtlCol="0" anchor="t"/>
          <a:lstStyle/>
          <a:p>
            <a:pPr marL="0" indent="0" algn="r">
              <a:buNone/>
            </a:pPr>
            <a:r>
              <a:rPr lang="en-US" sz="800" b="1" kern="0" spc="11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NEEDED BY</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4" name="Shape 11"/>
          <p:cNvSpPr/>
          <p:nvPr/>
        </p:nvSpPr>
        <p:spPr>
          <a:xfrm>
            <a:off x="777240" y="3401568"/>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5" name="Text 12"/>
          <p:cNvSpPr/>
          <p:nvPr/>
        </p:nvSpPr>
        <p:spPr>
          <a:xfrm>
            <a:off x="777240" y="3593592"/>
            <a:ext cx="457200" cy="219456"/>
          </a:xfrm>
          <a:prstGeom prst="rect">
            <a:avLst/>
          </a:prstGeom>
          <a:noFill/>
          <a:ln/>
        </p:spPr>
        <p:txBody>
          <a:bodyPr wrap="square" lIns="0" tIns="0" rIns="0" bIns="0" rtlCol="0" anchor="t"/>
          <a:lstStyle/>
          <a:p>
            <a:pPr marL="0" indent="0">
              <a:buNone/>
            </a:pPr>
            <a:r>
              <a:rPr lang="en-US" sz="110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1</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6" name="Text 13"/>
          <p:cNvSpPr/>
          <p:nvPr/>
        </p:nvSpPr>
        <p:spPr>
          <a:xfrm>
            <a:off x="1344168" y="3584448"/>
            <a:ext cx="3547872" cy="530352"/>
          </a:xfrm>
          <a:prstGeom prst="rect">
            <a:avLst/>
          </a:prstGeom>
          <a:noFill/>
          <a:ln/>
        </p:spPr>
        <p:txBody>
          <a:bodyPr wrap="square" lIns="0" tIns="0" rIns="0" bIns="0" rtlCol="0" anchor="t"/>
          <a:lstStyle/>
          <a:p>
            <a:pPr marL="0" indent="0">
              <a:lnSpc>
                <a:spcPts val="1575"/>
              </a:lnSpc>
              <a:buNone/>
            </a:pPr>
            <a:r>
              <a:rPr lang="en-US" sz="1100" dirty="0">
                <a:solidFill>
                  <a:srgbClr val="0C1618"/>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Any research standards or validation requirements from your team</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7" name="Text 14"/>
          <p:cNvSpPr/>
          <p:nvPr/>
        </p:nvSpPr>
        <p:spPr>
          <a:xfrm>
            <a:off x="5257800" y="3602736"/>
            <a:ext cx="1737360" cy="201168"/>
          </a:xfrm>
          <a:prstGeom prst="rect">
            <a:avLst/>
          </a:prstGeom>
          <a:noFill/>
          <a:ln/>
        </p:spPr>
        <p:txBody>
          <a:bodyPr wrap="square" lIns="0" tIns="0" rIns="0" bIns="0" rtlCol="0" anchor="t"/>
          <a:lstStyle/>
          <a:p>
            <a:pPr marL="0" indent="0" algn="r">
              <a:buNone/>
            </a:pPr>
            <a:r>
              <a:rPr lang="en-US" sz="900" b="1" kern="0" spc="10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BEFORE KICKOFF</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8" name="Shape 15"/>
          <p:cNvSpPr/>
          <p:nvPr/>
        </p:nvSpPr>
        <p:spPr>
          <a:xfrm>
            <a:off x="777240" y="4187952"/>
            <a:ext cx="6217920" cy="6401"/>
          </a:xfrm>
          <a:prstGeom prst="rect">
            <a:avLst/>
          </a:prstGeom>
          <a:solidFill>
            <a:srgbClr val="C9C6BA"/>
          </a:solidFill>
          <a:ln/>
        </p:spPr>
        <p:txBody>
          <a:bodyPr/>
          <a:lstStyle/>
          <a:p>
            <a:endParaRPr lang="en-US" sz="200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9" name="Text 16"/>
          <p:cNvSpPr/>
          <p:nvPr/>
        </p:nvSpPr>
        <p:spPr>
          <a:xfrm>
            <a:off x="777240" y="4379976"/>
            <a:ext cx="457200" cy="219456"/>
          </a:xfrm>
          <a:prstGeom prst="rect">
            <a:avLst/>
          </a:prstGeom>
          <a:noFill/>
          <a:ln/>
        </p:spPr>
        <p:txBody>
          <a:bodyPr wrap="square" lIns="0" tIns="0" rIns="0" bIns="0" rtlCol="0" anchor="t"/>
          <a:lstStyle/>
          <a:p>
            <a:pPr marL="0" indent="0">
              <a:buNone/>
            </a:pPr>
            <a:r>
              <a:rPr lang="en-US" sz="110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2</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0" name="Text 17"/>
          <p:cNvSpPr/>
          <p:nvPr/>
        </p:nvSpPr>
        <p:spPr>
          <a:xfrm>
            <a:off x="1344168" y="4370832"/>
            <a:ext cx="3354832" cy="530352"/>
          </a:xfrm>
          <a:prstGeom prst="rect">
            <a:avLst/>
          </a:prstGeom>
          <a:noFill/>
          <a:ln/>
        </p:spPr>
        <p:txBody>
          <a:bodyPr wrap="square" lIns="0" tIns="0" rIns="0" bIns="0" rtlCol="0" anchor="t"/>
          <a:lstStyle/>
          <a:p>
            <a:pPr marL="0" indent="0">
              <a:lnSpc>
                <a:spcPts val="1575"/>
              </a:lnSpc>
              <a:buNone/>
            </a:pPr>
            <a:r>
              <a:rPr lang="en-US" sz="1100" dirty="0">
                <a:solidFill>
                  <a:srgbClr val="0C1618"/>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Countersigned SOW; invoice follows, due 10 days after issue</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1" name="Text 18"/>
          <p:cNvSpPr/>
          <p:nvPr/>
        </p:nvSpPr>
        <p:spPr>
          <a:xfrm>
            <a:off x="5257800" y="4389120"/>
            <a:ext cx="1737360" cy="201168"/>
          </a:xfrm>
          <a:prstGeom prst="rect">
            <a:avLst/>
          </a:prstGeom>
          <a:noFill/>
          <a:ln/>
        </p:spPr>
        <p:txBody>
          <a:bodyPr wrap="square" lIns="0" tIns="0" rIns="0" bIns="0" rtlCol="0" anchor="t"/>
          <a:lstStyle/>
          <a:p>
            <a:pPr marL="0" indent="0" algn="r">
              <a:buNone/>
            </a:pPr>
            <a:r>
              <a:rPr lang="en-US" sz="900" b="1" kern="0" spc="10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KICKOFF</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2" name="Shape 19"/>
          <p:cNvSpPr/>
          <p:nvPr/>
        </p:nvSpPr>
        <p:spPr>
          <a:xfrm>
            <a:off x="777240" y="4974336"/>
            <a:ext cx="6217920" cy="6401"/>
          </a:xfrm>
          <a:prstGeom prst="rect">
            <a:avLst/>
          </a:prstGeom>
          <a:solidFill>
            <a:srgbClr val="C9C6BA"/>
          </a:solidFill>
          <a:ln/>
        </p:spPr>
        <p:txBody>
          <a:bodyPr/>
          <a:lstStyle/>
          <a:p>
            <a:endParaRPr lang="en-US" sz="200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3" name="Text 20"/>
          <p:cNvSpPr/>
          <p:nvPr/>
        </p:nvSpPr>
        <p:spPr>
          <a:xfrm>
            <a:off x="777240" y="5166360"/>
            <a:ext cx="457200" cy="219456"/>
          </a:xfrm>
          <a:prstGeom prst="rect">
            <a:avLst/>
          </a:prstGeom>
          <a:noFill/>
          <a:ln/>
        </p:spPr>
        <p:txBody>
          <a:bodyPr wrap="square" lIns="0" tIns="0" rIns="0" bIns="0" rtlCol="0" anchor="t"/>
          <a:lstStyle/>
          <a:p>
            <a:pPr marL="0" indent="0">
              <a:buNone/>
            </a:pPr>
            <a:r>
              <a:rPr lang="en-US" sz="110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3</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4" name="Text 21"/>
          <p:cNvSpPr/>
          <p:nvPr/>
        </p:nvSpPr>
        <p:spPr>
          <a:xfrm>
            <a:off x="1344168" y="5157216"/>
            <a:ext cx="3735832" cy="310896"/>
          </a:xfrm>
          <a:prstGeom prst="rect">
            <a:avLst/>
          </a:prstGeom>
          <a:noFill/>
          <a:ln/>
        </p:spPr>
        <p:txBody>
          <a:bodyPr wrap="square" lIns="0" tIns="0" rIns="0" bIns="0" rtlCol="0" anchor="t"/>
          <a:lstStyle/>
          <a:p>
            <a:pPr marL="0" indent="0">
              <a:lnSpc>
                <a:spcPts val="1575"/>
              </a:lnSpc>
              <a:buNone/>
            </a:pPr>
            <a:r>
              <a:rPr lang="en-US" sz="1100" dirty="0">
                <a:solidFill>
                  <a:srgbClr val="0C1618"/>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Named POC lead and working group</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5" name="Text 22"/>
          <p:cNvSpPr/>
          <p:nvPr/>
        </p:nvSpPr>
        <p:spPr>
          <a:xfrm>
            <a:off x="5257800" y="5175504"/>
            <a:ext cx="1737360" cy="201168"/>
          </a:xfrm>
          <a:prstGeom prst="rect">
            <a:avLst/>
          </a:prstGeom>
          <a:noFill/>
          <a:ln/>
        </p:spPr>
        <p:txBody>
          <a:bodyPr wrap="square" lIns="0" tIns="0" rIns="0" bIns="0" rtlCol="0" anchor="t"/>
          <a:lstStyle/>
          <a:p>
            <a:pPr marL="0" indent="0" algn="r">
              <a:buNone/>
            </a:pPr>
            <a:r>
              <a:rPr lang="en-US" sz="900" b="1" kern="0" spc="10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KICKOFF</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6" name="Shape 23"/>
          <p:cNvSpPr/>
          <p:nvPr/>
        </p:nvSpPr>
        <p:spPr>
          <a:xfrm>
            <a:off x="777240" y="5559552"/>
            <a:ext cx="6217920" cy="6401"/>
          </a:xfrm>
          <a:prstGeom prst="rect">
            <a:avLst/>
          </a:prstGeom>
          <a:solidFill>
            <a:srgbClr val="C9C6BA"/>
          </a:solidFill>
          <a:ln/>
        </p:spPr>
        <p:txBody>
          <a:bodyPr/>
          <a:lstStyle/>
          <a:p>
            <a:endParaRPr lang="en-US" sz="200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7" name="Text 24"/>
          <p:cNvSpPr/>
          <p:nvPr/>
        </p:nvSpPr>
        <p:spPr>
          <a:xfrm>
            <a:off x="777240" y="5751576"/>
            <a:ext cx="457200" cy="219456"/>
          </a:xfrm>
          <a:prstGeom prst="rect">
            <a:avLst/>
          </a:prstGeom>
          <a:noFill/>
          <a:ln/>
        </p:spPr>
        <p:txBody>
          <a:bodyPr wrap="square" lIns="0" tIns="0" rIns="0" bIns="0" rtlCol="0" anchor="t"/>
          <a:lstStyle/>
          <a:p>
            <a:pPr marL="0" indent="0">
              <a:buNone/>
            </a:pPr>
            <a:r>
              <a:rPr lang="en-US" sz="110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4</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8" name="Text 25"/>
          <p:cNvSpPr/>
          <p:nvPr/>
        </p:nvSpPr>
        <p:spPr>
          <a:xfrm>
            <a:off x="1344168" y="5742432"/>
            <a:ext cx="3735832" cy="310896"/>
          </a:xfrm>
          <a:prstGeom prst="rect">
            <a:avLst/>
          </a:prstGeom>
          <a:noFill/>
          <a:ln/>
        </p:spPr>
        <p:txBody>
          <a:bodyPr wrap="square" lIns="0" tIns="0" rIns="0" bIns="0" rtlCol="0" anchor="t"/>
          <a:lstStyle/>
          <a:p>
            <a:pPr marL="0" indent="0">
              <a:lnSpc>
                <a:spcPts val="1575"/>
              </a:lnSpc>
              <a:buNone/>
            </a:pPr>
            <a:r>
              <a:rPr lang="en-US" sz="1100" dirty="0">
                <a:solidFill>
                  <a:srgbClr val="0C1618"/>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Seat list for dashboard provisioning</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9" name="Text 26"/>
          <p:cNvSpPr/>
          <p:nvPr/>
        </p:nvSpPr>
        <p:spPr>
          <a:xfrm>
            <a:off x="5257800" y="5760720"/>
            <a:ext cx="1737360" cy="201168"/>
          </a:xfrm>
          <a:prstGeom prst="rect">
            <a:avLst/>
          </a:prstGeom>
          <a:noFill/>
          <a:ln/>
        </p:spPr>
        <p:txBody>
          <a:bodyPr wrap="square" lIns="0" tIns="0" rIns="0" bIns="0" rtlCol="0" anchor="t"/>
          <a:lstStyle/>
          <a:p>
            <a:pPr marL="0" indent="0" algn="r">
              <a:buNone/>
            </a:pPr>
            <a:r>
              <a:rPr lang="en-US" sz="900" b="1" kern="0" spc="10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KICKOFF</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0" name="Shape 27"/>
          <p:cNvSpPr/>
          <p:nvPr/>
        </p:nvSpPr>
        <p:spPr>
          <a:xfrm>
            <a:off x="777240" y="6144768"/>
            <a:ext cx="6217920" cy="6401"/>
          </a:xfrm>
          <a:prstGeom prst="rect">
            <a:avLst/>
          </a:prstGeom>
          <a:solidFill>
            <a:srgbClr val="C9C6BA"/>
          </a:solidFill>
          <a:ln/>
        </p:spPr>
        <p:txBody>
          <a:bodyPr/>
          <a:lstStyle/>
          <a:p>
            <a:endParaRPr lang="en-US" sz="200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1" name="Text 28"/>
          <p:cNvSpPr/>
          <p:nvPr/>
        </p:nvSpPr>
        <p:spPr>
          <a:xfrm>
            <a:off x="777240" y="6336792"/>
            <a:ext cx="457200" cy="219456"/>
          </a:xfrm>
          <a:prstGeom prst="rect">
            <a:avLst/>
          </a:prstGeom>
          <a:noFill/>
          <a:ln/>
        </p:spPr>
        <p:txBody>
          <a:bodyPr wrap="square" lIns="0" tIns="0" rIns="0" bIns="0" rtlCol="0" anchor="t"/>
          <a:lstStyle/>
          <a:p>
            <a:pPr marL="0" indent="0">
              <a:buNone/>
            </a:pPr>
            <a:r>
              <a:rPr lang="en-US" sz="110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5</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2" name="Text 29"/>
          <p:cNvSpPr/>
          <p:nvPr/>
        </p:nvSpPr>
        <p:spPr>
          <a:xfrm>
            <a:off x="1344168" y="6327648"/>
            <a:ext cx="3735832" cy="310896"/>
          </a:xfrm>
          <a:prstGeom prst="rect">
            <a:avLst/>
          </a:prstGeom>
          <a:noFill/>
          <a:ln/>
        </p:spPr>
        <p:txBody>
          <a:bodyPr wrap="square" lIns="0" tIns="0" rIns="0" bIns="0" rtlCol="0" anchor="t"/>
          <a:lstStyle/>
          <a:p>
            <a:pPr marL="0" indent="0">
              <a:lnSpc>
                <a:spcPts val="1575"/>
              </a:lnSpc>
              <a:buNone/>
            </a:pPr>
            <a:r>
              <a:rPr lang="en-US" sz="1100" dirty="0">
                <a:solidFill>
                  <a:srgbClr val="0C1618"/>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Priority inputs for the [PROJECT 1 SUBJECT] project</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3" name="Text 30"/>
          <p:cNvSpPr/>
          <p:nvPr/>
        </p:nvSpPr>
        <p:spPr>
          <a:xfrm>
            <a:off x="5257800" y="6345936"/>
            <a:ext cx="1737360" cy="201168"/>
          </a:xfrm>
          <a:prstGeom prst="rect">
            <a:avLst/>
          </a:prstGeom>
          <a:noFill/>
          <a:ln/>
        </p:spPr>
        <p:txBody>
          <a:bodyPr wrap="square" lIns="0" tIns="0" rIns="0" bIns="0" rtlCol="0" anchor="t"/>
          <a:lstStyle/>
          <a:p>
            <a:pPr marL="0" indent="0" algn="r">
              <a:buNone/>
            </a:pPr>
            <a:r>
              <a:rPr lang="en-US" sz="900" b="1" kern="0" spc="10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KICKOFF</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4" name="Shape 31"/>
          <p:cNvSpPr/>
          <p:nvPr/>
        </p:nvSpPr>
        <p:spPr>
          <a:xfrm>
            <a:off x="777240" y="6729984"/>
            <a:ext cx="6217920" cy="6401"/>
          </a:xfrm>
          <a:prstGeom prst="rect">
            <a:avLst/>
          </a:prstGeom>
          <a:solidFill>
            <a:srgbClr val="C9C6BA"/>
          </a:solidFill>
          <a:ln/>
        </p:spPr>
        <p:txBody>
          <a:bodyPr/>
          <a:lstStyle/>
          <a:p>
            <a:endParaRPr lang="en-US" sz="200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5" name="Text 32"/>
          <p:cNvSpPr/>
          <p:nvPr/>
        </p:nvSpPr>
        <p:spPr>
          <a:xfrm>
            <a:off x="777240" y="6922008"/>
            <a:ext cx="457200" cy="219456"/>
          </a:xfrm>
          <a:prstGeom prst="rect">
            <a:avLst/>
          </a:prstGeom>
          <a:noFill/>
          <a:ln/>
        </p:spPr>
        <p:txBody>
          <a:bodyPr wrap="square" lIns="0" tIns="0" rIns="0" bIns="0" rtlCol="0" anchor="t"/>
          <a:lstStyle/>
          <a:p>
            <a:pPr marL="0" indent="0">
              <a:buNone/>
            </a:pPr>
            <a:r>
              <a:rPr lang="en-US" sz="1100" dirty="0">
                <a:solidFill>
                  <a:srgbClr val="888C89"/>
                </a:solidFill>
                <a:latin typeface="Crosswalk Inter Light" panose="02000503000000020004" pitchFamily="34" charset="0"/>
                <a:ea typeface="Crosswalk Inter Light" panose="02000503000000020004" pitchFamily="34" charset="0"/>
                <a:cs typeface="Crosswalk Inter Light" panose="02000503000000020004" pitchFamily="34" charset="0"/>
              </a:rPr>
              <a:t>6</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6" name="Text 33"/>
          <p:cNvSpPr/>
          <p:nvPr/>
        </p:nvSpPr>
        <p:spPr>
          <a:xfrm>
            <a:off x="1344168" y="6912864"/>
            <a:ext cx="3735832" cy="310896"/>
          </a:xfrm>
          <a:prstGeom prst="rect">
            <a:avLst/>
          </a:prstGeom>
          <a:noFill/>
          <a:ln/>
        </p:spPr>
        <p:txBody>
          <a:bodyPr wrap="square" lIns="0" tIns="0" rIns="0" bIns="0" rtlCol="0" anchor="t"/>
          <a:lstStyle/>
          <a:p>
            <a:pPr marL="0" indent="0">
              <a:lnSpc>
                <a:spcPts val="1575"/>
              </a:lnSpc>
              <a:buNone/>
            </a:pPr>
            <a:r>
              <a:rPr lang="en-US" sz="1100" dirty="0">
                <a:solidFill>
                  <a:srgbClr val="0C1618"/>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Direction on Projects 2 and 3</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7" name="Text 34"/>
          <p:cNvSpPr/>
          <p:nvPr/>
        </p:nvSpPr>
        <p:spPr>
          <a:xfrm>
            <a:off x="5257800" y="6931152"/>
            <a:ext cx="1737360" cy="201168"/>
          </a:xfrm>
          <a:prstGeom prst="rect">
            <a:avLst/>
          </a:prstGeom>
          <a:noFill/>
          <a:ln/>
        </p:spPr>
        <p:txBody>
          <a:bodyPr wrap="square" lIns="0" tIns="0" rIns="0" bIns="0" rtlCol="0" anchor="t"/>
          <a:lstStyle/>
          <a:p>
            <a:pPr marL="0" indent="0" algn="r">
              <a:buNone/>
            </a:pPr>
            <a:r>
              <a:rPr lang="en-US" sz="900" b="1" kern="0" spc="10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WEEK 1</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8" name="Shape 35"/>
          <p:cNvSpPr/>
          <p:nvPr/>
        </p:nvSpPr>
        <p:spPr>
          <a:xfrm>
            <a:off x="777240" y="7315200"/>
            <a:ext cx="6217920" cy="6401"/>
          </a:xfrm>
          <a:prstGeom prst="rect">
            <a:avLst/>
          </a:prstGeom>
          <a:solidFill>
            <a:srgbClr val="C9C6BA"/>
          </a:solidFill>
          <a:ln/>
        </p:spPr>
        <p:txBody>
          <a:bodyPr/>
          <a:lstStyle/>
          <a:p>
            <a:endParaRPr lang="en-US" sz="200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9" name="Google Shape;100;p37">
            <a:extLst>
              <a:ext uri="{FF2B5EF4-FFF2-40B4-BE49-F238E27FC236}">
                <a16:creationId xmlns:a16="http://schemas.microsoft.com/office/drawing/2014/main" id="{58B6DEF7-F828-119B-3362-CF29F8CD6E43}"/>
              </a:ext>
            </a:extLst>
          </p:cNvPr>
          <p:cNvSpPr txBox="1">
            <a:spLocks/>
          </p:cNvSpPr>
          <p:nvPr/>
        </p:nvSpPr>
        <p:spPr>
          <a:xfrm>
            <a:off x="6597279" y="9255170"/>
            <a:ext cx="379521" cy="365125"/>
          </a:xfrm>
          <a:prstGeom prst="rect">
            <a:avLst/>
          </a:prstGeom>
          <a:noFill/>
          <a:ln>
            <a:noFill/>
          </a:ln>
        </p:spPr>
        <p:txBody>
          <a:bodyPr spcFirstLastPara="1" wrap="square" lIns="0" tIns="45700" rIns="0" bIns="45700" anchor="ctr" anchorCtr="0">
            <a:noAutofit/>
          </a:bodyPr>
          <a:lstStyle>
            <a:lvl1pPr marL="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a:lvl2pPr marL="457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2pPr>
            <a:lvl3pPr marL="914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3pPr>
            <a:lvl4pPr marL="1371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4pPr>
            <a:lvl5pPr marL="18288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5pPr>
            <a:lvl6pPr marL="22860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6pPr>
            <a:lvl7pPr marL="2743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7pPr>
            <a:lvl8pPr marL="3200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8pPr>
            <a:lvl9pPr marL="3657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9pPr>
          </a:lstStyle>
          <a:p>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fld id="{00000000-1234-1234-1234-123412341234}" type="slidenum">
              <a:rPr kumimoji="0" lang="en-US" sz="700" b="0" i="0" u="none" strike="noStrike" kern="1200" cap="none" spc="0" normalizeH="0" baseline="0" noProof="0" smtClean="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rPr>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t>11</a:t>
            </a:fld>
            <a:endParaRPr kumimoji="0" lang="en-US" sz="900" b="0" i="0" u="none" strike="noStrike" kern="1200" cap="none" spc="0" normalizeH="0" baseline="0" noProof="0" dirty="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E8E2"/>
        </a:solidFill>
        <a:effectLst/>
      </p:bgPr>
    </p:bg>
    <p:spTree>
      <p:nvGrpSpPr>
        <p:cNvPr id="1" name=""/>
        <p:cNvGrpSpPr/>
        <p:nvPr/>
      </p:nvGrpSpPr>
      <p:grpSpPr>
        <a:xfrm>
          <a:off x="0" y="0"/>
          <a:ext cx="0" cy="0"/>
          <a:chOff x="0" y="0"/>
          <a:chExt cx="0" cy="0"/>
        </a:xfrm>
      </p:grpSpPr>
      <p:sp>
        <p:nvSpPr>
          <p:cNvPr id="3" name="Text 1"/>
          <p:cNvSpPr/>
          <p:nvPr/>
        </p:nvSpPr>
        <p:spPr>
          <a:xfrm>
            <a:off x="777240" y="530352"/>
            <a:ext cx="4206240" cy="201168"/>
          </a:xfrm>
          <a:prstGeom prst="rect">
            <a:avLst/>
          </a:prstGeom>
          <a:noFill/>
          <a:ln/>
        </p:spPr>
        <p:txBody>
          <a:bodyPr wrap="square" lIns="0" tIns="0" rIns="0" bIns="0" rtlCol="0" anchor="t"/>
          <a:lstStyle/>
          <a:p>
            <a:r>
              <a:rPr lang="en-US" sz="750" kern="0" spc="150" dirty="0">
                <a:solidFill>
                  <a:srgbClr val="888C89"/>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TIMELINE</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pic>
        <p:nvPicPr>
          <p:cNvPr id="4" name="Image 0" descr="logo_dark.png"/>
          <p:cNvPicPr>
            <a:picLocks noChangeAspect="1"/>
          </p:cNvPicPr>
          <p:nvPr/>
        </p:nvPicPr>
        <p:blipFill>
          <a:blip r:embed="rId4"/>
          <a:stretch>
            <a:fillRect/>
          </a:stretch>
        </p:blipFill>
        <p:spPr>
          <a:xfrm>
            <a:off x="6062472" y="544424"/>
            <a:ext cx="932688" cy="118161"/>
          </a:xfrm>
          <a:prstGeom prst="rect">
            <a:avLst/>
          </a:prstGeom>
        </p:spPr>
      </p:pic>
      <p:sp>
        <p:nvSpPr>
          <p:cNvPr id="5" name="Shape 2"/>
          <p:cNvSpPr/>
          <p:nvPr/>
        </p:nvSpPr>
        <p:spPr>
          <a:xfrm>
            <a:off x="777240" y="868680"/>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p:nvPr/>
        </p:nvSpPr>
        <p:spPr>
          <a:xfrm>
            <a:off x="777240" y="9381744"/>
            <a:ext cx="4114800" cy="182880"/>
          </a:xfrm>
          <a:prstGeom prst="rect">
            <a:avLst/>
          </a:prstGeom>
          <a:noFill/>
          <a:ln/>
        </p:spPr>
        <p:txBody>
          <a:bodyPr wrap="square" lIns="0" tIns="0" rIns="0" bIns="0" rtlCol="0" anchor="t"/>
          <a:lstStyle/>
          <a:p>
            <a:pPr marL="0" indent="0">
              <a:buNone/>
            </a:pPr>
            <a:r>
              <a:rPr lang="en-US" sz="700" kern="0" spc="14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CROSSWALK / BEHAVIORAL INTELLIGENCE ENGINE</a:t>
            </a:r>
            <a:endParaRPr lang="en-US" sz="7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Shape 5"/>
          <p:cNvSpPr/>
          <p:nvPr/>
        </p:nvSpPr>
        <p:spPr>
          <a:xfrm>
            <a:off x="777240" y="1120140"/>
            <a:ext cx="64008" cy="64008"/>
          </a:xfrm>
          <a:prstGeom prst="ellipse">
            <a:avLst/>
          </a:prstGeom>
          <a:solidFill>
            <a:srgbClr val="5E7E12"/>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Text 6"/>
          <p:cNvSpPr/>
          <p:nvPr/>
        </p:nvSpPr>
        <p:spPr>
          <a:xfrm>
            <a:off x="932688" y="1094191"/>
            <a:ext cx="5120640" cy="201168"/>
          </a:xfrm>
          <a:prstGeom prst="rect">
            <a:avLst/>
          </a:prstGeom>
          <a:noFill/>
          <a:ln/>
        </p:spPr>
        <p:txBody>
          <a:bodyPr wrap="square" lIns="0" tIns="0" rIns="0" bIns="0" rtlCol="0" anchor="t"/>
          <a:lstStyle/>
          <a:p>
            <a:pPr marL="0" indent="0">
              <a:buNone/>
            </a:pPr>
            <a:r>
              <a:rPr lang="en-US" sz="850" kern="0" spc="18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SECTION 04</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0" name="Text 7"/>
          <p:cNvSpPr/>
          <p:nvPr/>
        </p:nvSpPr>
        <p:spPr>
          <a:xfrm>
            <a:off x="777240" y="1572768"/>
            <a:ext cx="6217920" cy="626110"/>
          </a:xfrm>
          <a:prstGeom prst="rect">
            <a:avLst/>
          </a:prstGeom>
          <a:noFill/>
          <a:ln/>
        </p:spPr>
        <p:txBody>
          <a:bodyPr wrap="square" lIns="0" tIns="0" rIns="0" bIns="0" rtlCol="0" anchor="t"/>
          <a:lstStyle/>
          <a:p>
            <a:pPr marL="0" indent="0">
              <a:lnSpc>
                <a:spcPts val="4066"/>
              </a:lnSpc>
              <a:buNone/>
            </a:pPr>
            <a:r>
              <a:rPr lang="en-US" sz="38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Timeline.</a:t>
            </a:r>
            <a:endParaRPr lang="en-US" sz="3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Text 8"/>
          <p:cNvSpPr/>
          <p:nvPr/>
        </p:nvSpPr>
        <p:spPr>
          <a:xfrm>
            <a:off x="809244" y="3017520"/>
            <a:ext cx="1225296" cy="182880"/>
          </a:xfrm>
          <a:prstGeom prst="rect">
            <a:avLst/>
          </a:prstGeom>
          <a:noFill/>
          <a:ln/>
        </p:spPr>
        <p:txBody>
          <a:bodyPr wrap="square" lIns="0" tIns="0" rIns="0" bIns="0" rtlCol="0" anchor="t"/>
          <a:lstStyle/>
          <a:p>
            <a:pPr marL="0" indent="0" algn="l">
              <a:buNone/>
            </a:pPr>
            <a:r>
              <a:rPr lang="en-US" sz="800" b="1" kern="0" spc="11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TIMING</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Text 9"/>
          <p:cNvSpPr/>
          <p:nvPr/>
        </p:nvSpPr>
        <p:spPr>
          <a:xfrm>
            <a:off x="2256028" y="3017520"/>
            <a:ext cx="1188720" cy="182880"/>
          </a:xfrm>
          <a:prstGeom prst="rect">
            <a:avLst/>
          </a:prstGeom>
          <a:noFill/>
          <a:ln/>
        </p:spPr>
        <p:txBody>
          <a:bodyPr wrap="square" lIns="0" tIns="0" rIns="0" bIns="0" rtlCol="0" anchor="t"/>
          <a:lstStyle/>
          <a:p>
            <a:pPr marL="0" indent="0" algn="l">
              <a:buNone/>
            </a:pPr>
            <a:r>
              <a:rPr lang="en-US" sz="800" b="1" kern="0" spc="11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PHASE</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Text 10"/>
          <p:cNvSpPr/>
          <p:nvPr/>
        </p:nvSpPr>
        <p:spPr>
          <a:xfrm>
            <a:off x="3611880" y="3017520"/>
            <a:ext cx="3383280" cy="182880"/>
          </a:xfrm>
          <a:prstGeom prst="rect">
            <a:avLst/>
          </a:prstGeom>
          <a:noFill/>
          <a:ln/>
        </p:spPr>
        <p:txBody>
          <a:bodyPr wrap="square" lIns="0" tIns="0" rIns="0" bIns="0" rtlCol="0" anchor="t"/>
          <a:lstStyle/>
          <a:p>
            <a:pPr marL="0" indent="0" algn="l">
              <a:buNone/>
            </a:pPr>
            <a:r>
              <a:rPr lang="en-US" sz="800" b="1" kern="0" spc="11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ACTIVITY</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4" name="Shape 11"/>
          <p:cNvSpPr/>
          <p:nvPr/>
        </p:nvSpPr>
        <p:spPr>
          <a:xfrm>
            <a:off x="777240" y="3291840"/>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5" name="Shape 12"/>
          <p:cNvSpPr/>
          <p:nvPr/>
        </p:nvSpPr>
        <p:spPr>
          <a:xfrm>
            <a:off x="2020961" y="3560757"/>
            <a:ext cx="6401" cy="3749040"/>
          </a:xfrm>
          <a:prstGeom prst="rect">
            <a:avLst/>
          </a:prstGeom>
          <a:solidFill>
            <a:srgbClr val="C9C6BA"/>
          </a:solidFill>
          <a:ln/>
        </p:spPr>
        <p:txBody>
          <a:bodyPr/>
          <a:lstStyle/>
          <a:p>
            <a:endParaRPr lang="en-US" sz="200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6" name="Shape 13"/>
          <p:cNvSpPr/>
          <p:nvPr/>
        </p:nvSpPr>
        <p:spPr>
          <a:xfrm>
            <a:off x="1979813" y="3542469"/>
            <a:ext cx="96012" cy="96012"/>
          </a:xfrm>
          <a:prstGeom prst="ellipse">
            <a:avLst/>
          </a:prstGeom>
          <a:solidFill>
            <a:srgbClr val="E1E0D7"/>
          </a:solidFill>
          <a:ln w="15875">
            <a:solidFill>
              <a:srgbClr val="C9C6BA"/>
            </a:solidFill>
            <a:prstDash val="solid"/>
          </a:ln>
        </p:spPr>
        <p:txBody>
          <a:bodyPr/>
          <a:lstStyle/>
          <a:p>
            <a:endParaRPr lang="en-US" sz="200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7" name="Text 14"/>
          <p:cNvSpPr/>
          <p:nvPr/>
        </p:nvSpPr>
        <p:spPr>
          <a:xfrm>
            <a:off x="775591" y="3529584"/>
            <a:ext cx="1021153" cy="201168"/>
          </a:xfrm>
          <a:prstGeom prst="rect">
            <a:avLst/>
          </a:prstGeom>
          <a:noFill/>
          <a:ln/>
        </p:spPr>
        <p:txBody>
          <a:bodyPr wrap="square" lIns="0" tIns="0" rIns="0" bIns="0" rtlCol="0" anchor="t"/>
          <a:lstStyle/>
          <a:p>
            <a:pPr marL="0" indent="0" algn="r">
              <a:buNone/>
            </a:pPr>
            <a:r>
              <a:rPr lang="en-US" sz="900" kern="0" spc="10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WEEK 0</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8" name="Text 15"/>
          <p:cNvSpPr/>
          <p:nvPr/>
        </p:nvSpPr>
        <p:spPr>
          <a:xfrm>
            <a:off x="2256028" y="3493008"/>
            <a:ext cx="1188720" cy="256032"/>
          </a:xfrm>
          <a:prstGeom prst="rect">
            <a:avLst/>
          </a:prstGeom>
          <a:noFill/>
          <a:ln/>
        </p:spPr>
        <p:txBody>
          <a:bodyPr wrap="square" lIns="0" tIns="0" rIns="0" bIns="0" rtlCol="0" anchor="t"/>
          <a:lstStyle/>
          <a:p>
            <a:pPr marL="0" indent="0">
              <a:buNone/>
            </a:pPr>
            <a:r>
              <a:rPr lang="en-US" sz="115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Pre-kickoff</a:t>
            </a:r>
            <a:endParaRPr lang="en-US" sz="11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9" name="Text 16"/>
          <p:cNvSpPr/>
          <p:nvPr/>
        </p:nvSpPr>
        <p:spPr>
          <a:xfrm>
            <a:off x="3611880" y="3493008"/>
            <a:ext cx="3383280" cy="548640"/>
          </a:xfrm>
          <a:prstGeom prst="rect">
            <a:avLst/>
          </a:prstGeom>
          <a:noFill/>
          <a:ln/>
        </p:spPr>
        <p:txBody>
          <a:bodyPr wrap="square" lIns="0" tIns="0" rIns="0" bIns="0" rtlCol="0" anchor="t"/>
          <a:lstStyle/>
          <a:p>
            <a:pPr marL="0" indent="0">
              <a:lnSpc>
                <a:spcPts val="1575"/>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SOW executed; invoice issued; access set up</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0" name="Shape 17"/>
          <p:cNvSpPr/>
          <p:nvPr/>
        </p:nvSpPr>
        <p:spPr>
          <a:xfrm>
            <a:off x="777240" y="4041648"/>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1" name="Shape 18"/>
          <p:cNvSpPr/>
          <p:nvPr/>
        </p:nvSpPr>
        <p:spPr>
          <a:xfrm>
            <a:off x="1979813" y="4292277"/>
            <a:ext cx="96012" cy="96012"/>
          </a:xfrm>
          <a:prstGeom prst="ellipse">
            <a:avLst/>
          </a:prstGeom>
          <a:solidFill>
            <a:srgbClr val="E1E0D7"/>
          </a:solidFill>
          <a:ln w="15875">
            <a:solidFill>
              <a:srgbClr val="C9C6BA"/>
            </a:solidFill>
            <a:prstDash val="solid"/>
          </a:ln>
        </p:spPr>
        <p:txBody>
          <a:bodyPr/>
          <a:lstStyle/>
          <a:p>
            <a:endParaRPr lang="en-US" sz="200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2" name="Text 19"/>
          <p:cNvSpPr/>
          <p:nvPr/>
        </p:nvSpPr>
        <p:spPr>
          <a:xfrm>
            <a:off x="775591" y="4279392"/>
            <a:ext cx="1021153" cy="201168"/>
          </a:xfrm>
          <a:prstGeom prst="rect">
            <a:avLst/>
          </a:prstGeom>
          <a:noFill/>
          <a:ln/>
        </p:spPr>
        <p:txBody>
          <a:bodyPr wrap="square" lIns="0" tIns="0" rIns="0" bIns="0" rtlCol="0" anchor="t"/>
          <a:lstStyle/>
          <a:p>
            <a:pPr marL="0" indent="0" algn="r">
              <a:buNone/>
            </a:pPr>
            <a:r>
              <a:rPr lang="en-US" sz="900" kern="0" spc="10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DAY 1</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3" name="Text 20"/>
          <p:cNvSpPr/>
          <p:nvPr/>
        </p:nvSpPr>
        <p:spPr>
          <a:xfrm>
            <a:off x="2256028" y="4242816"/>
            <a:ext cx="1188720" cy="256032"/>
          </a:xfrm>
          <a:prstGeom prst="rect">
            <a:avLst/>
          </a:prstGeom>
          <a:noFill/>
          <a:ln/>
        </p:spPr>
        <p:txBody>
          <a:bodyPr wrap="square" lIns="0" tIns="0" rIns="0" bIns="0" rtlCol="0" anchor="t"/>
          <a:lstStyle/>
          <a:p>
            <a:pPr marL="0" indent="0">
              <a:buNone/>
            </a:pPr>
            <a:r>
              <a:rPr lang="en-US" sz="115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Kickoff</a:t>
            </a:r>
            <a:endParaRPr lang="en-US" sz="11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4" name="Text 21"/>
          <p:cNvSpPr/>
          <p:nvPr/>
        </p:nvSpPr>
        <p:spPr>
          <a:xfrm>
            <a:off x="3611880" y="4242816"/>
            <a:ext cx="3383280" cy="548640"/>
          </a:xfrm>
          <a:prstGeom prst="rect">
            <a:avLst/>
          </a:prstGeom>
          <a:noFill/>
          <a:ln/>
        </p:spPr>
        <p:txBody>
          <a:bodyPr wrap="square" lIns="0" tIns="0" rIns="0" bIns="0" rtlCol="0" anchor="t"/>
          <a:lstStyle/>
          <a:p>
            <a:pPr marL="0" indent="0">
              <a:lnSpc>
                <a:spcPts val="1575"/>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Onboarding; dashboard and Prometheus live; [PROJECT 1 SUBJECT] project fielded</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5" name="Shape 22"/>
          <p:cNvSpPr/>
          <p:nvPr/>
        </p:nvSpPr>
        <p:spPr>
          <a:xfrm>
            <a:off x="777240" y="4791456"/>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6" name="Shape 23"/>
          <p:cNvSpPr/>
          <p:nvPr/>
        </p:nvSpPr>
        <p:spPr>
          <a:xfrm>
            <a:off x="1979813" y="5042085"/>
            <a:ext cx="96012" cy="96012"/>
          </a:xfrm>
          <a:prstGeom prst="ellipse">
            <a:avLst/>
          </a:prstGeom>
          <a:solidFill>
            <a:srgbClr val="E1E0D7"/>
          </a:solidFill>
          <a:ln w="15875">
            <a:solidFill>
              <a:srgbClr val="C9C6BA"/>
            </a:solidFill>
            <a:prstDash val="solid"/>
          </a:ln>
        </p:spPr>
        <p:txBody>
          <a:bodyPr/>
          <a:lstStyle/>
          <a:p>
            <a:endParaRPr lang="en-US" sz="200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7" name="Text 24"/>
          <p:cNvSpPr/>
          <p:nvPr/>
        </p:nvSpPr>
        <p:spPr>
          <a:xfrm>
            <a:off x="775591" y="5029200"/>
            <a:ext cx="1021153" cy="201168"/>
          </a:xfrm>
          <a:prstGeom prst="rect">
            <a:avLst/>
          </a:prstGeom>
          <a:noFill/>
          <a:ln/>
        </p:spPr>
        <p:txBody>
          <a:bodyPr wrap="square" lIns="0" tIns="0" rIns="0" bIns="0" rtlCol="0" anchor="t"/>
          <a:lstStyle/>
          <a:p>
            <a:pPr marL="0" indent="0" algn="r">
              <a:buNone/>
            </a:pPr>
            <a:r>
              <a:rPr lang="en-US" sz="900" kern="0" spc="10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DAY 2</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8" name="Text 25"/>
          <p:cNvSpPr/>
          <p:nvPr/>
        </p:nvSpPr>
        <p:spPr>
          <a:xfrm>
            <a:off x="2256028" y="4992624"/>
            <a:ext cx="1188720" cy="256032"/>
          </a:xfrm>
          <a:prstGeom prst="rect">
            <a:avLst/>
          </a:prstGeom>
          <a:noFill/>
          <a:ln/>
        </p:spPr>
        <p:txBody>
          <a:bodyPr wrap="square" lIns="0" tIns="0" rIns="0" bIns="0" rtlCol="0" anchor="t"/>
          <a:lstStyle/>
          <a:p>
            <a:pPr marL="0" indent="0">
              <a:buNone/>
            </a:pPr>
            <a:r>
              <a:rPr lang="en-US" sz="115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First delivery</a:t>
            </a:r>
            <a:endParaRPr lang="en-US" sz="11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9" name="Text 26"/>
          <p:cNvSpPr/>
          <p:nvPr/>
        </p:nvSpPr>
        <p:spPr>
          <a:xfrm>
            <a:off x="3611880" y="4992624"/>
            <a:ext cx="3383280" cy="548640"/>
          </a:xfrm>
          <a:prstGeom prst="rect">
            <a:avLst/>
          </a:prstGeom>
          <a:noFill/>
          <a:ln/>
        </p:spPr>
        <p:txBody>
          <a:bodyPr wrap="square" lIns="0" tIns="0" rIns="0" bIns="0" rtlCol="0" anchor="t"/>
          <a:lstStyle/>
          <a:p>
            <a:pPr marL="0" indent="0">
              <a:lnSpc>
                <a:spcPts val="1575"/>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Version 1 of the [PROJECT 1 SUBJECT] deck delivered by end of day</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0" name="Shape 27"/>
          <p:cNvSpPr/>
          <p:nvPr/>
        </p:nvSpPr>
        <p:spPr>
          <a:xfrm>
            <a:off x="777240" y="5541264"/>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1" name="Shape 28"/>
          <p:cNvSpPr/>
          <p:nvPr/>
        </p:nvSpPr>
        <p:spPr>
          <a:xfrm>
            <a:off x="1979813" y="5791893"/>
            <a:ext cx="96012" cy="96012"/>
          </a:xfrm>
          <a:prstGeom prst="ellipse">
            <a:avLst/>
          </a:prstGeom>
          <a:solidFill>
            <a:srgbClr val="E1E0D7"/>
          </a:solidFill>
          <a:ln w="15875">
            <a:solidFill>
              <a:srgbClr val="C9C6BA"/>
            </a:solidFill>
            <a:prstDash val="solid"/>
          </a:ln>
        </p:spPr>
        <p:txBody>
          <a:bodyPr/>
          <a:lstStyle/>
          <a:p>
            <a:endParaRPr lang="en-US" sz="200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2" name="Text 29"/>
          <p:cNvSpPr/>
          <p:nvPr/>
        </p:nvSpPr>
        <p:spPr>
          <a:xfrm>
            <a:off x="775591" y="5779008"/>
            <a:ext cx="1021153" cy="201168"/>
          </a:xfrm>
          <a:prstGeom prst="rect">
            <a:avLst/>
          </a:prstGeom>
          <a:noFill/>
          <a:ln/>
        </p:spPr>
        <p:txBody>
          <a:bodyPr wrap="square" lIns="0" tIns="0" rIns="0" bIns="0" rtlCol="0" anchor="t"/>
          <a:lstStyle/>
          <a:p>
            <a:pPr marL="0" indent="0" algn="r">
              <a:buNone/>
            </a:pPr>
            <a:r>
              <a:rPr lang="en-US" sz="900" kern="0" spc="10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DAYS 3 TO 15</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3" name="Text 30"/>
          <p:cNvSpPr/>
          <p:nvPr/>
        </p:nvSpPr>
        <p:spPr>
          <a:xfrm>
            <a:off x="2256028" y="5742432"/>
            <a:ext cx="1188720" cy="256032"/>
          </a:xfrm>
          <a:prstGeom prst="rect">
            <a:avLst/>
          </a:prstGeom>
          <a:noFill/>
          <a:ln/>
        </p:spPr>
        <p:txBody>
          <a:bodyPr wrap="square" lIns="0" tIns="0" rIns="0" bIns="0" rtlCol="0" anchor="t"/>
          <a:lstStyle/>
          <a:p>
            <a:pPr marL="0" indent="0">
              <a:buNone/>
            </a:pPr>
            <a:r>
              <a:rPr lang="en-US" sz="115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Build and refine</a:t>
            </a:r>
            <a:endParaRPr lang="en-US" sz="11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4" name="Text 31"/>
          <p:cNvSpPr/>
          <p:nvPr/>
        </p:nvSpPr>
        <p:spPr>
          <a:xfrm>
            <a:off x="3611880" y="5742432"/>
            <a:ext cx="3383280" cy="548640"/>
          </a:xfrm>
          <a:prstGeom prst="rect">
            <a:avLst/>
          </a:prstGeom>
          <a:noFill/>
          <a:ln/>
        </p:spPr>
        <p:txBody>
          <a:bodyPr wrap="square" lIns="0" tIns="0" rIns="0" bIns="0" rtlCol="0" anchor="t"/>
          <a:lstStyle/>
          <a:p>
            <a:pPr marL="0" indent="0">
              <a:lnSpc>
                <a:spcPts val="1575"/>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[PROJECT 1 SUBJECT] deck refined; Projects 2 and 3 scoped and fielded; mid-point review</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5" name="Shape 32"/>
          <p:cNvSpPr/>
          <p:nvPr/>
        </p:nvSpPr>
        <p:spPr>
          <a:xfrm>
            <a:off x="777240" y="6291072"/>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6" name="Shape 33"/>
          <p:cNvSpPr/>
          <p:nvPr/>
        </p:nvSpPr>
        <p:spPr>
          <a:xfrm>
            <a:off x="1979813" y="6541701"/>
            <a:ext cx="96012" cy="96012"/>
          </a:xfrm>
          <a:prstGeom prst="ellipse">
            <a:avLst/>
          </a:prstGeom>
          <a:solidFill>
            <a:srgbClr val="E1E0D7"/>
          </a:solidFill>
          <a:ln w="15875">
            <a:solidFill>
              <a:srgbClr val="C9C6BA"/>
            </a:solidFill>
            <a:prstDash val="solid"/>
          </a:ln>
        </p:spPr>
        <p:txBody>
          <a:bodyPr/>
          <a:lstStyle/>
          <a:p>
            <a:endParaRPr lang="en-US" sz="200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7" name="Text 34"/>
          <p:cNvSpPr/>
          <p:nvPr/>
        </p:nvSpPr>
        <p:spPr>
          <a:xfrm>
            <a:off x="775591" y="6528816"/>
            <a:ext cx="1021153" cy="201168"/>
          </a:xfrm>
          <a:prstGeom prst="rect">
            <a:avLst/>
          </a:prstGeom>
          <a:noFill/>
          <a:ln/>
        </p:spPr>
        <p:txBody>
          <a:bodyPr wrap="square" lIns="0" tIns="0" rIns="0" bIns="0" rtlCol="0" anchor="t"/>
          <a:lstStyle/>
          <a:p>
            <a:pPr marL="0" indent="0" algn="r">
              <a:buNone/>
            </a:pPr>
            <a:r>
              <a:rPr lang="en-US" sz="900" kern="0" spc="10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DAYS 16 TO 25</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8" name="Text 35"/>
          <p:cNvSpPr/>
          <p:nvPr/>
        </p:nvSpPr>
        <p:spPr>
          <a:xfrm>
            <a:off x="2256028" y="6492240"/>
            <a:ext cx="1188720" cy="256032"/>
          </a:xfrm>
          <a:prstGeom prst="rect">
            <a:avLst/>
          </a:prstGeom>
          <a:noFill/>
          <a:ln/>
        </p:spPr>
        <p:txBody>
          <a:bodyPr wrap="square" lIns="0" tIns="0" rIns="0" bIns="0" rtlCol="0" anchor="t"/>
          <a:lstStyle/>
          <a:p>
            <a:pPr marL="0" indent="0">
              <a:buNone/>
            </a:pPr>
            <a:r>
              <a:rPr lang="en-US" sz="115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Finalize</a:t>
            </a:r>
            <a:endParaRPr lang="en-US" sz="11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9" name="Text 36"/>
          <p:cNvSpPr/>
          <p:nvPr/>
        </p:nvSpPr>
        <p:spPr>
          <a:xfrm>
            <a:off x="3611880" y="6492240"/>
            <a:ext cx="3383280" cy="548640"/>
          </a:xfrm>
          <a:prstGeom prst="rect">
            <a:avLst/>
          </a:prstGeom>
          <a:noFill/>
          <a:ln/>
        </p:spPr>
        <p:txBody>
          <a:bodyPr wrap="square" lIns="0" tIns="0" rIns="0" bIns="0" rtlCol="0" anchor="t"/>
          <a:lstStyle/>
          <a:p>
            <a:pPr marL="0" indent="0">
              <a:lnSpc>
                <a:spcPts val="1575"/>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All three projects finalized; methodology written up</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0" name="Shape 37"/>
          <p:cNvSpPr/>
          <p:nvPr/>
        </p:nvSpPr>
        <p:spPr>
          <a:xfrm>
            <a:off x="777240" y="7040880"/>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1" name="Shape 38"/>
          <p:cNvSpPr/>
          <p:nvPr/>
        </p:nvSpPr>
        <p:spPr>
          <a:xfrm>
            <a:off x="1979813" y="7291509"/>
            <a:ext cx="96012" cy="96012"/>
          </a:xfrm>
          <a:prstGeom prst="ellipse">
            <a:avLst/>
          </a:prstGeom>
          <a:solidFill>
            <a:srgbClr val="5E7E12"/>
          </a:solidFill>
          <a:ln w="15875">
            <a:solidFill>
              <a:srgbClr val="5E7E12"/>
            </a:solidFill>
            <a:prstDash val="solid"/>
          </a:ln>
        </p:spPr>
        <p:txBody>
          <a:bodyPr/>
          <a:lstStyle/>
          <a:p>
            <a:endParaRPr lang="en-US" sz="200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2" name="Text 39"/>
          <p:cNvSpPr/>
          <p:nvPr/>
        </p:nvSpPr>
        <p:spPr>
          <a:xfrm>
            <a:off x="775591" y="7278624"/>
            <a:ext cx="1021153" cy="201168"/>
          </a:xfrm>
          <a:prstGeom prst="rect">
            <a:avLst/>
          </a:prstGeom>
          <a:noFill/>
          <a:ln/>
        </p:spPr>
        <p:txBody>
          <a:bodyPr wrap="square" lIns="0" tIns="0" rIns="0" bIns="0" rtlCol="0" anchor="t"/>
          <a:lstStyle/>
          <a:p>
            <a:pPr marL="0" indent="0" algn="r">
              <a:buNone/>
            </a:pPr>
            <a:r>
              <a:rPr lang="en-US" sz="900" kern="0" spc="100" dirty="0">
                <a:solidFill>
                  <a:srgbClr val="5E7E12"/>
                </a:solidFill>
                <a:latin typeface="Crosswalk Inter Medium" panose="02000503000000020004" pitchFamily="34" charset="0"/>
                <a:ea typeface="Crosswalk Inter Medium" panose="02000503000000020004" pitchFamily="34" charset="0"/>
                <a:cs typeface="Crosswalk Inter Medium" panose="02000503000000020004" pitchFamily="34" charset="0"/>
              </a:rPr>
              <a:t>DAY 30</a:t>
            </a:r>
            <a:endParaRPr lang="en-US" sz="9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3" name="Text 40"/>
          <p:cNvSpPr/>
          <p:nvPr/>
        </p:nvSpPr>
        <p:spPr>
          <a:xfrm>
            <a:off x="2256028" y="7242048"/>
            <a:ext cx="1188720" cy="256032"/>
          </a:xfrm>
          <a:prstGeom prst="rect">
            <a:avLst/>
          </a:prstGeom>
          <a:noFill/>
          <a:ln/>
        </p:spPr>
        <p:txBody>
          <a:bodyPr wrap="square" lIns="0" tIns="0" rIns="0" bIns="0" rtlCol="0" anchor="t"/>
          <a:lstStyle/>
          <a:p>
            <a:pPr marL="0" indent="0">
              <a:buNone/>
            </a:pPr>
            <a:r>
              <a:rPr lang="en-US" sz="115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Readout</a:t>
            </a:r>
            <a:endParaRPr lang="en-US" sz="11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4" name="Text 41"/>
          <p:cNvSpPr/>
          <p:nvPr/>
        </p:nvSpPr>
        <p:spPr>
          <a:xfrm>
            <a:off x="3611879" y="7242048"/>
            <a:ext cx="3383281" cy="548640"/>
          </a:xfrm>
          <a:prstGeom prst="rect">
            <a:avLst/>
          </a:prstGeom>
          <a:noFill/>
          <a:ln/>
        </p:spPr>
        <p:txBody>
          <a:bodyPr wrap="square" lIns="0" tIns="0" rIns="0" bIns="0" rtlCol="0" anchor="t"/>
          <a:lstStyle/>
          <a:p>
            <a:pPr marL="0" indent="0">
              <a:lnSpc>
                <a:spcPts val="1575"/>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Readout to the working group and stakeholders</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5" name="Shape 42"/>
          <p:cNvSpPr/>
          <p:nvPr/>
        </p:nvSpPr>
        <p:spPr>
          <a:xfrm>
            <a:off x="777240" y="7790688"/>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6" name="Google Shape;100;p37">
            <a:extLst>
              <a:ext uri="{FF2B5EF4-FFF2-40B4-BE49-F238E27FC236}">
                <a16:creationId xmlns:a16="http://schemas.microsoft.com/office/drawing/2014/main" id="{3B183390-8B63-C4E0-43D2-E7FACB76386A}"/>
              </a:ext>
            </a:extLst>
          </p:cNvPr>
          <p:cNvSpPr txBox="1">
            <a:spLocks/>
          </p:cNvSpPr>
          <p:nvPr/>
        </p:nvSpPr>
        <p:spPr>
          <a:xfrm>
            <a:off x="6597279" y="9255170"/>
            <a:ext cx="379521" cy="365125"/>
          </a:xfrm>
          <a:prstGeom prst="rect">
            <a:avLst/>
          </a:prstGeom>
          <a:noFill/>
          <a:ln>
            <a:noFill/>
          </a:ln>
        </p:spPr>
        <p:txBody>
          <a:bodyPr spcFirstLastPara="1" wrap="square" lIns="0" tIns="45700" rIns="0" bIns="45700" anchor="ctr" anchorCtr="0">
            <a:noAutofit/>
          </a:bodyPr>
          <a:lstStyle>
            <a:lvl1pPr marL="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a:lvl2pPr marL="457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2pPr>
            <a:lvl3pPr marL="914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3pPr>
            <a:lvl4pPr marL="1371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4pPr>
            <a:lvl5pPr marL="18288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5pPr>
            <a:lvl6pPr marL="22860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6pPr>
            <a:lvl7pPr marL="2743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7pPr>
            <a:lvl8pPr marL="3200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8pPr>
            <a:lvl9pPr marL="3657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9pPr>
          </a:lstStyle>
          <a:p>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fld id="{00000000-1234-1234-1234-123412341234}" type="slidenum">
              <a:rPr kumimoji="0" lang="en-US" sz="700" b="0" i="0" u="none" strike="noStrike" kern="1200" cap="none" spc="0" normalizeH="0" baseline="0" noProof="0" smtClean="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rPr>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t>12</a:t>
            </a:fld>
            <a:endParaRPr kumimoji="0" lang="en-US" sz="900" b="0" i="0" u="none" strike="noStrike" kern="1200" cap="none" spc="0" normalizeH="0" baseline="0" noProof="0" dirty="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617"/>
        </a:solidFill>
        <a:effectLst/>
      </p:bgPr>
    </p:bg>
    <p:spTree>
      <p:nvGrpSpPr>
        <p:cNvPr id="1" name=""/>
        <p:cNvGrpSpPr/>
        <p:nvPr/>
      </p:nvGrpSpPr>
      <p:grpSpPr>
        <a:xfrm>
          <a:off x="0" y="0"/>
          <a:ext cx="0" cy="0"/>
          <a:chOff x="0" y="0"/>
          <a:chExt cx="0" cy="0"/>
        </a:xfrm>
      </p:grpSpPr>
      <p:sp>
        <p:nvSpPr>
          <p:cNvPr id="3" name="Text 1"/>
          <p:cNvSpPr/>
          <p:nvPr/>
        </p:nvSpPr>
        <p:spPr>
          <a:xfrm>
            <a:off x="777240" y="530352"/>
            <a:ext cx="4206240" cy="201168"/>
          </a:xfrm>
          <a:prstGeom prst="rect">
            <a:avLst/>
          </a:prstGeom>
          <a:noFill/>
          <a:ln/>
        </p:spPr>
        <p:txBody>
          <a:bodyPr wrap="square" lIns="0" tIns="0" rIns="0" bIns="0" rtlCol="0" anchor="t"/>
          <a:lstStyle/>
          <a:p>
            <a:r>
              <a:rPr lang="en-US" sz="750" kern="0" spc="150" dirty="0">
                <a:solidFill>
                  <a:srgbClr val="5C6466"/>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COMMERCIALS</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pic>
        <p:nvPicPr>
          <p:cNvPr id="4" name="Image 0" descr="logo_light.png"/>
          <p:cNvPicPr>
            <a:picLocks noChangeAspect="1"/>
          </p:cNvPicPr>
          <p:nvPr/>
        </p:nvPicPr>
        <p:blipFill>
          <a:blip r:embed="rId4"/>
          <a:stretch>
            <a:fillRect/>
          </a:stretch>
        </p:blipFill>
        <p:spPr>
          <a:xfrm>
            <a:off x="6062472" y="544424"/>
            <a:ext cx="932688" cy="118161"/>
          </a:xfrm>
          <a:prstGeom prst="rect">
            <a:avLst/>
          </a:prstGeom>
        </p:spPr>
      </p:pic>
      <p:sp>
        <p:nvSpPr>
          <p:cNvPr id="5" name="Shape 2"/>
          <p:cNvSpPr/>
          <p:nvPr/>
        </p:nvSpPr>
        <p:spPr>
          <a:xfrm>
            <a:off x="777240" y="868680"/>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p:nvPr/>
        </p:nvSpPr>
        <p:spPr>
          <a:xfrm>
            <a:off x="777240" y="9381744"/>
            <a:ext cx="4114800" cy="182880"/>
          </a:xfrm>
          <a:prstGeom prst="rect">
            <a:avLst/>
          </a:prstGeom>
          <a:noFill/>
          <a:ln/>
        </p:spPr>
        <p:txBody>
          <a:bodyPr wrap="square" lIns="0" tIns="0" rIns="0" bIns="0" rtlCol="0" anchor="t"/>
          <a:lstStyle/>
          <a:p>
            <a:pPr marL="0" indent="0">
              <a:buNone/>
            </a:pPr>
            <a:r>
              <a:rPr lang="en-US" sz="700" kern="0" spc="14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CROSSWALK / BEHAVIORAL INTELLIGENCE ENGINE</a:t>
            </a:r>
            <a:endParaRPr lang="en-US" sz="7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Shape 5"/>
          <p:cNvSpPr/>
          <p:nvPr/>
        </p:nvSpPr>
        <p:spPr>
          <a:xfrm>
            <a:off x="777240" y="1120140"/>
            <a:ext cx="64008" cy="64008"/>
          </a:xfrm>
          <a:prstGeom prst="ellipse">
            <a:avLst/>
          </a:prstGeom>
          <a:solidFill>
            <a:srgbClr val="C7F23E"/>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Text 6"/>
          <p:cNvSpPr/>
          <p:nvPr/>
        </p:nvSpPr>
        <p:spPr>
          <a:xfrm>
            <a:off x="932688" y="1094894"/>
            <a:ext cx="5120640" cy="201168"/>
          </a:xfrm>
          <a:prstGeom prst="rect">
            <a:avLst/>
          </a:prstGeom>
          <a:noFill/>
          <a:ln/>
        </p:spPr>
        <p:txBody>
          <a:bodyPr wrap="square" lIns="0" tIns="0" rIns="0" bIns="0" rtlCol="0" anchor="t"/>
          <a:lstStyle/>
          <a:p>
            <a:pPr marL="0" indent="0">
              <a:buNone/>
            </a:pPr>
            <a:r>
              <a:rPr lang="en-US" sz="850" kern="0" spc="180" dirty="0">
                <a:solidFill>
                  <a:srgbClr val="5C6466"/>
                </a:solidFill>
                <a:latin typeface="Crosswalk Inter Medium" panose="02000503000000020004" pitchFamily="34" charset="0"/>
                <a:ea typeface="Crosswalk Inter Medium" panose="02000503000000020004" pitchFamily="34" charset="0"/>
                <a:cs typeface="Crosswalk Inter Medium" panose="02000503000000020004" pitchFamily="34" charset="0"/>
              </a:rPr>
              <a:t>SECTION 05</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0" name="Text 7"/>
          <p:cNvSpPr/>
          <p:nvPr/>
        </p:nvSpPr>
        <p:spPr>
          <a:xfrm>
            <a:off x="777240" y="1572768"/>
            <a:ext cx="6217920" cy="626110"/>
          </a:xfrm>
          <a:prstGeom prst="rect">
            <a:avLst/>
          </a:prstGeom>
          <a:noFill/>
          <a:ln/>
        </p:spPr>
        <p:txBody>
          <a:bodyPr wrap="square" lIns="0" tIns="0" rIns="0" bIns="0" rtlCol="0" anchor="t"/>
          <a:lstStyle/>
          <a:p>
            <a:pPr marL="0" indent="0">
              <a:lnSpc>
                <a:spcPts val="4066"/>
              </a:lnSpc>
              <a:buNone/>
            </a:pPr>
            <a:r>
              <a:rPr lang="en-US" sz="3800" b="1" kern="0" spc="-3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Commercials.</a:t>
            </a:r>
            <a:endParaRPr lang="en-US" sz="3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Text 8"/>
          <p:cNvSpPr/>
          <p:nvPr/>
        </p:nvSpPr>
        <p:spPr>
          <a:xfrm>
            <a:off x="777240" y="3611880"/>
            <a:ext cx="5852160" cy="1234440"/>
          </a:xfrm>
          <a:prstGeom prst="rect">
            <a:avLst/>
          </a:prstGeom>
          <a:noFill/>
          <a:ln/>
        </p:spPr>
        <p:txBody>
          <a:bodyPr wrap="square" lIns="0" tIns="0" rIns="0" bIns="0" rtlCol="0" anchor="t"/>
          <a:lstStyle/>
          <a:p>
            <a:pPr marL="0" indent="0">
              <a:buNone/>
            </a:pPr>
            <a:r>
              <a:rPr lang="en-US" sz="7800" b="1" kern="0" spc="-240" dirty="0">
                <a:solidFill>
                  <a:srgbClr val="C7F23E"/>
                </a:solidFill>
                <a:latin typeface="Crosswalk Inter" panose="02000503000000020004" pitchFamily="34" charset="0"/>
                <a:ea typeface="Crosswalk Inter" panose="02000503000000020004" pitchFamily="34" charset="0"/>
                <a:cs typeface="Crosswalk Inter" panose="02000503000000020004" pitchFamily="34" charset="0"/>
              </a:rPr>
              <a:t>$35,000</a:t>
            </a:r>
            <a:endParaRPr lang="en-US" sz="7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Text 9"/>
          <p:cNvSpPr/>
          <p:nvPr/>
        </p:nvSpPr>
        <p:spPr>
          <a:xfrm>
            <a:off x="777240" y="4956048"/>
            <a:ext cx="6217920" cy="182880"/>
          </a:xfrm>
          <a:prstGeom prst="rect">
            <a:avLst/>
          </a:prstGeom>
          <a:noFill/>
          <a:ln/>
        </p:spPr>
        <p:txBody>
          <a:bodyPr wrap="square" lIns="0" tIns="0" rIns="0" bIns="0" rtlCol="0" anchor="t"/>
          <a:lstStyle/>
          <a:p>
            <a:pPr marL="0" indent="0">
              <a:buNone/>
            </a:pPr>
            <a:r>
              <a:rPr lang="en-US" sz="850" b="1" kern="0" spc="10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POC FEE</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8" name="Google Shape;100;p37">
            <a:extLst>
              <a:ext uri="{FF2B5EF4-FFF2-40B4-BE49-F238E27FC236}">
                <a16:creationId xmlns:a16="http://schemas.microsoft.com/office/drawing/2014/main" id="{9D58D235-82E9-02B5-479C-5218900683D4}"/>
              </a:ext>
            </a:extLst>
          </p:cNvPr>
          <p:cNvSpPr txBox="1">
            <a:spLocks/>
          </p:cNvSpPr>
          <p:nvPr/>
        </p:nvSpPr>
        <p:spPr>
          <a:xfrm>
            <a:off x="6597279" y="9255170"/>
            <a:ext cx="379521" cy="365125"/>
          </a:xfrm>
          <a:prstGeom prst="rect">
            <a:avLst/>
          </a:prstGeom>
          <a:noFill/>
          <a:ln>
            <a:noFill/>
          </a:ln>
        </p:spPr>
        <p:txBody>
          <a:bodyPr spcFirstLastPara="1" wrap="square" lIns="0" tIns="45700" rIns="0" bIns="45700" anchor="ctr" anchorCtr="0">
            <a:noAutofit/>
          </a:bodyPr>
          <a:lstStyle>
            <a:lvl1pPr marL="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a:lvl2pPr marL="457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2pPr>
            <a:lvl3pPr marL="914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3pPr>
            <a:lvl4pPr marL="1371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4pPr>
            <a:lvl5pPr marL="18288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5pPr>
            <a:lvl6pPr marL="22860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6pPr>
            <a:lvl7pPr marL="2743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7pPr>
            <a:lvl8pPr marL="3200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8pPr>
            <a:lvl9pPr marL="3657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9pPr>
          </a:lstStyle>
          <a:p>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fld id="{00000000-1234-1234-1234-123412341234}" type="slidenum">
              <a:rPr kumimoji="0" lang="en-US" sz="700" b="0" i="0" u="none" strike="noStrike" kern="1200" cap="none" spc="0" normalizeH="0" baseline="0" noProof="0" smtClean="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rPr>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t>13</a:t>
            </a:fld>
            <a:endParaRPr kumimoji="0" lang="en-US" sz="900" b="0" i="0" u="none" strike="noStrike" kern="1200" cap="none" spc="0" normalizeH="0" baseline="0" noProof="0" dirty="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endParaRPr>
          </a:p>
        </p:txBody>
      </p:sp>
      <p:sp>
        <p:nvSpPr>
          <p:cNvPr id="2" name="Text 10">
            <a:extLst>
              <a:ext uri="{FF2B5EF4-FFF2-40B4-BE49-F238E27FC236}">
                <a16:creationId xmlns:a16="http://schemas.microsoft.com/office/drawing/2014/main" id="{2EEE4023-AEFE-893F-4AD4-BCD99A969324}"/>
              </a:ext>
            </a:extLst>
          </p:cNvPr>
          <p:cNvSpPr/>
          <p:nvPr/>
        </p:nvSpPr>
        <p:spPr>
          <a:xfrm>
            <a:off x="777240" y="5833872"/>
            <a:ext cx="1463040" cy="182880"/>
          </a:xfrm>
          <a:prstGeom prst="rect">
            <a:avLst/>
          </a:prstGeom>
          <a:noFill/>
          <a:ln/>
        </p:spPr>
        <p:txBody>
          <a:bodyPr wrap="square" lIns="0" tIns="0" rIns="0" bIns="0" rtlCol="0" anchor="t"/>
          <a:lstStyle/>
          <a:p>
            <a:pPr marL="0" indent="0">
              <a:buNone/>
            </a:pPr>
            <a:r>
              <a:rPr lang="en-US" sz="800" b="1" kern="0" spc="11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ITEM</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7" name="Text 11">
            <a:extLst>
              <a:ext uri="{FF2B5EF4-FFF2-40B4-BE49-F238E27FC236}">
                <a16:creationId xmlns:a16="http://schemas.microsoft.com/office/drawing/2014/main" id="{DCF3ECFA-5963-903F-F202-7640CA938897}"/>
              </a:ext>
            </a:extLst>
          </p:cNvPr>
          <p:cNvSpPr/>
          <p:nvPr/>
        </p:nvSpPr>
        <p:spPr>
          <a:xfrm>
            <a:off x="2596896" y="5833872"/>
            <a:ext cx="4480560" cy="182880"/>
          </a:xfrm>
          <a:prstGeom prst="rect">
            <a:avLst/>
          </a:prstGeom>
          <a:noFill/>
          <a:ln/>
        </p:spPr>
        <p:txBody>
          <a:bodyPr wrap="square" lIns="0" tIns="0" rIns="0" bIns="0" rtlCol="0" anchor="t"/>
          <a:lstStyle/>
          <a:p>
            <a:pPr marL="0" indent="0">
              <a:buNone/>
            </a:pPr>
            <a:r>
              <a:rPr lang="en-US" sz="800" b="1" kern="0" spc="11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TERMS</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9" name="Shape 12">
            <a:extLst>
              <a:ext uri="{FF2B5EF4-FFF2-40B4-BE49-F238E27FC236}">
                <a16:creationId xmlns:a16="http://schemas.microsoft.com/office/drawing/2014/main" id="{EDC46D1E-ADAB-E88B-589E-CA98636BB22B}"/>
              </a:ext>
            </a:extLst>
          </p:cNvPr>
          <p:cNvSpPr/>
          <p:nvPr/>
        </p:nvSpPr>
        <p:spPr>
          <a:xfrm>
            <a:off x="777240" y="6108192"/>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0" name="Text 13">
            <a:extLst>
              <a:ext uri="{FF2B5EF4-FFF2-40B4-BE49-F238E27FC236}">
                <a16:creationId xmlns:a16="http://schemas.microsoft.com/office/drawing/2014/main" id="{6C00F50F-D45A-4CFD-097C-87D56C313791}"/>
              </a:ext>
            </a:extLst>
          </p:cNvPr>
          <p:cNvSpPr/>
          <p:nvPr/>
        </p:nvSpPr>
        <p:spPr>
          <a:xfrm>
            <a:off x="777240" y="6291072"/>
            <a:ext cx="1737360" cy="457200"/>
          </a:xfrm>
          <a:prstGeom prst="rect">
            <a:avLst/>
          </a:prstGeom>
          <a:noFill/>
          <a:ln/>
        </p:spPr>
        <p:txBody>
          <a:bodyPr wrap="square" lIns="0" tIns="0" rIns="0" bIns="0" rtlCol="0" anchor="t"/>
          <a:lstStyle/>
          <a:p>
            <a:pPr marL="0" indent="0">
              <a:lnSpc>
                <a:spcPts val="1575"/>
              </a:lnSpc>
              <a:buNone/>
            </a:pPr>
            <a:r>
              <a:rPr lang="en-US" sz="1100" dirty="0">
                <a:solidFill>
                  <a:srgbClr val="E9E8E1"/>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Term</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1" name="Text 14">
            <a:extLst>
              <a:ext uri="{FF2B5EF4-FFF2-40B4-BE49-F238E27FC236}">
                <a16:creationId xmlns:a16="http://schemas.microsoft.com/office/drawing/2014/main" id="{AD09035C-73BC-B305-E976-DDA6C01B8280}"/>
              </a:ext>
            </a:extLst>
          </p:cNvPr>
          <p:cNvSpPr/>
          <p:nvPr/>
        </p:nvSpPr>
        <p:spPr>
          <a:xfrm>
            <a:off x="2596896" y="6291072"/>
            <a:ext cx="4480560" cy="434086"/>
          </a:xfrm>
          <a:prstGeom prst="rect">
            <a:avLst/>
          </a:prstGeom>
          <a:noFill/>
          <a:ln/>
        </p:spPr>
        <p:txBody>
          <a:bodyPr wrap="square" lIns="0" tIns="0" rIns="0" bIns="0" rtlCol="0" anchor="t"/>
          <a:lstStyle/>
          <a:p>
            <a:pPr marL="0" indent="0">
              <a:lnSpc>
                <a:spcPts val="1575"/>
              </a:lnSpc>
              <a:buNone/>
            </a:pPr>
            <a:r>
              <a:rPr lang="en-US" sz="110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30 days from kickoff</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2" name="Shape 15">
            <a:extLst>
              <a:ext uri="{FF2B5EF4-FFF2-40B4-BE49-F238E27FC236}">
                <a16:creationId xmlns:a16="http://schemas.microsoft.com/office/drawing/2014/main" id="{41B74686-872A-5D5B-0658-A4687A58E464}"/>
              </a:ext>
            </a:extLst>
          </p:cNvPr>
          <p:cNvSpPr/>
          <p:nvPr/>
        </p:nvSpPr>
        <p:spPr>
          <a:xfrm>
            <a:off x="777240" y="6711696"/>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3" name="Text 16">
            <a:extLst>
              <a:ext uri="{FF2B5EF4-FFF2-40B4-BE49-F238E27FC236}">
                <a16:creationId xmlns:a16="http://schemas.microsoft.com/office/drawing/2014/main" id="{68FE09F9-8D44-E66F-6C67-4610587F1A4A}"/>
              </a:ext>
            </a:extLst>
          </p:cNvPr>
          <p:cNvSpPr/>
          <p:nvPr/>
        </p:nvSpPr>
        <p:spPr>
          <a:xfrm>
            <a:off x="777240" y="6894576"/>
            <a:ext cx="1737360" cy="457200"/>
          </a:xfrm>
          <a:prstGeom prst="rect">
            <a:avLst/>
          </a:prstGeom>
          <a:noFill/>
          <a:ln/>
        </p:spPr>
        <p:txBody>
          <a:bodyPr wrap="square" lIns="0" tIns="0" rIns="0" bIns="0" rtlCol="0" anchor="t"/>
          <a:lstStyle/>
          <a:p>
            <a:pPr marL="0" indent="0">
              <a:lnSpc>
                <a:spcPts val="1575"/>
              </a:lnSpc>
              <a:buNone/>
            </a:pPr>
            <a:r>
              <a:rPr lang="en-US" sz="1100" dirty="0">
                <a:solidFill>
                  <a:srgbClr val="E9E8E1"/>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Payment</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4" name="Text 17">
            <a:extLst>
              <a:ext uri="{FF2B5EF4-FFF2-40B4-BE49-F238E27FC236}">
                <a16:creationId xmlns:a16="http://schemas.microsoft.com/office/drawing/2014/main" id="{9CD0958A-AAE1-4AEA-FE35-F65A4854C249}"/>
              </a:ext>
            </a:extLst>
          </p:cNvPr>
          <p:cNvSpPr/>
          <p:nvPr/>
        </p:nvSpPr>
        <p:spPr>
          <a:xfrm>
            <a:off x="2596896" y="6894576"/>
            <a:ext cx="4480560" cy="434086"/>
          </a:xfrm>
          <a:prstGeom prst="rect">
            <a:avLst/>
          </a:prstGeom>
          <a:noFill/>
          <a:ln/>
        </p:spPr>
        <p:txBody>
          <a:bodyPr wrap="square" lIns="0" tIns="0" rIns="0" bIns="0" rtlCol="0" anchor="t"/>
          <a:lstStyle/>
          <a:p>
            <a:pPr marL="0" indent="0">
              <a:lnSpc>
                <a:spcPts val="1575"/>
              </a:lnSpc>
              <a:buNone/>
            </a:pPr>
            <a:r>
              <a:rPr lang="en-US" sz="110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Due 10 days after the invoice is issued</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5" name="Shape 18">
            <a:extLst>
              <a:ext uri="{FF2B5EF4-FFF2-40B4-BE49-F238E27FC236}">
                <a16:creationId xmlns:a16="http://schemas.microsoft.com/office/drawing/2014/main" id="{B9920B3B-5C7D-9F78-A558-3830F7BB56AE}"/>
              </a:ext>
            </a:extLst>
          </p:cNvPr>
          <p:cNvSpPr/>
          <p:nvPr/>
        </p:nvSpPr>
        <p:spPr>
          <a:xfrm>
            <a:off x="777240" y="7315200"/>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6" name="Text 19">
            <a:extLst>
              <a:ext uri="{FF2B5EF4-FFF2-40B4-BE49-F238E27FC236}">
                <a16:creationId xmlns:a16="http://schemas.microsoft.com/office/drawing/2014/main" id="{75CF5603-444B-2CDE-D897-D3AE351F9C13}"/>
              </a:ext>
            </a:extLst>
          </p:cNvPr>
          <p:cNvSpPr/>
          <p:nvPr/>
        </p:nvSpPr>
        <p:spPr>
          <a:xfrm>
            <a:off x="777240" y="7498080"/>
            <a:ext cx="1737360" cy="457200"/>
          </a:xfrm>
          <a:prstGeom prst="rect">
            <a:avLst/>
          </a:prstGeom>
          <a:noFill/>
          <a:ln/>
        </p:spPr>
        <p:txBody>
          <a:bodyPr wrap="square" lIns="0" tIns="0" rIns="0" bIns="0" rtlCol="0" anchor="t"/>
          <a:lstStyle/>
          <a:p>
            <a:pPr marL="0" indent="0">
              <a:lnSpc>
                <a:spcPts val="1575"/>
              </a:lnSpc>
              <a:buNone/>
            </a:pPr>
            <a:r>
              <a:rPr lang="en-US" sz="1100" dirty="0">
                <a:solidFill>
                  <a:srgbClr val="E9E8E1"/>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Credit against annual</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7" name="Text 20">
            <a:extLst>
              <a:ext uri="{FF2B5EF4-FFF2-40B4-BE49-F238E27FC236}">
                <a16:creationId xmlns:a16="http://schemas.microsoft.com/office/drawing/2014/main" id="{DC3E0AEB-8BC5-0D98-35E1-3AD9EF2EAEBE}"/>
              </a:ext>
            </a:extLst>
          </p:cNvPr>
          <p:cNvSpPr/>
          <p:nvPr/>
        </p:nvSpPr>
        <p:spPr>
          <a:xfrm>
            <a:off x="2596896" y="7498080"/>
            <a:ext cx="4480560" cy="434086"/>
          </a:xfrm>
          <a:prstGeom prst="rect">
            <a:avLst/>
          </a:prstGeom>
          <a:noFill/>
          <a:ln/>
        </p:spPr>
        <p:txBody>
          <a:bodyPr wrap="square" lIns="0" tIns="0" rIns="0" bIns="0" rtlCol="0" anchor="t"/>
          <a:lstStyle/>
          <a:p>
            <a:pPr marL="0" indent="0">
              <a:lnSpc>
                <a:spcPts val="1575"/>
              </a:lnSpc>
              <a:buNone/>
            </a:pPr>
            <a:r>
              <a:rPr lang="en-US" sz="110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The full $35,000 is applied to a subsequent full-year agreement</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8" name="Shape 21">
            <a:extLst>
              <a:ext uri="{FF2B5EF4-FFF2-40B4-BE49-F238E27FC236}">
                <a16:creationId xmlns:a16="http://schemas.microsoft.com/office/drawing/2014/main" id="{EB5A8E63-A415-452B-9808-184B4D56AD7C}"/>
              </a:ext>
            </a:extLst>
          </p:cNvPr>
          <p:cNvSpPr/>
          <p:nvPr/>
        </p:nvSpPr>
        <p:spPr>
          <a:xfrm>
            <a:off x="777240" y="7918704"/>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9" name="Text 22">
            <a:extLst>
              <a:ext uri="{FF2B5EF4-FFF2-40B4-BE49-F238E27FC236}">
                <a16:creationId xmlns:a16="http://schemas.microsoft.com/office/drawing/2014/main" id="{D9F62DA5-E48B-143F-A1FA-F827B3FB43AB}"/>
              </a:ext>
            </a:extLst>
          </p:cNvPr>
          <p:cNvSpPr/>
          <p:nvPr/>
        </p:nvSpPr>
        <p:spPr>
          <a:xfrm>
            <a:off x="777240" y="8101584"/>
            <a:ext cx="1737360" cy="457200"/>
          </a:xfrm>
          <a:prstGeom prst="rect">
            <a:avLst/>
          </a:prstGeom>
          <a:noFill/>
          <a:ln/>
        </p:spPr>
        <p:txBody>
          <a:bodyPr wrap="square" lIns="0" tIns="0" rIns="0" bIns="0" rtlCol="0" anchor="t"/>
          <a:lstStyle/>
          <a:p>
            <a:pPr marL="0" indent="0">
              <a:lnSpc>
                <a:spcPts val="1575"/>
              </a:lnSpc>
              <a:buNone/>
            </a:pPr>
            <a:r>
              <a:rPr lang="en-US" sz="1100" dirty="0">
                <a:solidFill>
                  <a:srgbClr val="E9E8E1"/>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Commitment</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0" name="Text 23">
            <a:extLst>
              <a:ext uri="{FF2B5EF4-FFF2-40B4-BE49-F238E27FC236}">
                <a16:creationId xmlns:a16="http://schemas.microsoft.com/office/drawing/2014/main" id="{7C42EAFB-A5CC-CA9E-095A-006BDBAAD859}"/>
              </a:ext>
            </a:extLst>
          </p:cNvPr>
          <p:cNvSpPr/>
          <p:nvPr/>
        </p:nvSpPr>
        <p:spPr>
          <a:xfrm>
            <a:off x="2596896" y="8101584"/>
            <a:ext cx="4480560" cy="434086"/>
          </a:xfrm>
          <a:prstGeom prst="rect">
            <a:avLst/>
          </a:prstGeom>
          <a:noFill/>
          <a:ln/>
        </p:spPr>
        <p:txBody>
          <a:bodyPr wrap="square" lIns="0" tIns="0" rIns="0" bIns="0" rtlCol="0" anchor="t"/>
          <a:lstStyle/>
          <a:p>
            <a:pPr marL="0" indent="0">
              <a:lnSpc>
                <a:spcPts val="1575"/>
              </a:lnSpc>
              <a:buNone/>
            </a:pPr>
            <a:r>
              <a:rPr lang="en-US" sz="110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The POC stands alone. No obligation beyond the 30-day term.</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1" name="Shape 24">
            <a:extLst>
              <a:ext uri="{FF2B5EF4-FFF2-40B4-BE49-F238E27FC236}">
                <a16:creationId xmlns:a16="http://schemas.microsoft.com/office/drawing/2014/main" id="{5AFC1BE3-0CA0-BEF6-7324-D495B703009F}"/>
              </a:ext>
            </a:extLst>
          </p:cNvPr>
          <p:cNvSpPr/>
          <p:nvPr/>
        </p:nvSpPr>
        <p:spPr>
          <a:xfrm>
            <a:off x="777240" y="8522208"/>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AE8E2"/>
        </a:solidFill>
        <a:effectLst/>
      </p:bgPr>
    </p:bg>
    <p:spTree>
      <p:nvGrpSpPr>
        <p:cNvPr id="1" name=""/>
        <p:cNvGrpSpPr/>
        <p:nvPr/>
      </p:nvGrpSpPr>
      <p:grpSpPr>
        <a:xfrm>
          <a:off x="0" y="0"/>
          <a:ext cx="0" cy="0"/>
          <a:chOff x="0" y="0"/>
          <a:chExt cx="0" cy="0"/>
        </a:xfrm>
      </p:grpSpPr>
      <p:sp>
        <p:nvSpPr>
          <p:cNvPr id="3" name="Text 1"/>
          <p:cNvSpPr/>
          <p:nvPr/>
        </p:nvSpPr>
        <p:spPr>
          <a:xfrm>
            <a:off x="777240" y="530352"/>
            <a:ext cx="4206240" cy="201168"/>
          </a:xfrm>
          <a:prstGeom prst="rect">
            <a:avLst/>
          </a:prstGeom>
          <a:noFill/>
          <a:ln/>
        </p:spPr>
        <p:txBody>
          <a:bodyPr wrap="square" lIns="0" tIns="0" rIns="0" bIns="0" rtlCol="0" anchor="t"/>
          <a:lstStyle/>
          <a:p>
            <a:r>
              <a:rPr lang="en-US" sz="750" kern="0" spc="150" dirty="0">
                <a:solidFill>
                  <a:srgbClr val="888C89"/>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WHAT SUCCESS LOOKS LIKE</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pic>
        <p:nvPicPr>
          <p:cNvPr id="4" name="Image 0" descr="logo_dark.png"/>
          <p:cNvPicPr>
            <a:picLocks noChangeAspect="1"/>
          </p:cNvPicPr>
          <p:nvPr/>
        </p:nvPicPr>
        <p:blipFill>
          <a:blip r:embed="rId4"/>
          <a:stretch>
            <a:fillRect/>
          </a:stretch>
        </p:blipFill>
        <p:spPr>
          <a:xfrm>
            <a:off x="6062472" y="544424"/>
            <a:ext cx="932688" cy="118161"/>
          </a:xfrm>
          <a:prstGeom prst="rect">
            <a:avLst/>
          </a:prstGeom>
        </p:spPr>
      </p:pic>
      <p:sp>
        <p:nvSpPr>
          <p:cNvPr id="5" name="Shape 2"/>
          <p:cNvSpPr/>
          <p:nvPr/>
        </p:nvSpPr>
        <p:spPr>
          <a:xfrm>
            <a:off x="777240" y="868680"/>
            <a:ext cx="6217920" cy="6401"/>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p:nvPr/>
        </p:nvSpPr>
        <p:spPr>
          <a:xfrm>
            <a:off x="777240" y="9381744"/>
            <a:ext cx="4114800" cy="182880"/>
          </a:xfrm>
          <a:prstGeom prst="rect">
            <a:avLst/>
          </a:prstGeom>
          <a:noFill/>
          <a:ln/>
        </p:spPr>
        <p:txBody>
          <a:bodyPr wrap="square" lIns="0" tIns="0" rIns="0" bIns="0" rtlCol="0" anchor="t"/>
          <a:lstStyle/>
          <a:p>
            <a:pPr marL="0" indent="0">
              <a:buNone/>
            </a:pPr>
            <a:r>
              <a:rPr lang="en-US" sz="700" kern="0" spc="14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CROSSWALK / BEHAVIORAL INTELLIGENCE ENGINE</a:t>
            </a:r>
            <a:endParaRPr lang="en-US" sz="7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Shape 5"/>
          <p:cNvSpPr/>
          <p:nvPr/>
        </p:nvSpPr>
        <p:spPr>
          <a:xfrm>
            <a:off x="777240" y="1120140"/>
            <a:ext cx="64008" cy="64008"/>
          </a:xfrm>
          <a:prstGeom prst="ellipse">
            <a:avLst/>
          </a:prstGeom>
          <a:solidFill>
            <a:srgbClr val="5E7E12"/>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Text 6"/>
          <p:cNvSpPr/>
          <p:nvPr/>
        </p:nvSpPr>
        <p:spPr>
          <a:xfrm>
            <a:off x="932688" y="1094191"/>
            <a:ext cx="5120640" cy="201168"/>
          </a:xfrm>
          <a:prstGeom prst="rect">
            <a:avLst/>
          </a:prstGeom>
          <a:noFill/>
          <a:ln/>
        </p:spPr>
        <p:txBody>
          <a:bodyPr wrap="square" lIns="0" tIns="0" rIns="0" bIns="0" rtlCol="0" anchor="t"/>
          <a:lstStyle/>
          <a:p>
            <a:pPr marL="0" indent="0">
              <a:buNone/>
            </a:pPr>
            <a:r>
              <a:rPr lang="en-US" sz="850" kern="0" spc="180" dirty="0">
                <a:solidFill>
                  <a:srgbClr val="888C89"/>
                </a:solidFill>
                <a:latin typeface="Crosswalk Inter Medium" panose="02000503000000020004" pitchFamily="34" charset="0"/>
                <a:ea typeface="Crosswalk Inter Medium" panose="02000503000000020004" pitchFamily="34" charset="0"/>
                <a:cs typeface="Crosswalk Inter Medium" panose="02000503000000020004" pitchFamily="34" charset="0"/>
              </a:rPr>
              <a:t>SECTION 06</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0" name="Text 7"/>
          <p:cNvSpPr/>
          <p:nvPr/>
        </p:nvSpPr>
        <p:spPr>
          <a:xfrm>
            <a:off x="777240" y="1572768"/>
            <a:ext cx="6217920" cy="1142492"/>
          </a:xfrm>
          <a:prstGeom prst="rect">
            <a:avLst/>
          </a:prstGeom>
          <a:noFill/>
          <a:ln/>
        </p:spPr>
        <p:txBody>
          <a:bodyPr wrap="square" lIns="0" tIns="0" rIns="0" bIns="0" rtlCol="0" anchor="t"/>
          <a:lstStyle/>
          <a:p>
            <a:pPr marL="0" indent="0">
              <a:lnSpc>
                <a:spcPts val="4066"/>
              </a:lnSpc>
              <a:buNone/>
            </a:pPr>
            <a:r>
              <a:rPr lang="en-US" sz="38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What success</a:t>
            </a:r>
            <a:br>
              <a:rPr lang="en-US" sz="38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br>
            <a:r>
              <a:rPr lang="en-US" sz="38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looks like.</a:t>
            </a:r>
            <a:endParaRPr lang="en-US" sz="3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Text 8"/>
          <p:cNvSpPr/>
          <p:nvPr/>
        </p:nvSpPr>
        <p:spPr>
          <a:xfrm>
            <a:off x="777240" y="3017520"/>
            <a:ext cx="6217920" cy="424844"/>
          </a:xfrm>
          <a:prstGeom prst="rect">
            <a:avLst/>
          </a:prstGeom>
          <a:noFill/>
          <a:ln/>
        </p:spPr>
        <p:txBody>
          <a:bodyPr wrap="square" lIns="0" tIns="0" rIns="0" bIns="0" rtlCol="0" anchor="t"/>
          <a:lstStyle/>
          <a:p>
            <a:pPr marL="0" indent="0">
              <a:lnSpc>
                <a:spcPts val="1575"/>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We propose judging this POC against four things, agreed in advance:</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Shape 9"/>
          <p:cNvSpPr/>
          <p:nvPr/>
        </p:nvSpPr>
        <p:spPr>
          <a:xfrm>
            <a:off x="777240" y="3611880"/>
            <a:ext cx="2980944" cy="2011680"/>
          </a:xfrm>
          <a:prstGeom prst="roundRect">
            <a:avLst>
              <a:gd name="adj" fmla="val 4222"/>
            </a:avLst>
          </a:prstGeom>
          <a:solidFill>
            <a:srgbClr val="E1E0D7"/>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Text 10"/>
          <p:cNvSpPr/>
          <p:nvPr/>
        </p:nvSpPr>
        <p:spPr>
          <a:xfrm>
            <a:off x="1051560" y="3831336"/>
            <a:ext cx="914400" cy="384048"/>
          </a:xfrm>
          <a:prstGeom prst="rect">
            <a:avLst/>
          </a:prstGeom>
          <a:noFill/>
          <a:ln/>
        </p:spPr>
        <p:txBody>
          <a:bodyPr wrap="square" lIns="0" tIns="0" rIns="0" bIns="0" rtlCol="0" anchor="t"/>
          <a:lstStyle/>
          <a:p>
            <a:pPr marL="0" indent="0">
              <a:buNone/>
            </a:pPr>
            <a:r>
              <a:rPr lang="en-US" sz="26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01</a:t>
            </a:r>
            <a:endParaRPr lang="en-US" sz="26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4" name="Text 11"/>
          <p:cNvSpPr/>
          <p:nvPr/>
        </p:nvSpPr>
        <p:spPr>
          <a:xfrm>
            <a:off x="1051560" y="4306824"/>
            <a:ext cx="2432304" cy="274320"/>
          </a:xfrm>
          <a:prstGeom prst="rect">
            <a:avLst/>
          </a:prstGeom>
          <a:noFill/>
          <a:ln/>
        </p:spPr>
        <p:txBody>
          <a:bodyPr wrap="square" lIns="0" tIns="0" rIns="0" bIns="0" rtlCol="0" anchor="t"/>
          <a:lstStyle/>
          <a:p>
            <a:pPr marL="0" indent="0">
              <a:buNone/>
            </a:pPr>
            <a:r>
              <a:rPr lang="en-US" sz="135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Validity.</a:t>
            </a:r>
            <a:endParaRPr lang="en-US" sz="13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5" name="Text 12"/>
          <p:cNvSpPr/>
          <p:nvPr/>
        </p:nvSpPr>
        <p:spPr>
          <a:xfrm>
            <a:off x="1051560" y="4636008"/>
            <a:ext cx="2555240" cy="818036"/>
          </a:xfrm>
          <a:prstGeom prst="rect">
            <a:avLst/>
          </a:prstGeom>
          <a:noFill/>
          <a:ln/>
        </p:spPr>
        <p:txBody>
          <a:bodyPr wrap="square" lIns="0" tIns="0" rIns="0" bIns="0" rtlCol="0" anchor="t"/>
          <a:lstStyle/>
          <a:p>
            <a:pPr marL="0" indent="0">
              <a:lnSpc>
                <a:spcPts val="1500"/>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[CLIENT NAME] accepts the methodology and data provenance.</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6" name="Shape 13"/>
          <p:cNvSpPr/>
          <p:nvPr/>
        </p:nvSpPr>
        <p:spPr>
          <a:xfrm>
            <a:off x="4014216" y="3611880"/>
            <a:ext cx="2980944" cy="2011680"/>
          </a:xfrm>
          <a:prstGeom prst="roundRect">
            <a:avLst>
              <a:gd name="adj" fmla="val 4820"/>
            </a:avLst>
          </a:prstGeom>
          <a:solidFill>
            <a:srgbClr val="E1E0D7"/>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7" name="Text 14"/>
          <p:cNvSpPr/>
          <p:nvPr/>
        </p:nvSpPr>
        <p:spPr>
          <a:xfrm>
            <a:off x="4288536" y="3831336"/>
            <a:ext cx="914400" cy="384048"/>
          </a:xfrm>
          <a:prstGeom prst="rect">
            <a:avLst/>
          </a:prstGeom>
          <a:noFill/>
          <a:ln/>
        </p:spPr>
        <p:txBody>
          <a:bodyPr wrap="square" lIns="0" tIns="0" rIns="0" bIns="0" rtlCol="0" anchor="t"/>
          <a:lstStyle/>
          <a:p>
            <a:pPr marL="0" indent="0">
              <a:buNone/>
            </a:pPr>
            <a:r>
              <a:rPr lang="en-US" sz="26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02</a:t>
            </a:r>
            <a:endParaRPr lang="en-US" sz="26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8" name="Text 15"/>
          <p:cNvSpPr/>
          <p:nvPr/>
        </p:nvSpPr>
        <p:spPr>
          <a:xfrm>
            <a:off x="4288536" y="4306824"/>
            <a:ext cx="2432304" cy="274320"/>
          </a:xfrm>
          <a:prstGeom prst="rect">
            <a:avLst/>
          </a:prstGeom>
          <a:noFill/>
          <a:ln/>
        </p:spPr>
        <p:txBody>
          <a:bodyPr wrap="square" lIns="0" tIns="0" rIns="0" bIns="0" rtlCol="0" anchor="t"/>
          <a:lstStyle/>
          <a:p>
            <a:pPr marL="0" indent="0">
              <a:buNone/>
            </a:pPr>
            <a:r>
              <a:rPr lang="en-US" sz="135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Value.</a:t>
            </a:r>
            <a:endParaRPr lang="en-US" sz="13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9" name="Text 16"/>
          <p:cNvSpPr/>
          <p:nvPr/>
        </p:nvSpPr>
        <p:spPr>
          <a:xfrm>
            <a:off x="4288536" y="4636008"/>
            <a:ext cx="2432304" cy="818036"/>
          </a:xfrm>
          <a:prstGeom prst="rect">
            <a:avLst/>
          </a:prstGeom>
          <a:noFill/>
          <a:ln/>
        </p:spPr>
        <p:txBody>
          <a:bodyPr wrap="square" lIns="0" tIns="0" rIns="0" bIns="0" rtlCol="0" anchor="t"/>
          <a:lstStyle/>
          <a:p>
            <a:pPr marL="0" indent="0">
              <a:lnSpc>
                <a:spcPts val="1500"/>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The [PROJECT 1 SUBJECT] work produces findings you are ready to take to clients and the marketplace.</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0" name="Shape 17"/>
          <p:cNvSpPr/>
          <p:nvPr/>
        </p:nvSpPr>
        <p:spPr>
          <a:xfrm>
            <a:off x="777240" y="5824728"/>
            <a:ext cx="2980944" cy="2011680"/>
          </a:xfrm>
          <a:prstGeom prst="roundRect">
            <a:avLst>
              <a:gd name="adj" fmla="val 4521"/>
            </a:avLst>
          </a:prstGeom>
          <a:solidFill>
            <a:srgbClr val="E1E0D7"/>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1" name="Text 18"/>
          <p:cNvSpPr/>
          <p:nvPr/>
        </p:nvSpPr>
        <p:spPr>
          <a:xfrm>
            <a:off x="1051560" y="6044184"/>
            <a:ext cx="914400" cy="384048"/>
          </a:xfrm>
          <a:prstGeom prst="rect">
            <a:avLst/>
          </a:prstGeom>
          <a:noFill/>
          <a:ln/>
        </p:spPr>
        <p:txBody>
          <a:bodyPr wrap="square" lIns="0" tIns="0" rIns="0" bIns="0" rtlCol="0" anchor="t"/>
          <a:lstStyle/>
          <a:p>
            <a:pPr marL="0" indent="0">
              <a:buNone/>
            </a:pPr>
            <a:r>
              <a:rPr lang="en-US" sz="26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03</a:t>
            </a:r>
            <a:endParaRPr lang="en-US" sz="26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2" name="Text 19"/>
          <p:cNvSpPr/>
          <p:nvPr/>
        </p:nvSpPr>
        <p:spPr>
          <a:xfrm>
            <a:off x="1051560" y="6519672"/>
            <a:ext cx="2432304" cy="274320"/>
          </a:xfrm>
          <a:prstGeom prst="rect">
            <a:avLst/>
          </a:prstGeom>
          <a:noFill/>
          <a:ln/>
        </p:spPr>
        <p:txBody>
          <a:bodyPr wrap="square" lIns="0" tIns="0" rIns="0" bIns="0" rtlCol="0" anchor="t"/>
          <a:lstStyle/>
          <a:p>
            <a:pPr marL="0" indent="0">
              <a:buNone/>
            </a:pPr>
            <a:r>
              <a:rPr lang="en-US" sz="135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Differentiation.</a:t>
            </a:r>
            <a:endParaRPr lang="en-US" sz="13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3" name="Text 20"/>
          <p:cNvSpPr/>
          <p:nvPr/>
        </p:nvSpPr>
        <p:spPr>
          <a:xfrm>
            <a:off x="1051560" y="6848856"/>
            <a:ext cx="2432304" cy="818036"/>
          </a:xfrm>
          <a:prstGeom prst="rect">
            <a:avLst/>
          </a:prstGeom>
          <a:noFill/>
          <a:ln/>
        </p:spPr>
        <p:txBody>
          <a:bodyPr wrap="square" lIns="0" tIns="0" rIns="0" bIns="0" rtlCol="0" anchor="t"/>
          <a:lstStyle/>
          <a:p>
            <a:pPr marL="0" indent="0">
              <a:lnSpc>
                <a:spcPts val="1500"/>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All three projects surface findings your current tools cannot produce.</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4" name="Shape 21"/>
          <p:cNvSpPr/>
          <p:nvPr/>
        </p:nvSpPr>
        <p:spPr>
          <a:xfrm>
            <a:off x="4014216" y="5824728"/>
            <a:ext cx="2980944" cy="2011680"/>
          </a:xfrm>
          <a:prstGeom prst="roundRect">
            <a:avLst>
              <a:gd name="adj" fmla="val 4820"/>
            </a:avLst>
          </a:prstGeom>
          <a:solidFill>
            <a:srgbClr val="E1E0D7"/>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5" name="Text 22"/>
          <p:cNvSpPr/>
          <p:nvPr/>
        </p:nvSpPr>
        <p:spPr>
          <a:xfrm>
            <a:off x="4288536" y="6044184"/>
            <a:ext cx="914400" cy="384048"/>
          </a:xfrm>
          <a:prstGeom prst="rect">
            <a:avLst/>
          </a:prstGeom>
          <a:noFill/>
          <a:ln/>
        </p:spPr>
        <p:txBody>
          <a:bodyPr wrap="square" lIns="0" tIns="0" rIns="0" bIns="0" rtlCol="0" anchor="t"/>
          <a:lstStyle/>
          <a:p>
            <a:pPr marL="0" indent="0">
              <a:buNone/>
            </a:pPr>
            <a:r>
              <a:rPr lang="en-US" sz="2600" dirty="0">
                <a:solidFill>
                  <a:srgbClr val="5E7E12"/>
                </a:solidFill>
                <a:latin typeface="Crosswalk Inter Light" panose="02000503000000020004" pitchFamily="34" charset="0"/>
                <a:ea typeface="Crosswalk Inter Light" panose="02000503000000020004" pitchFamily="34" charset="0"/>
                <a:cs typeface="Crosswalk Inter Light" panose="02000503000000020004" pitchFamily="34" charset="0"/>
              </a:rPr>
              <a:t>04</a:t>
            </a:r>
            <a:endParaRPr lang="en-US" sz="26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6" name="Text 23"/>
          <p:cNvSpPr/>
          <p:nvPr/>
        </p:nvSpPr>
        <p:spPr>
          <a:xfrm>
            <a:off x="4288536" y="6519672"/>
            <a:ext cx="2432304" cy="274320"/>
          </a:xfrm>
          <a:prstGeom prst="rect">
            <a:avLst/>
          </a:prstGeom>
          <a:noFill/>
          <a:ln/>
        </p:spPr>
        <p:txBody>
          <a:bodyPr wrap="square" lIns="0" tIns="0" rIns="0" bIns="0" rtlCol="0" anchor="t"/>
          <a:lstStyle/>
          <a:p>
            <a:pPr marL="0" indent="0">
              <a:buNone/>
            </a:pPr>
            <a:r>
              <a:rPr lang="en-US" sz="1350" b="1"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Usability.</a:t>
            </a:r>
            <a:endParaRPr lang="en-US" sz="13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7" name="Text 24"/>
          <p:cNvSpPr/>
          <p:nvPr/>
        </p:nvSpPr>
        <p:spPr>
          <a:xfrm>
            <a:off x="4288536" y="6848856"/>
            <a:ext cx="2432304" cy="818036"/>
          </a:xfrm>
          <a:prstGeom prst="rect">
            <a:avLst/>
          </a:prstGeom>
          <a:noFill/>
          <a:ln/>
        </p:spPr>
        <p:txBody>
          <a:bodyPr wrap="square" lIns="0" tIns="0" rIns="0" bIns="0" rtlCol="0" anchor="t"/>
          <a:lstStyle/>
          <a:p>
            <a:pPr marL="0" indent="0">
              <a:lnSpc>
                <a:spcPts val="1500"/>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[CLIENT NAME] gets into the platform and Prometheus and finds answers on its own.</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8" name="Google Shape;100;p37">
            <a:extLst>
              <a:ext uri="{FF2B5EF4-FFF2-40B4-BE49-F238E27FC236}">
                <a16:creationId xmlns:a16="http://schemas.microsoft.com/office/drawing/2014/main" id="{802D07C3-32A7-69FE-89E7-1A36BA67AEC4}"/>
              </a:ext>
            </a:extLst>
          </p:cNvPr>
          <p:cNvSpPr txBox="1">
            <a:spLocks/>
          </p:cNvSpPr>
          <p:nvPr/>
        </p:nvSpPr>
        <p:spPr>
          <a:xfrm>
            <a:off x="6597279" y="9255170"/>
            <a:ext cx="379521" cy="365125"/>
          </a:xfrm>
          <a:prstGeom prst="rect">
            <a:avLst/>
          </a:prstGeom>
          <a:noFill/>
          <a:ln>
            <a:noFill/>
          </a:ln>
        </p:spPr>
        <p:txBody>
          <a:bodyPr spcFirstLastPara="1" wrap="square" lIns="0" tIns="45700" rIns="0" bIns="45700" anchor="ctr" anchorCtr="0">
            <a:noAutofit/>
          </a:bodyPr>
          <a:lstStyle>
            <a:lvl1pPr marL="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a:lvl2pPr marL="457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2pPr>
            <a:lvl3pPr marL="914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3pPr>
            <a:lvl4pPr marL="1371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4pPr>
            <a:lvl5pPr marL="18288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5pPr>
            <a:lvl6pPr marL="22860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6pPr>
            <a:lvl7pPr marL="2743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7pPr>
            <a:lvl8pPr marL="3200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8pPr>
            <a:lvl9pPr marL="3657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9pPr>
          </a:lstStyle>
          <a:p>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fld id="{00000000-1234-1234-1234-123412341234}" type="slidenum">
              <a:rPr kumimoji="0" lang="en-US" sz="700" b="0" i="0" u="none" strike="noStrike" kern="1200" cap="none" spc="0" normalizeH="0" baseline="0" noProof="0" smtClean="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rPr>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t>14</a:t>
            </a:fld>
            <a:endParaRPr kumimoji="0" lang="en-US" sz="900" b="0" i="0" u="none" strike="noStrike" kern="1200" cap="none" spc="0" normalizeH="0" baseline="0" noProof="0" dirty="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617"/>
        </a:solidFill>
        <a:effectLst/>
      </p:bgPr>
    </p:bg>
    <p:spTree>
      <p:nvGrpSpPr>
        <p:cNvPr id="1" name=""/>
        <p:cNvGrpSpPr/>
        <p:nvPr/>
      </p:nvGrpSpPr>
      <p:grpSpPr>
        <a:xfrm>
          <a:off x="0" y="0"/>
          <a:ext cx="0" cy="0"/>
          <a:chOff x="0" y="0"/>
          <a:chExt cx="0" cy="0"/>
        </a:xfrm>
      </p:grpSpPr>
      <p:sp>
        <p:nvSpPr>
          <p:cNvPr id="3" name="Text 1"/>
          <p:cNvSpPr/>
          <p:nvPr/>
        </p:nvSpPr>
        <p:spPr>
          <a:xfrm>
            <a:off x="777240" y="530352"/>
            <a:ext cx="4206240" cy="201168"/>
          </a:xfrm>
          <a:prstGeom prst="rect">
            <a:avLst/>
          </a:prstGeom>
          <a:noFill/>
          <a:ln/>
        </p:spPr>
        <p:txBody>
          <a:bodyPr wrap="square" lIns="0" tIns="0" rIns="0" bIns="0" rtlCol="0" anchor="t"/>
          <a:lstStyle/>
          <a:p>
            <a:r>
              <a:rPr lang="en-US" sz="750" kern="0" spc="150" dirty="0">
                <a:solidFill>
                  <a:srgbClr val="5C6466"/>
                </a:solidFill>
                <a:latin typeface="Crosswalk Inter SemiBold" panose="02000503000000020004" pitchFamily="34" charset="0"/>
                <a:ea typeface="Crosswalk Inter SemiBold" panose="02000503000000020004" pitchFamily="34" charset="0"/>
                <a:cs typeface="Crosswalk Inter SemiBold" panose="02000503000000020004" pitchFamily="34" charset="0"/>
              </a:rPr>
              <a:t>SUPPORTING MATERIALS</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pic>
        <p:nvPicPr>
          <p:cNvPr id="4" name="Image 0" descr="logo_light.png"/>
          <p:cNvPicPr>
            <a:picLocks noChangeAspect="1"/>
          </p:cNvPicPr>
          <p:nvPr/>
        </p:nvPicPr>
        <p:blipFill>
          <a:blip r:embed="rId4"/>
          <a:stretch>
            <a:fillRect/>
          </a:stretch>
        </p:blipFill>
        <p:spPr>
          <a:xfrm>
            <a:off x="6062472" y="544424"/>
            <a:ext cx="932688" cy="118161"/>
          </a:xfrm>
          <a:prstGeom prst="rect">
            <a:avLst/>
          </a:prstGeom>
        </p:spPr>
      </p:pic>
      <p:sp>
        <p:nvSpPr>
          <p:cNvPr id="5" name="Shape 2"/>
          <p:cNvSpPr/>
          <p:nvPr/>
        </p:nvSpPr>
        <p:spPr>
          <a:xfrm>
            <a:off x="777240" y="868680"/>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p:nvPr/>
        </p:nvSpPr>
        <p:spPr>
          <a:xfrm>
            <a:off x="777240" y="9381744"/>
            <a:ext cx="4114800" cy="182880"/>
          </a:xfrm>
          <a:prstGeom prst="rect">
            <a:avLst/>
          </a:prstGeom>
          <a:noFill/>
          <a:ln/>
        </p:spPr>
        <p:txBody>
          <a:bodyPr wrap="square" lIns="0" tIns="0" rIns="0" bIns="0" rtlCol="0" anchor="t"/>
          <a:lstStyle/>
          <a:p>
            <a:pPr marL="0" indent="0">
              <a:buNone/>
            </a:pPr>
            <a:r>
              <a:rPr lang="en-US" sz="700" kern="0" spc="140" dirty="0">
                <a:solidFill>
                  <a:srgbClr val="5C6466"/>
                </a:solidFill>
                <a:latin typeface="Crosswalk Inter" panose="02000503000000020004" pitchFamily="34" charset="0"/>
                <a:ea typeface="Crosswalk Inter" panose="02000503000000020004" pitchFamily="34" charset="0"/>
                <a:cs typeface="Crosswalk Inter" panose="02000503000000020004" pitchFamily="34" charset="0"/>
              </a:rPr>
              <a:t>CROSSWALK / BEHAVIORAL INTELLIGENCE ENGINE</a:t>
            </a:r>
            <a:endParaRPr lang="en-US" sz="7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Shape 5"/>
          <p:cNvSpPr/>
          <p:nvPr/>
        </p:nvSpPr>
        <p:spPr>
          <a:xfrm>
            <a:off x="777240" y="1120140"/>
            <a:ext cx="64008" cy="64008"/>
          </a:xfrm>
          <a:prstGeom prst="ellipse">
            <a:avLst/>
          </a:prstGeom>
          <a:solidFill>
            <a:srgbClr val="C7F23E"/>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Text 6"/>
          <p:cNvSpPr/>
          <p:nvPr/>
        </p:nvSpPr>
        <p:spPr>
          <a:xfrm>
            <a:off x="932688" y="1094894"/>
            <a:ext cx="5120640" cy="201168"/>
          </a:xfrm>
          <a:prstGeom prst="rect">
            <a:avLst/>
          </a:prstGeom>
          <a:noFill/>
          <a:ln/>
        </p:spPr>
        <p:txBody>
          <a:bodyPr wrap="square" lIns="0" tIns="0" rIns="0" bIns="0" rtlCol="0" anchor="t"/>
          <a:lstStyle/>
          <a:p>
            <a:pPr marL="0" indent="0">
              <a:buNone/>
            </a:pPr>
            <a:r>
              <a:rPr lang="en-US" sz="850" kern="0" spc="180" dirty="0">
                <a:solidFill>
                  <a:srgbClr val="5C6466"/>
                </a:solidFill>
                <a:latin typeface="Crosswalk Inter Medium" panose="02000503000000020004" pitchFamily="34" charset="0"/>
                <a:ea typeface="Crosswalk Inter Medium" panose="02000503000000020004" pitchFamily="34" charset="0"/>
                <a:cs typeface="Crosswalk Inter Medium" panose="02000503000000020004" pitchFamily="34" charset="0"/>
              </a:rPr>
              <a:t>SECTION 07</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0" name="Text 7"/>
          <p:cNvSpPr/>
          <p:nvPr/>
        </p:nvSpPr>
        <p:spPr>
          <a:xfrm>
            <a:off x="777240" y="1572768"/>
            <a:ext cx="6217920" cy="1142492"/>
          </a:xfrm>
          <a:prstGeom prst="rect">
            <a:avLst/>
          </a:prstGeom>
          <a:noFill/>
          <a:ln/>
        </p:spPr>
        <p:txBody>
          <a:bodyPr wrap="square" lIns="0" tIns="0" rIns="0" bIns="0" rtlCol="0" anchor="t"/>
          <a:lstStyle/>
          <a:p>
            <a:pPr marL="0" indent="0">
              <a:lnSpc>
                <a:spcPts val="4066"/>
              </a:lnSpc>
              <a:buNone/>
            </a:pPr>
            <a:r>
              <a:rPr lang="en-US" sz="3800" b="1" kern="0" spc="-3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Supporting materials</a:t>
            </a:r>
            <a:br>
              <a:rPr lang="en-US" sz="3800" b="1" kern="0" spc="-3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br>
            <a:r>
              <a:rPr lang="en-US" sz="3800" b="1" kern="0" spc="-3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provided separately.</a:t>
            </a:r>
            <a:endParaRPr lang="en-US" sz="3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Shape 8"/>
          <p:cNvSpPr/>
          <p:nvPr/>
        </p:nvSpPr>
        <p:spPr>
          <a:xfrm>
            <a:off x="777240" y="4170144"/>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Text 9"/>
          <p:cNvSpPr/>
          <p:nvPr/>
        </p:nvSpPr>
        <p:spPr>
          <a:xfrm>
            <a:off x="777240" y="4325112"/>
            <a:ext cx="502920" cy="274320"/>
          </a:xfrm>
          <a:prstGeom prst="rect">
            <a:avLst/>
          </a:prstGeom>
          <a:noFill/>
          <a:ln/>
        </p:spPr>
        <p:txBody>
          <a:bodyPr wrap="square" lIns="0" tIns="0" rIns="0" bIns="0" rtlCol="0" anchor="t"/>
          <a:lstStyle/>
          <a:p>
            <a:pPr marL="0" indent="0">
              <a:buNone/>
            </a:pPr>
            <a:r>
              <a:rPr lang="en-US" sz="1300" dirty="0">
                <a:solidFill>
                  <a:srgbClr val="C7F23E"/>
                </a:solidFill>
                <a:latin typeface="Crosswalk Inter Light" panose="02000503000000020004" pitchFamily="34" charset="0"/>
                <a:ea typeface="Crosswalk Inter Light" panose="02000503000000020004" pitchFamily="34" charset="0"/>
                <a:cs typeface="Crosswalk Inter Light" panose="02000503000000020004" pitchFamily="34" charset="0"/>
              </a:rPr>
              <a:t>01</a:t>
            </a:r>
            <a:endParaRPr lang="en-US" sz="1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Text 10"/>
          <p:cNvSpPr/>
          <p:nvPr/>
        </p:nvSpPr>
        <p:spPr>
          <a:xfrm>
            <a:off x="1399032" y="4352544"/>
            <a:ext cx="5596128" cy="527304"/>
          </a:xfrm>
          <a:prstGeom prst="rect">
            <a:avLst/>
          </a:prstGeom>
          <a:noFill/>
          <a:ln/>
        </p:spPr>
        <p:txBody>
          <a:bodyPr wrap="square" lIns="0" tIns="0" rIns="0" bIns="0" rtlCol="0" anchor="t"/>
          <a:lstStyle/>
          <a:p>
            <a:pPr marL="0" indent="0">
              <a:lnSpc>
                <a:spcPts val="1500"/>
              </a:lnSpc>
              <a:buNone/>
            </a:pPr>
            <a:r>
              <a:rPr lang="en-US" sz="110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Full capability deck from our session</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4" name="Shape 11"/>
          <p:cNvSpPr/>
          <p:nvPr/>
        </p:nvSpPr>
        <p:spPr>
          <a:xfrm>
            <a:off x="777240" y="4725444"/>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5" name="Text 12"/>
          <p:cNvSpPr/>
          <p:nvPr/>
        </p:nvSpPr>
        <p:spPr>
          <a:xfrm>
            <a:off x="777240" y="4880412"/>
            <a:ext cx="502920" cy="274320"/>
          </a:xfrm>
          <a:prstGeom prst="rect">
            <a:avLst/>
          </a:prstGeom>
          <a:noFill/>
          <a:ln/>
        </p:spPr>
        <p:txBody>
          <a:bodyPr wrap="square" lIns="0" tIns="0" rIns="0" bIns="0" rtlCol="0" anchor="t"/>
          <a:lstStyle/>
          <a:p>
            <a:pPr marL="0" indent="0">
              <a:buNone/>
            </a:pPr>
            <a:r>
              <a:rPr lang="en-US" sz="1300" dirty="0">
                <a:solidFill>
                  <a:srgbClr val="C7F23E"/>
                </a:solidFill>
                <a:latin typeface="Crosswalk Inter Light" panose="02000503000000020004" pitchFamily="34" charset="0"/>
                <a:ea typeface="Crosswalk Inter Light" panose="02000503000000020004" pitchFamily="34" charset="0"/>
                <a:cs typeface="Crosswalk Inter Light" panose="02000503000000020004" pitchFamily="34" charset="0"/>
              </a:rPr>
              <a:t>02</a:t>
            </a:r>
            <a:endParaRPr lang="en-US" sz="1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6" name="Text 13"/>
          <p:cNvSpPr/>
          <p:nvPr/>
        </p:nvSpPr>
        <p:spPr>
          <a:xfrm>
            <a:off x="1399032" y="4907844"/>
            <a:ext cx="5596128" cy="527304"/>
          </a:xfrm>
          <a:prstGeom prst="rect">
            <a:avLst/>
          </a:prstGeom>
          <a:noFill/>
          <a:ln/>
        </p:spPr>
        <p:txBody>
          <a:bodyPr wrap="square" lIns="0" tIns="0" rIns="0" bIns="0" rtlCol="0" anchor="t"/>
          <a:lstStyle/>
          <a:p>
            <a:pPr marL="0" indent="0">
              <a:lnSpc>
                <a:spcPts val="1500"/>
              </a:lnSpc>
              <a:buNone/>
            </a:pPr>
            <a:r>
              <a:rPr lang="en-US" sz="110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Maiden Century validation deck: an independent third-party assessment of our data rigor, prepared for Wall Street diligence</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7" name="Shape 14"/>
          <p:cNvSpPr/>
          <p:nvPr/>
        </p:nvSpPr>
        <p:spPr>
          <a:xfrm>
            <a:off x="777240" y="5471244"/>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8" name="Text 15"/>
          <p:cNvSpPr/>
          <p:nvPr/>
        </p:nvSpPr>
        <p:spPr>
          <a:xfrm>
            <a:off x="777240" y="5626212"/>
            <a:ext cx="502920" cy="274320"/>
          </a:xfrm>
          <a:prstGeom prst="rect">
            <a:avLst/>
          </a:prstGeom>
          <a:noFill/>
          <a:ln/>
        </p:spPr>
        <p:txBody>
          <a:bodyPr wrap="square" lIns="0" tIns="0" rIns="0" bIns="0" rtlCol="0" anchor="t"/>
          <a:lstStyle/>
          <a:p>
            <a:pPr marL="0" indent="0">
              <a:buNone/>
            </a:pPr>
            <a:r>
              <a:rPr lang="en-US" sz="1300" dirty="0">
                <a:solidFill>
                  <a:srgbClr val="C7F23E"/>
                </a:solidFill>
                <a:latin typeface="Crosswalk Inter Light" panose="02000503000000020004" pitchFamily="34" charset="0"/>
                <a:ea typeface="Crosswalk Inter Light" panose="02000503000000020004" pitchFamily="34" charset="0"/>
                <a:cs typeface="Crosswalk Inter Light" panose="02000503000000020004" pitchFamily="34" charset="0"/>
              </a:rPr>
              <a:t>03</a:t>
            </a:r>
            <a:endParaRPr lang="en-US" sz="13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9" name="Text 16"/>
          <p:cNvSpPr/>
          <p:nvPr/>
        </p:nvSpPr>
        <p:spPr>
          <a:xfrm>
            <a:off x="1399032" y="5653644"/>
            <a:ext cx="5596128" cy="527304"/>
          </a:xfrm>
          <a:prstGeom prst="rect">
            <a:avLst/>
          </a:prstGeom>
          <a:noFill/>
          <a:ln/>
        </p:spPr>
        <p:txBody>
          <a:bodyPr wrap="square" lIns="0" tIns="0" rIns="0" bIns="0" rtlCol="0" anchor="t"/>
          <a:lstStyle/>
          <a:p>
            <a:pPr marL="0" indent="0">
              <a:lnSpc>
                <a:spcPts val="1500"/>
              </a:lnSpc>
              <a:buNone/>
            </a:pPr>
            <a:r>
              <a:rPr lang="en-US" sz="110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Methodology and privacy overview: panel provenance, consent architecture, census balancing, projection methodology, and clean-room approach</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0" name="Shape 17"/>
          <p:cNvSpPr/>
          <p:nvPr/>
        </p:nvSpPr>
        <p:spPr>
          <a:xfrm>
            <a:off x="777240" y="6217044"/>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1" name="Shape 18"/>
          <p:cNvSpPr/>
          <p:nvPr/>
        </p:nvSpPr>
        <p:spPr>
          <a:xfrm>
            <a:off x="777240" y="8641080"/>
            <a:ext cx="6217920" cy="6401"/>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2" name="Text 19"/>
          <p:cNvSpPr/>
          <p:nvPr/>
        </p:nvSpPr>
        <p:spPr>
          <a:xfrm>
            <a:off x="777240" y="8833104"/>
            <a:ext cx="3657600" cy="219456"/>
          </a:xfrm>
          <a:prstGeom prst="rect">
            <a:avLst/>
          </a:prstGeom>
          <a:noFill/>
          <a:ln/>
        </p:spPr>
        <p:txBody>
          <a:bodyPr wrap="square" lIns="0" tIns="0" rIns="0" bIns="0" rtlCol="0" anchor="t"/>
          <a:lstStyle/>
          <a:p>
            <a:pPr marL="0" indent="0">
              <a:buNone/>
            </a:pPr>
            <a:r>
              <a:rPr lang="en-US" sz="950" dirty="0">
                <a:solidFill>
                  <a:srgbClr val="9AA09B"/>
                </a:solidFill>
                <a:latin typeface="Crosswalk Inter" panose="02000503000000020004" pitchFamily="34" charset="0"/>
                <a:ea typeface="Crosswalk Inter" panose="02000503000000020004" pitchFamily="34" charset="0"/>
                <a:cs typeface="Crosswalk Inter" panose="02000503000000020004" pitchFamily="34" charset="0"/>
              </a:rPr>
              <a:t>crosswalknyc.com</a:t>
            </a:r>
            <a:endParaRPr lang="en-US" sz="9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3" name="Text 20"/>
          <p:cNvSpPr/>
          <p:nvPr/>
        </p:nvSpPr>
        <p:spPr>
          <a:xfrm>
            <a:off x="4251960" y="8833104"/>
            <a:ext cx="2743200" cy="219456"/>
          </a:xfrm>
          <a:prstGeom prst="rect">
            <a:avLst/>
          </a:prstGeom>
          <a:noFill/>
          <a:ln/>
        </p:spPr>
        <p:txBody>
          <a:bodyPr wrap="square" lIns="0" tIns="0" rIns="0" bIns="0" rtlCol="0" anchor="t"/>
          <a:lstStyle/>
          <a:p>
            <a:pPr marL="0" indent="0" algn="r">
              <a:buNone/>
            </a:pPr>
            <a:r>
              <a:rPr lang="en-US" sz="800" b="1" kern="0" spc="110" dirty="0">
                <a:solidFill>
                  <a:srgbClr val="C7F23E"/>
                </a:solidFill>
                <a:latin typeface="Crosswalk Inter" panose="02000503000000020004" pitchFamily="34" charset="0"/>
                <a:ea typeface="Crosswalk Inter" panose="02000503000000020004" pitchFamily="34" charset="0"/>
                <a:cs typeface="Crosswalk Inter" panose="02000503000000020004" pitchFamily="34" charset="0"/>
              </a:rPr>
              <a:t>CONFIDENTIAL · [MONTH YEAR]</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4" name="Google Shape;100;p37">
            <a:extLst>
              <a:ext uri="{FF2B5EF4-FFF2-40B4-BE49-F238E27FC236}">
                <a16:creationId xmlns:a16="http://schemas.microsoft.com/office/drawing/2014/main" id="{158658D2-8470-99CF-4BEC-B5956555507D}"/>
              </a:ext>
            </a:extLst>
          </p:cNvPr>
          <p:cNvSpPr txBox="1">
            <a:spLocks/>
          </p:cNvSpPr>
          <p:nvPr/>
        </p:nvSpPr>
        <p:spPr>
          <a:xfrm>
            <a:off x="6597279" y="9255170"/>
            <a:ext cx="379521" cy="365125"/>
          </a:xfrm>
          <a:prstGeom prst="rect">
            <a:avLst/>
          </a:prstGeom>
          <a:noFill/>
          <a:ln>
            <a:noFill/>
          </a:ln>
        </p:spPr>
        <p:txBody>
          <a:bodyPr spcFirstLastPara="1" wrap="square" lIns="0" tIns="45700" rIns="0" bIns="45700" anchor="ctr" anchorCtr="0">
            <a:noAutofit/>
          </a:bodyPr>
          <a:lstStyle>
            <a:lvl1pPr marL="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a:lvl2pPr marL="457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2pPr>
            <a:lvl3pPr marL="914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3pPr>
            <a:lvl4pPr marL="1371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4pPr>
            <a:lvl5pPr marL="18288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5pPr>
            <a:lvl6pPr marL="22860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6pPr>
            <a:lvl7pPr marL="2743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7pPr>
            <a:lvl8pPr marL="3200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8pPr>
            <a:lvl9pPr marL="3657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9pPr>
          </a:lstStyle>
          <a:p>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fld id="{00000000-1234-1234-1234-123412341234}" type="slidenum">
              <a:rPr kumimoji="0" lang="en-US" sz="700" b="0" i="0" u="none" strike="noStrike" kern="1200" cap="none" spc="0" normalizeH="0" baseline="0" noProof="0" smtClean="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rPr>
              <a:pPr marL="0" marR="0" lvl="0" indent="0" algn="r" defTabSz="914400" rtl="0" eaLnBrk="1" fontAlgn="auto" latinLnBrk="0" hangingPunct="1">
                <a:lnSpc>
                  <a:spcPct val="100000"/>
                </a:lnSpc>
                <a:spcBef>
                  <a:spcPts val="0"/>
                </a:spcBef>
                <a:spcAft>
                  <a:spcPts val="0"/>
                </a:spcAft>
                <a:buClr>
                  <a:srgbClr val="FFFFFF"/>
                </a:buClr>
                <a:buSzPts val="1050"/>
                <a:buFont typeface="Crosswalk Inter"/>
                <a:buNone/>
                <a:tabLst/>
                <a:defRPr>
                  <a:latin typeface="Crosswalk Inter" panose="02000503000000020004" pitchFamily="34" charset="0"/>
                  <a:ea typeface="Crosswalk Inter" panose="02000503000000020004" pitchFamily="34" charset="0"/>
                  <a:cs typeface="Crosswalk Inter" panose="02000503000000020004" pitchFamily="34" charset="0"/>
                </a:defRPr>
              </a:pPr>
              <a:t>15</a:t>
            </a:fld>
            <a:endParaRPr kumimoji="0" lang="en-US" sz="900" b="0" i="0" u="none" strike="noStrike" kern="1200" cap="none" spc="0" normalizeH="0" baseline="0" noProof="0" dirty="0">
              <a:ln>
                <a:noFill/>
              </a:ln>
              <a:solidFill>
                <a:srgbClr val="656D6C"/>
              </a:solidFill>
              <a:effectLst/>
              <a:uLnTx/>
              <a:uFillTx/>
              <a:latin typeface="Crosswalk Inter" panose="02000503000000020004" pitchFamily="34" charset="0"/>
              <a:ea typeface="Crosswalk Inter" panose="02000503000000020004" pitchFamily="34" charset="0"/>
              <a:cs typeface="Crosswalk Inter" panose="02000503000000020004" pitchFamily="34" charset="0"/>
              <a:sym typeface="Crosswalk Inte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rosswalk Inter" panose="02000503000000020004" pitchFamily="34" charset="0"/>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rosswalk Inter" panose="02000503000000020004" pitchFamily="34" charset="0"/>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rosswalk Inter" panose="02000503000000020004" pitchFamily="34" charset="0"/>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rosswalk Inter" panose="02000503000000020004" pitchFamily="34" charset="0"/>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193</TotalTime>
  <Words>1676</Words>
  <Application>Microsoft Macintosh PowerPoint</Application>
  <PresentationFormat>Custom</PresentationFormat>
  <Paragraphs>296</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Crosswalk Inter Medium</vt:lpstr>
      <vt:lpstr>Crosswalk Inter</vt:lpstr>
      <vt:lpstr>Crosswalk Inter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Crosswalk 30-Day Proof of Concept — SOW template</dc:title>
  <dc:subject>Statement of Work template</dc:subject>
  <dc:creator>PptxGenJS</dc:creator>
  <cp:lastModifiedBy>Keith Friedenberg</cp:lastModifiedBy>
  <cp:revision>18</cp:revision>
  <dcterms:created xsi:type="dcterms:W3CDTF">2026-08-25T06:40:15Z</dcterms:created>
  <dcterms:modified xsi:type="dcterms:W3CDTF">2026-08-28T00:34:36Z</dcterms:modified>
</cp:coreProperties>
</file>