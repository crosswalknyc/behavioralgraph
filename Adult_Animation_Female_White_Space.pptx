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16" d="100"/>
          <a:sy n="116" d="100"/>
        </p:scale>
        <p:origin x="8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Adult Animation</c:v>
                </c:pt>
              </c:strCache>
            </c:strRef>
          </c:tx>
          <c:spPr>
            <a:solidFill>
              <a:srgbClr val="F28C28"/>
            </a:solidFill>
            <a:ln>
              <a:noFill/>
            </a:ln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1A1A1A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32.869999999999997</c:v>
                </c:pt>
                <c:pt idx="1">
                  <c:v>65.3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F05B-BD4D-8510-F695A105C70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Tina Fey</c:v>
                </c:pt>
              </c:strCache>
            </c:strRef>
          </c:tx>
          <c:spPr>
            <a:solidFill>
              <a:srgbClr val="4DC9D4"/>
            </a:solidFill>
            <a:ln>
              <a:noFill/>
            </a:ln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1A1A1A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65.430000000000007</c:v>
                </c:pt>
                <c:pt idx="1">
                  <c:v>33.72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F05B-BD4D-8510-F695A105C70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Amy Poehler</c:v>
                </c:pt>
              </c:strCache>
            </c:strRef>
          </c:tx>
          <c:spPr>
            <a:solidFill>
              <a:srgbClr val="379EA7"/>
            </a:solidFill>
            <a:ln>
              <a:noFill/>
            </a:ln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1A1A1A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59.27</c:v>
                </c:pt>
                <c:pt idx="1">
                  <c:v>39.1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F05B-BD4D-8510-F695A105C7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in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80"/>
        </c:scaling>
        <c:delete val="0"/>
        <c:axPos val="l"/>
        <c:majorGridlines>
          <c:spPr>
            <a:ln w="6350">
              <a:solidFill>
                <a:srgbClr val="E8E8E8"/>
              </a:solidFill>
            </a:ln>
          </c:spPr>
        </c:majorGridlines>
        <c:numFmt formatCode="General" sourceLinked="1"/>
        <c:majorTickMark val="in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1A1A1A"/>
              </a:solidFill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Adult Animation</c:v>
                </c:pt>
              </c:strCache>
            </c:strRef>
          </c:tx>
          <c:spPr>
            <a:solidFill>
              <a:srgbClr val="F28C28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1A1A1A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35-44</c:v>
                </c:pt>
                <c:pt idx="1">
                  <c:v>45-54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170</c:v>
                </c:pt>
                <c:pt idx="1">
                  <c:v>121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7A42-364E-B23E-1784C338509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Tina Fey</c:v>
                </c:pt>
              </c:strCache>
            </c:strRef>
          </c:tx>
          <c:spPr>
            <a:solidFill>
              <a:srgbClr val="4DC9D4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1A1A1A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35-44</c:v>
                </c:pt>
                <c:pt idx="1">
                  <c:v>45-54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160</c:v>
                </c:pt>
                <c:pt idx="1">
                  <c:v>187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7A42-364E-B23E-1784C338509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Amy Poehler</c:v>
                </c:pt>
              </c:strCache>
            </c:strRef>
          </c:tx>
          <c:spPr>
            <a:solidFill>
              <a:srgbClr val="379EA7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1A1A1A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35-44</c:v>
                </c:pt>
                <c:pt idx="1">
                  <c:v>45-54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227</c:v>
                </c:pt>
                <c:pt idx="1">
                  <c:v>200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7A42-364E-B23E-1784C33850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in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60"/>
        </c:scaling>
        <c:delete val="0"/>
        <c:axPos val="l"/>
        <c:majorGridlines>
          <c:spPr>
            <a:ln w="6350">
              <a:solidFill>
                <a:srgbClr val="E8E8E8"/>
              </a:solidFill>
            </a:ln>
          </c:spPr>
        </c:majorGridlines>
        <c:numFmt formatCode="General" sourceLinked="1"/>
        <c:majorTickMark val="in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1A1A1A"/>
              </a:solidFill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DC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800" b="1" i="0">
                <a:solidFill>
                  <a:srgbClr val="1A1A1A"/>
                </a:solidFill>
                <a:latin typeface="Georgia"/>
              </a:defRPr>
            </a:pPr>
            <a:r>
              <a:t>Adult Animation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 i="0">
                <a:solidFill>
                  <a:srgbClr val="4DC9D4"/>
                </a:solidFill>
                <a:latin typeface="Georgia"/>
              </a:defRPr>
            </a:pPr>
            <a:r>
              <a:t>The Female White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77724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1">
                <a:solidFill>
                  <a:srgbClr val="5A5A5A"/>
                </a:solidFill>
                <a:latin typeface="Arial"/>
              </a:defRPr>
            </a:pPr>
            <a:r>
              <a:rPr dirty="0"/>
              <a:t>The Adult Animation audience reflects viewers of at least one of these 20 titles</a:t>
            </a:r>
            <a:r>
              <a:rPr lang="en-GB" dirty="0"/>
              <a:t> over the course of 2025</a:t>
            </a:r>
            <a:r>
              <a:rPr dirty="0"/>
              <a:t>: The Simpsons, Family Guy, South Park, Bob's Burgers, American Dad!, </a:t>
            </a:r>
            <a:r>
              <a:rPr dirty="0" err="1"/>
              <a:t>Krapopolis</a:t>
            </a:r>
            <a:r>
              <a:rPr dirty="0"/>
              <a:t>, </a:t>
            </a:r>
            <a:r>
              <a:rPr dirty="0" err="1"/>
              <a:t>Grimsburg</a:t>
            </a:r>
            <a:r>
              <a:rPr dirty="0"/>
              <a:t>, Rick and Morty, Smiling Friends, Common Side Effects, Royal Crackers, Harley Quinn, Lazarus, Invincible, </a:t>
            </a:r>
            <a:r>
              <a:rPr dirty="0" err="1"/>
              <a:t>Hazbin</a:t>
            </a:r>
            <a:r>
              <a:rPr dirty="0"/>
              <a:t> Hotel, The Legend of Vox Machina, Solar Opposites, Hit-Monkey, X-Men '97, Big Mouth.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7772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1">
                <a:solidFill>
                  <a:srgbClr val="5A5A5A"/>
                </a:solidFill>
                <a:latin typeface="Arial"/>
              </a:defRPr>
            </a:pPr>
            <a:r>
              <a:rPr dirty="0"/>
              <a:t>Compared against the comedy audiences of Tina Fey and Amy Poehler.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474720"/>
            <a:ext cx="2377440" cy="822960"/>
          </a:xfrm>
          <a:prstGeom prst="roundRect">
            <a:avLst/>
          </a:prstGeom>
          <a:solidFill>
            <a:srgbClr val="FE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547872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 i="0">
                <a:solidFill>
                  <a:srgbClr val="5A5A5A"/>
                </a:solidFill>
                <a:latin typeface="Arial"/>
              </a:defRPr>
            </a:pPr>
            <a:r>
              <a:t>65%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77639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 i="0">
                <a:solidFill>
                  <a:srgbClr val="5A5A5A"/>
                </a:solidFill>
                <a:latin typeface="Arial"/>
              </a:defRPr>
            </a:pPr>
            <a:r>
              <a:rPr dirty="0"/>
              <a:t>ADULT ANIM</a:t>
            </a:r>
            <a:r>
              <a:rPr lang="en-GB" dirty="0"/>
              <a:t>ATION</a:t>
            </a:r>
            <a:r>
              <a:rPr dirty="0"/>
              <a:t> MALE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3474720"/>
            <a:ext cx="2377440" cy="822960"/>
          </a:xfrm>
          <a:prstGeom prst="roundRect">
            <a:avLst/>
          </a:prstGeom>
          <a:solidFill>
            <a:srgbClr val="FE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37560" y="3547872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 i="0">
                <a:solidFill>
                  <a:srgbClr val="F28C28"/>
                </a:solidFill>
                <a:latin typeface="Arial"/>
              </a:defRPr>
            </a:pPr>
            <a:r>
              <a:t>33%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3977639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 i="0">
                <a:solidFill>
                  <a:srgbClr val="5A5A5A"/>
                </a:solidFill>
                <a:latin typeface="Arial"/>
              </a:defRPr>
            </a:pPr>
            <a:r>
              <a:rPr dirty="0"/>
              <a:t>ADULT ANIM</a:t>
            </a:r>
            <a:r>
              <a:rPr lang="en-GB" dirty="0"/>
              <a:t>ATION</a:t>
            </a:r>
            <a:r>
              <a:rPr dirty="0"/>
              <a:t> FEMALE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3474720"/>
            <a:ext cx="2377440" cy="822960"/>
          </a:xfrm>
          <a:prstGeom prst="roundRect">
            <a:avLst/>
          </a:prstGeom>
          <a:solidFill>
            <a:srgbClr val="E8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35040" y="3547872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 i="0">
                <a:solidFill>
                  <a:srgbClr val="4DC9D4"/>
                </a:solidFill>
                <a:latin typeface="Arial"/>
              </a:defRPr>
            </a:pPr>
            <a:r>
              <a:t>65%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3977639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 i="0">
                <a:solidFill>
                  <a:srgbClr val="5A5A5A"/>
                </a:solidFill>
                <a:latin typeface="Arial"/>
              </a:defRPr>
            </a:pPr>
            <a:r>
              <a:t>TINA FEY FEMALE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3474720"/>
            <a:ext cx="2377440" cy="822960"/>
          </a:xfrm>
          <a:prstGeom prst="roundRect">
            <a:avLst/>
          </a:prstGeom>
          <a:solidFill>
            <a:srgbClr val="E8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32520" y="3547872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 i="0">
                <a:solidFill>
                  <a:srgbClr val="4DC9D4"/>
                </a:solidFill>
                <a:latin typeface="Arial"/>
              </a:defRPr>
            </a:pPr>
            <a:r>
              <a:t>59%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3977639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 i="0">
                <a:solidFill>
                  <a:srgbClr val="5A5A5A"/>
                </a:solidFill>
                <a:latin typeface="Arial"/>
              </a:defRPr>
            </a:pPr>
            <a:r>
              <a:t>AMY POEHLER FEMALE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54880"/>
            <a:ext cx="10881360" cy="1371600"/>
          </a:xfrm>
          <a:prstGeom prst="roundRect">
            <a:avLst/>
          </a:prstGeom>
          <a:solidFill>
            <a:srgbClr val="E8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4754880"/>
            <a:ext cx="54864" cy="1371600"/>
          </a:xfrm>
          <a:prstGeom prst="rect">
            <a:avLst/>
          </a:prstGeom>
          <a:solidFill>
            <a:srgbClr val="4DC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484632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 i="0">
                <a:solidFill>
                  <a:srgbClr val="1A1A1A"/>
                </a:solidFill>
                <a:latin typeface="Arial"/>
              </a:defRPr>
            </a:pPr>
            <a:r>
              <a:t>The Opportunity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166360"/>
            <a:ext cx="102412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5A5A5A"/>
                </a:solidFill>
                <a:latin typeface="Arial"/>
              </a:defRPr>
            </a:pPr>
            <a:r>
              <a:rPr dirty="0"/>
              <a:t>Women 35-54 are a proven</a:t>
            </a:r>
            <a:r>
              <a:rPr lang="en-GB" dirty="0"/>
              <a:t> </a:t>
            </a:r>
            <a:r>
              <a:rPr dirty="0"/>
              <a:t>comedy audience</a:t>
            </a:r>
            <a:r>
              <a:rPr lang="en-GB" dirty="0"/>
              <a:t>, </a:t>
            </a:r>
            <a:r>
              <a:rPr dirty="0"/>
              <a:t>and adult animation has </a:t>
            </a:r>
            <a:r>
              <a:rPr lang="en-GB" dirty="0"/>
              <a:t>a significant white space opportunity to address</a:t>
            </a:r>
            <a:r>
              <a:rPr dirty="0"/>
              <a:t> them. Across 20 titles, adult animation draws just 33% women. Meanwhile Tina Fey and Amy Poehler command 60-65% female audiences. An animated comedy channeling their sensibility could unlock a massive, under-served demographic already primed for the format.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 i="0">
                <a:solidFill>
                  <a:srgbClr val="1A1A1A"/>
                </a:solidFill>
                <a:latin typeface="Georgia"/>
              </a:defRPr>
            </a:pPr>
            <a:r>
              <a:t>Who's Watching: Gender Split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5A5A5A"/>
                </a:solidFill>
                <a:latin typeface="Arial"/>
              </a:defRPr>
            </a:pPr>
            <a:r>
              <a:t>Profile % of each audience by gender. Adult Animation is nearly 2:1 male. Fey and Poehler audiences flip that ratio entirely.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554480"/>
          <a:ext cx="1088136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 i="0">
                <a:solidFill>
                  <a:srgbClr val="1A1A1A"/>
                </a:solidFill>
                <a:latin typeface="Georgia"/>
              </a:defRPr>
            </a:pPr>
            <a:r>
              <a:t>The 35-54 Sweet Spot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5A5A5A"/>
                </a:solidFill>
                <a:latin typeface="Arial"/>
              </a:defRPr>
            </a:pPr>
            <a:r>
              <a:rPr dirty="0"/>
              <a:t>Index vs. U.S. population for the two age brackets where Fey and Poehler over-index most aggressively</a:t>
            </a:r>
            <a:r>
              <a:rPr lang="en-GB" dirty="0"/>
              <a:t>,</a:t>
            </a:r>
            <a:r>
              <a:rPr dirty="0"/>
              <a:t> and where Adult Animation already has strong viewership, </a:t>
            </a:r>
            <a:r>
              <a:rPr lang="en-GB" dirty="0"/>
              <a:t>and</a:t>
            </a:r>
            <a:r>
              <a:rPr dirty="0"/>
              <a:t> driven almost entirely by men.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371600" y="1554480"/>
          <a:ext cx="941832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969</TotalTime>
  <Words>256</Words>
  <Application>Microsoft Macintosh PowerPoint</Application>
  <PresentationFormat>Widescreen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Jessie McNamara</cp:lastModifiedBy>
  <cp:revision>4</cp:revision>
  <dcterms:created xsi:type="dcterms:W3CDTF">2013-01-27T09:14:16Z</dcterms:created>
  <dcterms:modified xsi:type="dcterms:W3CDTF">2026-06-23T16:06:17Z</dcterms:modified>
  <cp:category/>
</cp:coreProperties>
</file>